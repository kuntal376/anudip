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1"/>
  </p:notesMasterIdLst>
  <p:sldIdLst>
    <p:sldId id="256" r:id="rId2"/>
    <p:sldId id="386" r:id="rId3"/>
    <p:sldId id="387" r:id="rId4"/>
    <p:sldId id="257" r:id="rId5"/>
    <p:sldId id="258" r:id="rId6"/>
    <p:sldId id="261" r:id="rId7"/>
    <p:sldId id="262" r:id="rId8"/>
    <p:sldId id="265" r:id="rId9"/>
    <p:sldId id="264"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5" r:id="rId26"/>
    <p:sldId id="388" r:id="rId27"/>
    <p:sldId id="282" r:id="rId28"/>
    <p:sldId id="283"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90"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91" r:id="rId74"/>
    <p:sldId id="329" r:id="rId75"/>
    <p:sldId id="330" r:id="rId76"/>
    <p:sldId id="331" r:id="rId77"/>
    <p:sldId id="332" r:id="rId78"/>
    <p:sldId id="333" r:id="rId79"/>
    <p:sldId id="334" r:id="rId80"/>
    <p:sldId id="335" r:id="rId81"/>
    <p:sldId id="336" r:id="rId82"/>
    <p:sldId id="337" r:id="rId83"/>
    <p:sldId id="338" r:id="rId84"/>
    <p:sldId id="339" r:id="rId85"/>
    <p:sldId id="392" r:id="rId86"/>
    <p:sldId id="340" r:id="rId87"/>
    <p:sldId id="341" r:id="rId88"/>
    <p:sldId id="342" r:id="rId89"/>
    <p:sldId id="343" r:id="rId90"/>
    <p:sldId id="344" r:id="rId91"/>
    <p:sldId id="346" r:id="rId92"/>
    <p:sldId id="347" r:id="rId93"/>
    <p:sldId id="348" r:id="rId94"/>
    <p:sldId id="349" r:id="rId95"/>
    <p:sldId id="393" r:id="rId96"/>
    <p:sldId id="350" r:id="rId97"/>
    <p:sldId id="351" r:id="rId98"/>
    <p:sldId id="352" r:id="rId99"/>
    <p:sldId id="353" r:id="rId100"/>
    <p:sldId id="394" r:id="rId101"/>
    <p:sldId id="354" r:id="rId102"/>
    <p:sldId id="355" r:id="rId103"/>
    <p:sldId id="356" r:id="rId104"/>
    <p:sldId id="357" r:id="rId105"/>
    <p:sldId id="358" r:id="rId106"/>
    <p:sldId id="359" r:id="rId107"/>
    <p:sldId id="360" r:id="rId108"/>
    <p:sldId id="361" r:id="rId109"/>
    <p:sldId id="362" r:id="rId110"/>
    <p:sldId id="366" r:id="rId111"/>
    <p:sldId id="367" r:id="rId112"/>
    <p:sldId id="368" r:id="rId113"/>
    <p:sldId id="369" r:id="rId114"/>
    <p:sldId id="370" r:id="rId115"/>
    <p:sldId id="371" r:id="rId116"/>
    <p:sldId id="372" r:id="rId117"/>
    <p:sldId id="373" r:id="rId118"/>
    <p:sldId id="375" r:id="rId119"/>
    <p:sldId id="376" r:id="rId120"/>
    <p:sldId id="377" r:id="rId121"/>
    <p:sldId id="378" r:id="rId122"/>
    <p:sldId id="379" r:id="rId123"/>
    <p:sldId id="380" r:id="rId124"/>
    <p:sldId id="381" r:id="rId125"/>
    <p:sldId id="382" r:id="rId126"/>
    <p:sldId id="383" r:id="rId127"/>
    <p:sldId id="384" r:id="rId128"/>
    <p:sldId id="385" r:id="rId129"/>
    <p:sldId id="395" r:id="rId13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972" y="72"/>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3B6405F-733C-4890-A753-C0E047E00C02}" type="datetimeFigureOut">
              <a:rPr lang="en-US" smtClean="0"/>
              <a:pPr/>
              <a:t>5/13/2026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419F260-1AC8-4472-8BFB-9D97F5656E9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419F260-1AC8-4472-8BFB-9D97F5656E92}" type="slidenum">
              <a:rPr lang="en-US" smtClean="0"/>
              <a:pPr/>
              <a:t>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419F260-1AC8-4472-8BFB-9D97F5656E92}" type="slidenum">
              <a:rPr lang="en-US" smtClean="0"/>
              <a:pPr/>
              <a:t>14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19F260-1AC8-4472-8BFB-9D97F5656E92}" type="slidenum">
              <a:rPr lang="en-US" smtClean="0"/>
              <a:pPr/>
              <a:t>28</a:t>
            </a:fld>
            <a:endParaRPr lang="en-US"/>
          </a:p>
        </p:txBody>
      </p:sp>
    </p:spTree>
    <p:extLst>
      <p:ext uri="{BB962C8B-B14F-4D97-AF65-F5344CB8AC3E}">
        <p14:creationId xmlns:p14="http://schemas.microsoft.com/office/powerpoint/2010/main" val="24555711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19F260-1AC8-4472-8BFB-9D97F5656E92}" type="slidenum">
              <a:rPr lang="en-US" smtClean="0"/>
              <a:pPr/>
              <a:t>123</a:t>
            </a:fld>
            <a:endParaRPr lang="en-US"/>
          </a:p>
        </p:txBody>
      </p:sp>
    </p:spTree>
    <p:extLst>
      <p:ext uri="{BB962C8B-B14F-4D97-AF65-F5344CB8AC3E}">
        <p14:creationId xmlns:p14="http://schemas.microsoft.com/office/powerpoint/2010/main" val="33303699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2343150"/>
            <a:ext cx="6172200" cy="1420772"/>
          </a:xfrm>
        </p:spPr>
        <p:txBody>
          <a:bodyPr/>
          <a:lstStyle>
            <a:lvl1pPr>
              <a:defRPr b="1">
                <a:latin typeface="Times New Roman" panose="02020603050405020304" pitchFamily="18" charset="0"/>
              </a:defRPr>
            </a:lvl1pPr>
          </a:lstStyle>
          <a:p>
            <a:r>
              <a:rPr kumimoji="0" lang="en-US" dirty="0"/>
              <a:t>Click to edit Master title style</a:t>
            </a:r>
          </a:p>
        </p:txBody>
      </p:sp>
      <p:sp>
        <p:nvSpPr>
          <p:cNvPr id="9" name="Subtitle 8"/>
          <p:cNvSpPr>
            <a:spLocks noGrp="1"/>
          </p:cNvSpPr>
          <p:nvPr>
            <p:ph type="subTitle" idx="1"/>
          </p:nvPr>
        </p:nvSpPr>
        <p:spPr>
          <a:xfrm>
            <a:off x="2286000" y="3752492"/>
            <a:ext cx="6172200" cy="1028700"/>
          </a:xfrm>
        </p:spPr>
        <p:txBody>
          <a:bodyPr/>
          <a:lstStyle>
            <a:lvl1pPr marL="0" indent="0" algn="l">
              <a:buNone/>
              <a:defRPr sz="1800" b="1">
                <a:solidFill>
                  <a:schemeClr val="tx2"/>
                </a:solidFill>
                <a:latin typeface="Times New Roman" panose="02020603050405020304" pitchFamily="18"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dirty="0"/>
              <a:t>Click to edit Master subtitle style</a:t>
            </a:r>
          </a:p>
        </p:txBody>
      </p:sp>
      <p:sp>
        <p:nvSpPr>
          <p:cNvPr id="28" name="Date Placeholder 27"/>
          <p:cNvSpPr>
            <a:spLocks noGrp="1"/>
          </p:cNvSpPr>
          <p:nvPr>
            <p:ph type="dt" sz="half" idx="10"/>
          </p:nvPr>
        </p:nvSpPr>
        <p:spPr bwMode="auto">
          <a:xfrm rot="5400000">
            <a:off x="8050371" y="832948"/>
            <a:ext cx="1714500" cy="381000"/>
          </a:xfrm>
        </p:spPr>
        <p:txBody>
          <a:bodyPr/>
          <a:lstStyle>
            <a:lvl1pPr>
              <a:defRPr>
                <a:latin typeface="Times New Roman" panose="02020603050405020304" pitchFamily="18" charset="0"/>
              </a:defRPr>
            </a:lvl1pPr>
          </a:lstStyle>
          <a:p>
            <a:fld id="{1D8BD707-D9CF-40AE-B4C6-C98DA3205C09}" type="datetimeFigureOut">
              <a:rPr lang="en-US" smtClean="0"/>
              <a:pPr/>
              <a:t>5/13/2026</a:t>
            </a:fld>
            <a:endParaRPr lang="en-US" dirty="0"/>
          </a:p>
        </p:txBody>
      </p:sp>
      <p:sp>
        <p:nvSpPr>
          <p:cNvPr id="17" name="Footer Placeholder 16"/>
          <p:cNvSpPr>
            <a:spLocks noGrp="1"/>
          </p:cNvSpPr>
          <p:nvPr>
            <p:ph type="ftr" sz="quarter" idx="11"/>
          </p:nvPr>
        </p:nvSpPr>
        <p:spPr bwMode="auto">
          <a:xfrm rot="5400000">
            <a:off x="7534469" y="3088246"/>
            <a:ext cx="2743200" cy="384048"/>
          </a:xfrm>
        </p:spPr>
        <p:txBody>
          <a:bodyPr/>
          <a:lstStyle>
            <a:lvl1pPr>
              <a:defRPr>
                <a:latin typeface="Times New Roman" panose="02020603050405020304" pitchFamily="18" charset="0"/>
              </a:defRPr>
            </a:lvl1pPr>
          </a:lstStyle>
          <a:p>
            <a:endParaRPr lang="en-US" dirty="0"/>
          </a:p>
        </p:txBody>
      </p:sp>
      <p:sp>
        <p:nvSpPr>
          <p:cNvPr id="10" name="Rectangle 9"/>
          <p:cNvSpPr/>
          <p:nvPr/>
        </p:nvSpPr>
        <p:spPr bwMode="auto">
          <a:xfrm>
            <a:off x="381000" y="0"/>
            <a:ext cx="609600" cy="51435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latin typeface="Times New Roman" panose="02020603050405020304" pitchFamily="18" charset="0"/>
            </a:endParaRPr>
          </a:p>
        </p:txBody>
      </p:sp>
      <p:sp>
        <p:nvSpPr>
          <p:cNvPr id="12" name="Rectangle 11"/>
          <p:cNvSpPr/>
          <p:nvPr/>
        </p:nvSpPr>
        <p:spPr bwMode="auto">
          <a:xfrm>
            <a:off x="276336" y="0"/>
            <a:ext cx="104664" cy="51435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latin typeface="Times New Roman" panose="02020603050405020304" pitchFamily="18" charset="0"/>
            </a:endParaRPr>
          </a:p>
        </p:txBody>
      </p:sp>
      <p:sp>
        <p:nvSpPr>
          <p:cNvPr id="14" name="Rectangle 13"/>
          <p:cNvSpPr/>
          <p:nvPr/>
        </p:nvSpPr>
        <p:spPr bwMode="auto">
          <a:xfrm>
            <a:off x="990600" y="0"/>
            <a:ext cx="181872" cy="51435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latin typeface="Times New Roman" panose="02020603050405020304" pitchFamily="18" charset="0"/>
            </a:endParaRPr>
          </a:p>
        </p:txBody>
      </p:sp>
      <p:sp>
        <p:nvSpPr>
          <p:cNvPr id="19" name="Rectangle 18"/>
          <p:cNvSpPr/>
          <p:nvPr/>
        </p:nvSpPr>
        <p:spPr bwMode="auto">
          <a:xfrm>
            <a:off x="1141320" y="0"/>
            <a:ext cx="230280" cy="51435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latin typeface="Times New Roman" panose="02020603050405020304" pitchFamily="18" charset="0"/>
            </a:endParaRPr>
          </a:p>
        </p:txBody>
      </p:sp>
      <p:sp>
        <p:nvSpPr>
          <p:cNvPr id="11" name="Straight Connector 10"/>
          <p:cNvSpPr>
            <a:spLocks noChangeShapeType="1"/>
          </p:cNvSpPr>
          <p:nvPr/>
        </p:nvSpPr>
        <p:spPr bwMode="auto">
          <a:xfrm>
            <a:off x="106344" y="0"/>
            <a:ext cx="0" cy="51435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latin typeface="Times New Roman" panose="02020603050405020304" pitchFamily="18" charset="0"/>
            </a:endParaRPr>
          </a:p>
        </p:txBody>
      </p:sp>
      <p:sp>
        <p:nvSpPr>
          <p:cNvPr id="18" name="Straight Connector 17"/>
          <p:cNvSpPr>
            <a:spLocks noChangeShapeType="1"/>
          </p:cNvSpPr>
          <p:nvPr/>
        </p:nvSpPr>
        <p:spPr bwMode="auto">
          <a:xfrm>
            <a:off x="914400" y="0"/>
            <a:ext cx="0" cy="51435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latin typeface="Times New Roman" panose="02020603050405020304" pitchFamily="18" charset="0"/>
            </a:endParaRPr>
          </a:p>
        </p:txBody>
      </p:sp>
      <p:sp>
        <p:nvSpPr>
          <p:cNvPr id="20" name="Straight Connector 19"/>
          <p:cNvSpPr>
            <a:spLocks noChangeShapeType="1"/>
          </p:cNvSpPr>
          <p:nvPr/>
        </p:nvSpPr>
        <p:spPr bwMode="auto">
          <a:xfrm>
            <a:off x="854112" y="0"/>
            <a:ext cx="0" cy="51435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latin typeface="Times New Roman" panose="02020603050405020304" pitchFamily="18" charset="0"/>
            </a:endParaRPr>
          </a:p>
        </p:txBody>
      </p:sp>
      <p:sp>
        <p:nvSpPr>
          <p:cNvPr id="16" name="Straight Connector 15"/>
          <p:cNvSpPr>
            <a:spLocks noChangeShapeType="1"/>
          </p:cNvSpPr>
          <p:nvPr/>
        </p:nvSpPr>
        <p:spPr bwMode="auto">
          <a:xfrm>
            <a:off x="1726640" y="0"/>
            <a:ext cx="0" cy="51435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latin typeface="Times New Roman" panose="02020603050405020304" pitchFamily="18" charset="0"/>
            </a:endParaRPr>
          </a:p>
        </p:txBody>
      </p:sp>
      <p:sp>
        <p:nvSpPr>
          <p:cNvPr id="15" name="Straight Connector 14"/>
          <p:cNvSpPr>
            <a:spLocks noChangeShapeType="1"/>
          </p:cNvSpPr>
          <p:nvPr/>
        </p:nvSpPr>
        <p:spPr bwMode="auto">
          <a:xfrm>
            <a:off x="1066800" y="0"/>
            <a:ext cx="0" cy="51435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latin typeface="Times New Roman" panose="02020603050405020304" pitchFamily="18" charset="0"/>
            </a:endParaRPr>
          </a:p>
        </p:txBody>
      </p:sp>
      <p:sp>
        <p:nvSpPr>
          <p:cNvPr id="22" name="Straight Connector 21"/>
          <p:cNvSpPr>
            <a:spLocks noChangeShapeType="1"/>
          </p:cNvSpPr>
          <p:nvPr/>
        </p:nvSpPr>
        <p:spPr bwMode="auto">
          <a:xfrm>
            <a:off x="9113856" y="0"/>
            <a:ext cx="0" cy="51435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latin typeface="Times New Roman" panose="02020603050405020304" pitchFamily="18" charset="0"/>
            </a:endParaRPr>
          </a:p>
        </p:txBody>
      </p:sp>
      <p:sp>
        <p:nvSpPr>
          <p:cNvPr id="27" name="Rectangle 26"/>
          <p:cNvSpPr/>
          <p:nvPr/>
        </p:nvSpPr>
        <p:spPr bwMode="auto">
          <a:xfrm>
            <a:off x="1219200" y="0"/>
            <a:ext cx="76200" cy="51435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latin typeface="Times New Roman" panose="02020603050405020304" pitchFamily="18" charset="0"/>
            </a:endParaRPr>
          </a:p>
        </p:txBody>
      </p:sp>
      <p:sp>
        <p:nvSpPr>
          <p:cNvPr id="21" name="Oval 20"/>
          <p:cNvSpPr/>
          <p:nvPr/>
        </p:nvSpPr>
        <p:spPr bwMode="auto">
          <a:xfrm>
            <a:off x="609600" y="2571750"/>
            <a:ext cx="1295400" cy="97155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latin typeface="Times New Roman" panose="02020603050405020304" pitchFamily="18" charset="0"/>
            </a:endParaRPr>
          </a:p>
        </p:txBody>
      </p:sp>
      <p:sp>
        <p:nvSpPr>
          <p:cNvPr id="23" name="Oval 22"/>
          <p:cNvSpPr/>
          <p:nvPr/>
        </p:nvSpPr>
        <p:spPr bwMode="auto">
          <a:xfrm>
            <a:off x="1309632" y="3650064"/>
            <a:ext cx="641424" cy="481068"/>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latin typeface="Times New Roman" panose="02020603050405020304" pitchFamily="18" charset="0"/>
            </a:endParaRPr>
          </a:p>
        </p:txBody>
      </p:sp>
      <p:sp>
        <p:nvSpPr>
          <p:cNvPr id="24" name="Oval 23"/>
          <p:cNvSpPr/>
          <p:nvPr/>
        </p:nvSpPr>
        <p:spPr bwMode="auto">
          <a:xfrm>
            <a:off x="1091080" y="4125474"/>
            <a:ext cx="137160" cy="10287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latin typeface="Times New Roman" panose="02020603050405020304" pitchFamily="18" charset="0"/>
            </a:endParaRPr>
          </a:p>
        </p:txBody>
      </p:sp>
      <p:sp>
        <p:nvSpPr>
          <p:cNvPr id="26" name="Oval 25"/>
          <p:cNvSpPr/>
          <p:nvPr/>
        </p:nvSpPr>
        <p:spPr bwMode="auto">
          <a:xfrm>
            <a:off x="1664208" y="4341114"/>
            <a:ext cx="274320" cy="20574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latin typeface="Times New Roman" panose="02020603050405020304" pitchFamily="18" charset="0"/>
            </a:endParaRPr>
          </a:p>
        </p:txBody>
      </p:sp>
      <p:sp>
        <p:nvSpPr>
          <p:cNvPr id="25" name="Oval 24"/>
          <p:cNvSpPr/>
          <p:nvPr/>
        </p:nvSpPr>
        <p:spPr>
          <a:xfrm>
            <a:off x="1905000" y="3371850"/>
            <a:ext cx="365760" cy="27432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latin typeface="Times New Roman" panose="02020603050405020304" pitchFamily="18" charset="0"/>
            </a:endParaRPr>
          </a:p>
        </p:txBody>
      </p:sp>
      <p:sp>
        <p:nvSpPr>
          <p:cNvPr id="29" name="Slide Number Placeholder 28"/>
          <p:cNvSpPr>
            <a:spLocks noGrp="1"/>
          </p:cNvSpPr>
          <p:nvPr>
            <p:ph type="sldNum" sz="quarter" idx="12"/>
          </p:nvPr>
        </p:nvSpPr>
        <p:spPr bwMode="auto">
          <a:xfrm>
            <a:off x="1325544" y="3696528"/>
            <a:ext cx="609600" cy="388143"/>
          </a:xfrm>
        </p:spPr>
        <p:txBody>
          <a:bodyPr/>
          <a:lstStyle>
            <a:lvl1pPr>
              <a:defRPr>
                <a:latin typeface="Times New Roman" panose="02020603050405020304" pitchFamily="18" charset="0"/>
              </a:defRPr>
            </a:lvl1pPr>
          </a:lstStyle>
          <a:p>
            <a:fld id="{B6F15528-21DE-4FAA-801E-634DDDAF4B2B}"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kumimoji="0" lang="en-US" dirty="0"/>
              <a:t>Click to edit Master title style</a:t>
            </a:r>
          </a:p>
        </p:txBody>
      </p:sp>
      <p:sp>
        <p:nvSpPr>
          <p:cNvPr id="8" name="Content Placeholder 7"/>
          <p:cNvSpPr>
            <a:spLocks noGrp="1"/>
          </p:cNvSpPr>
          <p:nvPr>
            <p:ph sz="quarter" idx="1"/>
          </p:nvPr>
        </p:nvSpPr>
        <p:spPr>
          <a:xfrm>
            <a:off x="457200" y="1200150"/>
            <a:ext cx="7467600" cy="3655314"/>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7" name="Date Placeholder 6"/>
          <p:cNvSpPr>
            <a:spLocks noGrp="1"/>
          </p:cNvSpPr>
          <p:nvPr>
            <p:ph type="dt" sz="half" idx="14"/>
          </p:nvPr>
        </p:nvSpPr>
        <p:spPr/>
        <p:txBody>
          <a:bodyPr rtlCol="0"/>
          <a:lstStyle>
            <a:lvl1pPr>
              <a:defRPr>
                <a:latin typeface="Times New Roman" panose="02020603050405020304" pitchFamily="18" charset="0"/>
              </a:defRPr>
            </a:lvl1pPr>
          </a:lstStyle>
          <a:p>
            <a:fld id="{1D8BD707-D9CF-40AE-B4C6-C98DA3205C09}" type="datetimeFigureOut">
              <a:rPr lang="en-US" smtClean="0"/>
              <a:pPr/>
              <a:t>5/13/2026</a:t>
            </a:fld>
            <a:endParaRPr lang="en-US" dirty="0"/>
          </a:p>
        </p:txBody>
      </p:sp>
      <p:sp>
        <p:nvSpPr>
          <p:cNvPr id="9" name="Slide Number Placeholder 8"/>
          <p:cNvSpPr>
            <a:spLocks noGrp="1"/>
          </p:cNvSpPr>
          <p:nvPr>
            <p:ph type="sldNum" sz="quarter" idx="15"/>
          </p:nvPr>
        </p:nvSpPr>
        <p:spPr/>
        <p:txBody>
          <a:bodyPr rtlCol="0"/>
          <a:lstStyle>
            <a:lvl1pPr>
              <a:defRPr>
                <a:latin typeface="Times New Roman" panose="02020603050405020304" pitchFamily="18" charset="0"/>
              </a:defRPr>
            </a:lvl1pPr>
          </a:lstStyle>
          <a:p>
            <a:fld id="{B6F15528-21DE-4FAA-801E-634DDDAF4B2B}" type="slidenum">
              <a:rPr lang="en-US" smtClean="0"/>
              <a:pPr/>
              <a:t>‹#›</a:t>
            </a:fld>
            <a:endParaRPr lang="en-US" dirty="0"/>
          </a:p>
        </p:txBody>
      </p:sp>
      <p:sp>
        <p:nvSpPr>
          <p:cNvPr id="10" name="Footer Placeholder 9"/>
          <p:cNvSpPr>
            <a:spLocks noGrp="1"/>
          </p:cNvSpPr>
          <p:nvPr>
            <p:ph type="ftr" sz="quarter" idx="16"/>
          </p:nvPr>
        </p:nvSpPr>
        <p:spPr/>
        <p:txBody>
          <a:bodyPr rtlCol="0"/>
          <a:lstStyle>
            <a:lvl1pPr>
              <a:defRPr>
                <a:latin typeface="Times New Roman" panose="02020603050405020304" pitchFamily="18" charset="0"/>
              </a:defRPr>
            </a:lvl1pPr>
          </a:lstStyle>
          <a:p>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171700"/>
            <a:ext cx="6172200" cy="1540193"/>
          </a:xfrm>
        </p:spPr>
        <p:txBody>
          <a:bodyPr/>
          <a:lstStyle>
            <a:lvl1pPr algn="l">
              <a:buNone/>
              <a:defRPr sz="3000" b="1" cap="small" baseline="0">
                <a:latin typeface="Times New Roman" panose="02020603050405020304" pitchFamily="18" charset="0"/>
              </a:defRPr>
            </a:lvl1pPr>
          </a:lstStyle>
          <a:p>
            <a:r>
              <a:rPr kumimoji="0" lang="en-US" dirty="0"/>
              <a:t>Click to edit Master title style</a:t>
            </a:r>
          </a:p>
        </p:txBody>
      </p:sp>
      <p:sp>
        <p:nvSpPr>
          <p:cNvPr id="3" name="Text Placeholder 2"/>
          <p:cNvSpPr>
            <a:spLocks noGrp="1"/>
          </p:cNvSpPr>
          <p:nvPr>
            <p:ph type="body" idx="1"/>
          </p:nvPr>
        </p:nvSpPr>
        <p:spPr>
          <a:xfrm>
            <a:off x="2286000" y="3757613"/>
            <a:ext cx="6172200" cy="1028700"/>
          </a:xfrm>
        </p:spPr>
        <p:txBody>
          <a:bodyPr anchor="t"/>
          <a:lstStyle>
            <a:lvl1pPr marL="0" indent="0">
              <a:buNone/>
              <a:defRPr sz="1800" b="1">
                <a:solidFill>
                  <a:schemeClr val="tx2"/>
                </a:solidFill>
                <a:latin typeface="Times New Roman" panose="02020603050405020304" pitchFamily="18" charset="0"/>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dirty="0"/>
              <a:t>Click to edit Master text styles</a:t>
            </a:r>
          </a:p>
        </p:txBody>
      </p:sp>
      <p:sp>
        <p:nvSpPr>
          <p:cNvPr id="4" name="Date Placeholder 3"/>
          <p:cNvSpPr>
            <a:spLocks noGrp="1"/>
          </p:cNvSpPr>
          <p:nvPr>
            <p:ph type="dt" sz="half" idx="10"/>
          </p:nvPr>
        </p:nvSpPr>
        <p:spPr bwMode="auto">
          <a:xfrm rot="5400000">
            <a:off x="8049006" y="830199"/>
            <a:ext cx="1714500" cy="381000"/>
          </a:xfrm>
        </p:spPr>
        <p:txBody>
          <a:bodyPr/>
          <a:lstStyle>
            <a:lvl1pPr>
              <a:defRPr>
                <a:latin typeface="Times New Roman" panose="02020603050405020304" pitchFamily="18" charset="0"/>
              </a:defRPr>
            </a:lvl1pPr>
          </a:lstStyle>
          <a:p>
            <a:fld id="{1D8BD707-D9CF-40AE-B4C6-C98DA3205C09}" type="datetimeFigureOut">
              <a:rPr lang="en-US" smtClean="0"/>
              <a:pPr/>
              <a:t>5/13/2026</a:t>
            </a:fld>
            <a:endParaRPr lang="en-US" dirty="0"/>
          </a:p>
        </p:txBody>
      </p:sp>
      <p:sp>
        <p:nvSpPr>
          <p:cNvPr id="5" name="Footer Placeholder 4"/>
          <p:cNvSpPr>
            <a:spLocks noGrp="1"/>
          </p:cNvSpPr>
          <p:nvPr>
            <p:ph type="ftr" sz="quarter" idx="11"/>
          </p:nvPr>
        </p:nvSpPr>
        <p:spPr bwMode="auto">
          <a:xfrm rot="5400000">
            <a:off x="7534656" y="3086100"/>
            <a:ext cx="2743200" cy="384048"/>
          </a:xfrm>
        </p:spPr>
        <p:txBody>
          <a:bodyPr/>
          <a:lstStyle>
            <a:lvl1pPr>
              <a:defRPr>
                <a:latin typeface="Times New Roman" panose="02020603050405020304" pitchFamily="18" charset="0"/>
              </a:defRPr>
            </a:lvl1pPr>
          </a:lstStyle>
          <a:p>
            <a:endParaRPr lang="en-US" dirty="0"/>
          </a:p>
        </p:txBody>
      </p:sp>
      <p:sp>
        <p:nvSpPr>
          <p:cNvPr id="9" name="Rectangle 8"/>
          <p:cNvSpPr/>
          <p:nvPr/>
        </p:nvSpPr>
        <p:spPr bwMode="auto">
          <a:xfrm>
            <a:off x="381000" y="0"/>
            <a:ext cx="609600" cy="51435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latin typeface="Times New Roman" panose="02020603050405020304" pitchFamily="18" charset="0"/>
            </a:endParaRPr>
          </a:p>
        </p:txBody>
      </p:sp>
      <p:sp>
        <p:nvSpPr>
          <p:cNvPr id="10" name="Rectangle 9"/>
          <p:cNvSpPr/>
          <p:nvPr/>
        </p:nvSpPr>
        <p:spPr bwMode="auto">
          <a:xfrm>
            <a:off x="276336" y="0"/>
            <a:ext cx="104664" cy="51435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latin typeface="Times New Roman" panose="02020603050405020304" pitchFamily="18" charset="0"/>
            </a:endParaRPr>
          </a:p>
        </p:txBody>
      </p:sp>
      <p:sp>
        <p:nvSpPr>
          <p:cNvPr id="11" name="Rectangle 10"/>
          <p:cNvSpPr/>
          <p:nvPr/>
        </p:nvSpPr>
        <p:spPr bwMode="auto">
          <a:xfrm>
            <a:off x="990600" y="0"/>
            <a:ext cx="181872" cy="51435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latin typeface="Times New Roman" panose="02020603050405020304" pitchFamily="18" charset="0"/>
            </a:endParaRPr>
          </a:p>
        </p:txBody>
      </p:sp>
      <p:sp>
        <p:nvSpPr>
          <p:cNvPr id="12" name="Rectangle 11"/>
          <p:cNvSpPr/>
          <p:nvPr/>
        </p:nvSpPr>
        <p:spPr bwMode="auto">
          <a:xfrm>
            <a:off x="1141320" y="0"/>
            <a:ext cx="230280" cy="51435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latin typeface="Times New Roman" panose="02020603050405020304" pitchFamily="18" charset="0"/>
            </a:endParaRPr>
          </a:p>
        </p:txBody>
      </p:sp>
      <p:sp>
        <p:nvSpPr>
          <p:cNvPr id="13" name="Straight Connector 12"/>
          <p:cNvSpPr>
            <a:spLocks noChangeShapeType="1"/>
          </p:cNvSpPr>
          <p:nvPr/>
        </p:nvSpPr>
        <p:spPr bwMode="auto">
          <a:xfrm>
            <a:off x="106344" y="0"/>
            <a:ext cx="0" cy="51435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latin typeface="Times New Roman" panose="02020603050405020304" pitchFamily="18" charset="0"/>
            </a:endParaRPr>
          </a:p>
        </p:txBody>
      </p:sp>
      <p:sp>
        <p:nvSpPr>
          <p:cNvPr id="14" name="Straight Connector 13"/>
          <p:cNvSpPr>
            <a:spLocks noChangeShapeType="1"/>
          </p:cNvSpPr>
          <p:nvPr/>
        </p:nvSpPr>
        <p:spPr bwMode="auto">
          <a:xfrm>
            <a:off x="914400" y="0"/>
            <a:ext cx="0" cy="51435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latin typeface="Times New Roman" panose="02020603050405020304" pitchFamily="18" charset="0"/>
            </a:endParaRPr>
          </a:p>
        </p:txBody>
      </p:sp>
      <p:sp>
        <p:nvSpPr>
          <p:cNvPr id="15" name="Straight Connector 14"/>
          <p:cNvSpPr>
            <a:spLocks noChangeShapeType="1"/>
          </p:cNvSpPr>
          <p:nvPr/>
        </p:nvSpPr>
        <p:spPr bwMode="auto">
          <a:xfrm>
            <a:off x="854112" y="0"/>
            <a:ext cx="0" cy="51435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latin typeface="Times New Roman" panose="02020603050405020304" pitchFamily="18" charset="0"/>
            </a:endParaRPr>
          </a:p>
        </p:txBody>
      </p:sp>
      <p:sp>
        <p:nvSpPr>
          <p:cNvPr id="16" name="Straight Connector 15"/>
          <p:cNvSpPr>
            <a:spLocks noChangeShapeType="1"/>
          </p:cNvSpPr>
          <p:nvPr/>
        </p:nvSpPr>
        <p:spPr bwMode="auto">
          <a:xfrm>
            <a:off x="1726640" y="0"/>
            <a:ext cx="0" cy="51435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latin typeface="Times New Roman" panose="02020603050405020304" pitchFamily="18" charset="0"/>
            </a:endParaRPr>
          </a:p>
        </p:txBody>
      </p:sp>
      <p:sp>
        <p:nvSpPr>
          <p:cNvPr id="17" name="Straight Connector 16"/>
          <p:cNvSpPr>
            <a:spLocks noChangeShapeType="1"/>
          </p:cNvSpPr>
          <p:nvPr/>
        </p:nvSpPr>
        <p:spPr bwMode="auto">
          <a:xfrm>
            <a:off x="1066800" y="0"/>
            <a:ext cx="0" cy="51435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latin typeface="Times New Roman" panose="02020603050405020304" pitchFamily="18" charset="0"/>
            </a:endParaRPr>
          </a:p>
        </p:txBody>
      </p:sp>
      <p:sp>
        <p:nvSpPr>
          <p:cNvPr id="18" name="Rectangle 17"/>
          <p:cNvSpPr/>
          <p:nvPr/>
        </p:nvSpPr>
        <p:spPr bwMode="auto">
          <a:xfrm>
            <a:off x="1219200" y="0"/>
            <a:ext cx="76200" cy="51435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latin typeface="Times New Roman" panose="02020603050405020304" pitchFamily="18" charset="0"/>
            </a:endParaRPr>
          </a:p>
        </p:txBody>
      </p:sp>
      <p:sp>
        <p:nvSpPr>
          <p:cNvPr id="19" name="Oval 18"/>
          <p:cNvSpPr/>
          <p:nvPr/>
        </p:nvSpPr>
        <p:spPr bwMode="auto">
          <a:xfrm>
            <a:off x="609600" y="2571750"/>
            <a:ext cx="1295400" cy="97155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latin typeface="Times New Roman" panose="02020603050405020304" pitchFamily="18" charset="0"/>
            </a:endParaRPr>
          </a:p>
        </p:txBody>
      </p:sp>
      <p:sp>
        <p:nvSpPr>
          <p:cNvPr id="20" name="Oval 19"/>
          <p:cNvSpPr/>
          <p:nvPr/>
        </p:nvSpPr>
        <p:spPr bwMode="auto">
          <a:xfrm>
            <a:off x="1324704" y="3650064"/>
            <a:ext cx="641424" cy="481068"/>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latin typeface="Times New Roman" panose="02020603050405020304" pitchFamily="18" charset="0"/>
            </a:endParaRPr>
          </a:p>
        </p:txBody>
      </p:sp>
      <p:sp>
        <p:nvSpPr>
          <p:cNvPr id="21" name="Oval 20"/>
          <p:cNvSpPr/>
          <p:nvPr/>
        </p:nvSpPr>
        <p:spPr bwMode="auto">
          <a:xfrm>
            <a:off x="1091080" y="4125474"/>
            <a:ext cx="137160" cy="10287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latin typeface="Times New Roman" panose="02020603050405020304" pitchFamily="18" charset="0"/>
            </a:endParaRPr>
          </a:p>
        </p:txBody>
      </p:sp>
      <p:sp>
        <p:nvSpPr>
          <p:cNvPr id="22" name="Oval 21"/>
          <p:cNvSpPr/>
          <p:nvPr/>
        </p:nvSpPr>
        <p:spPr bwMode="auto">
          <a:xfrm>
            <a:off x="1664208" y="4343400"/>
            <a:ext cx="274320" cy="20574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latin typeface="Times New Roman" panose="02020603050405020304" pitchFamily="18" charset="0"/>
            </a:endParaRPr>
          </a:p>
        </p:txBody>
      </p:sp>
      <p:sp>
        <p:nvSpPr>
          <p:cNvPr id="23" name="Oval 22"/>
          <p:cNvSpPr/>
          <p:nvPr/>
        </p:nvSpPr>
        <p:spPr bwMode="auto">
          <a:xfrm>
            <a:off x="1879040" y="3359916"/>
            <a:ext cx="365760" cy="27432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latin typeface="Times New Roman" panose="02020603050405020304" pitchFamily="18" charset="0"/>
            </a:endParaRPr>
          </a:p>
        </p:txBody>
      </p:sp>
      <p:sp>
        <p:nvSpPr>
          <p:cNvPr id="26" name="Straight Connector 25"/>
          <p:cNvSpPr>
            <a:spLocks noChangeShapeType="1"/>
          </p:cNvSpPr>
          <p:nvPr/>
        </p:nvSpPr>
        <p:spPr bwMode="auto">
          <a:xfrm>
            <a:off x="9097944" y="0"/>
            <a:ext cx="0" cy="51435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latin typeface="Times New Roman" panose="02020603050405020304" pitchFamily="18" charset="0"/>
            </a:endParaRPr>
          </a:p>
        </p:txBody>
      </p:sp>
      <p:sp>
        <p:nvSpPr>
          <p:cNvPr id="6" name="Slide Number Placeholder 5"/>
          <p:cNvSpPr>
            <a:spLocks noGrp="1"/>
          </p:cNvSpPr>
          <p:nvPr>
            <p:ph type="sldNum" sz="quarter" idx="12"/>
          </p:nvPr>
        </p:nvSpPr>
        <p:spPr bwMode="auto">
          <a:xfrm>
            <a:off x="1340616" y="3696528"/>
            <a:ext cx="609600" cy="388143"/>
          </a:xfrm>
        </p:spPr>
        <p:txBody>
          <a:bodyPr/>
          <a:lstStyle>
            <a:lvl1pPr>
              <a:defRPr>
                <a:latin typeface="Times New Roman" panose="02020603050405020304" pitchFamily="18" charset="0"/>
              </a:defRPr>
            </a:lvl1pPr>
          </a:lstStyle>
          <a:p>
            <a:fld id="{B6F15528-21DE-4FAA-801E-634DDDAF4B2B}"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kumimoji="0" lang="en-US" dirty="0"/>
              <a:t>Click to edit Master title style</a:t>
            </a:r>
          </a:p>
        </p:txBody>
      </p:sp>
      <p:sp>
        <p:nvSpPr>
          <p:cNvPr id="5" name="Date Placeholder 4"/>
          <p:cNvSpPr>
            <a:spLocks noGrp="1"/>
          </p:cNvSpPr>
          <p:nvPr>
            <p:ph type="dt" sz="half" idx="10"/>
          </p:nvPr>
        </p:nvSpPr>
        <p:spPr/>
        <p:txBody>
          <a:bodyPr/>
          <a:lstStyle>
            <a:lvl1pPr>
              <a:defRPr>
                <a:latin typeface="Times New Roman" panose="02020603050405020304" pitchFamily="18" charset="0"/>
              </a:defRPr>
            </a:lvl1pPr>
          </a:lstStyle>
          <a:p>
            <a:fld id="{1D8BD707-D9CF-40AE-B4C6-C98DA3205C09}" type="datetimeFigureOut">
              <a:rPr lang="en-US" smtClean="0"/>
              <a:pPr/>
              <a:t>5/13/2026</a:t>
            </a:fld>
            <a:endParaRPr lang="en-US" dirty="0"/>
          </a:p>
        </p:txBody>
      </p:sp>
      <p:sp>
        <p:nvSpPr>
          <p:cNvPr id="6" name="Footer Placeholder 5"/>
          <p:cNvSpPr>
            <a:spLocks noGrp="1"/>
          </p:cNvSpPr>
          <p:nvPr>
            <p:ph type="ftr" sz="quarter" idx="11"/>
          </p:nvPr>
        </p:nvSpPr>
        <p:spPr/>
        <p:txBody>
          <a:bodyPr/>
          <a:lstStyle>
            <a:lvl1pPr>
              <a:defRPr>
                <a:latin typeface="Times New Roman" panose="02020603050405020304" pitchFamily="18"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Times New Roman" panose="02020603050405020304" pitchFamily="18" charset="0"/>
              </a:defRPr>
            </a:lvl1pPr>
          </a:lstStyle>
          <a:p>
            <a:fld id="{B6F15528-21DE-4FAA-801E-634DDDAF4B2B}" type="slidenum">
              <a:rPr lang="en-US" smtClean="0"/>
              <a:pPr/>
              <a:t>‹#›</a:t>
            </a:fld>
            <a:endParaRPr lang="en-US" dirty="0"/>
          </a:p>
        </p:txBody>
      </p:sp>
      <p:sp>
        <p:nvSpPr>
          <p:cNvPr id="9" name="Content Placeholder 8"/>
          <p:cNvSpPr>
            <a:spLocks noGrp="1"/>
          </p:cNvSpPr>
          <p:nvPr>
            <p:ph sz="quarter" idx="1"/>
          </p:nvPr>
        </p:nvSpPr>
        <p:spPr>
          <a:xfrm>
            <a:off x="457200" y="1200150"/>
            <a:ext cx="3657600" cy="342900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11" name="Content Placeholder 10"/>
          <p:cNvSpPr>
            <a:spLocks noGrp="1"/>
          </p:cNvSpPr>
          <p:nvPr>
            <p:ph sz="quarter" idx="2"/>
          </p:nvPr>
        </p:nvSpPr>
        <p:spPr>
          <a:xfrm>
            <a:off x="4270248" y="1200150"/>
            <a:ext cx="3657600" cy="342900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4788"/>
            <a:ext cx="7543800" cy="857250"/>
          </a:xfrm>
        </p:spPr>
        <p:txBody>
          <a:bodyPr anchor="b"/>
          <a:lstStyle>
            <a:lvl1pPr>
              <a:defRPr>
                <a:latin typeface="Times New Roman" panose="02020603050405020304" pitchFamily="18" charset="0"/>
              </a:defRPr>
            </a:lvl1pPr>
          </a:lstStyle>
          <a:p>
            <a:r>
              <a:rPr kumimoji="0" lang="en-US" dirty="0"/>
              <a:t>Click to edit Master title style</a:t>
            </a:r>
          </a:p>
        </p:txBody>
      </p:sp>
      <p:sp>
        <p:nvSpPr>
          <p:cNvPr id="7" name="Date Placeholder 6"/>
          <p:cNvSpPr>
            <a:spLocks noGrp="1"/>
          </p:cNvSpPr>
          <p:nvPr>
            <p:ph type="dt" sz="half" idx="10"/>
          </p:nvPr>
        </p:nvSpPr>
        <p:spPr/>
        <p:txBody>
          <a:bodyPr/>
          <a:lstStyle>
            <a:lvl1pPr>
              <a:defRPr>
                <a:latin typeface="Times New Roman" panose="02020603050405020304" pitchFamily="18" charset="0"/>
              </a:defRPr>
            </a:lvl1pPr>
          </a:lstStyle>
          <a:p>
            <a:fld id="{1D8BD707-D9CF-40AE-B4C6-C98DA3205C09}" type="datetimeFigureOut">
              <a:rPr lang="en-US" smtClean="0"/>
              <a:pPr/>
              <a:t>5/13/2026</a:t>
            </a:fld>
            <a:endParaRPr lang="en-US" dirty="0"/>
          </a:p>
        </p:txBody>
      </p:sp>
      <p:sp>
        <p:nvSpPr>
          <p:cNvPr id="8" name="Footer Placeholder 7"/>
          <p:cNvSpPr>
            <a:spLocks noGrp="1"/>
          </p:cNvSpPr>
          <p:nvPr>
            <p:ph type="ftr" sz="quarter" idx="11"/>
          </p:nvPr>
        </p:nvSpPr>
        <p:spPr/>
        <p:txBody>
          <a:bodyPr/>
          <a:lstStyle>
            <a:lvl1pPr>
              <a:defRPr>
                <a:latin typeface="Times New Roman" panose="02020603050405020304" pitchFamily="18" charset="0"/>
              </a:defRPr>
            </a:lvl1pPr>
          </a:lstStyle>
          <a:p>
            <a:endParaRPr lang="en-US" dirty="0"/>
          </a:p>
        </p:txBody>
      </p:sp>
      <p:sp>
        <p:nvSpPr>
          <p:cNvPr id="9" name="Slide Number Placeholder 8"/>
          <p:cNvSpPr>
            <a:spLocks noGrp="1"/>
          </p:cNvSpPr>
          <p:nvPr>
            <p:ph type="sldNum" sz="quarter" idx="12"/>
          </p:nvPr>
        </p:nvSpPr>
        <p:spPr/>
        <p:txBody>
          <a:bodyPr/>
          <a:lstStyle>
            <a:lvl1pPr>
              <a:defRPr>
                <a:latin typeface="Times New Roman" panose="02020603050405020304" pitchFamily="18" charset="0"/>
              </a:defRPr>
            </a:lvl1pPr>
          </a:lstStyle>
          <a:p>
            <a:fld id="{B6F15528-21DE-4FAA-801E-634DDDAF4B2B}" type="slidenum">
              <a:rPr lang="en-US" smtClean="0"/>
              <a:pPr/>
              <a:t>‹#›</a:t>
            </a:fld>
            <a:endParaRPr lang="en-US" dirty="0"/>
          </a:p>
        </p:txBody>
      </p:sp>
      <p:sp>
        <p:nvSpPr>
          <p:cNvPr id="11" name="Content Placeholder 10"/>
          <p:cNvSpPr>
            <a:spLocks noGrp="1"/>
          </p:cNvSpPr>
          <p:nvPr>
            <p:ph sz="quarter" idx="2"/>
          </p:nvPr>
        </p:nvSpPr>
        <p:spPr>
          <a:xfrm>
            <a:off x="457200" y="1771650"/>
            <a:ext cx="3657600" cy="291465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13" name="Content Placeholder 12"/>
          <p:cNvSpPr>
            <a:spLocks noGrp="1"/>
          </p:cNvSpPr>
          <p:nvPr>
            <p:ph sz="quarter" idx="4"/>
          </p:nvPr>
        </p:nvSpPr>
        <p:spPr>
          <a:xfrm>
            <a:off x="4371975" y="1771650"/>
            <a:ext cx="3657600" cy="291465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12" name="Text Placeholder 11"/>
          <p:cNvSpPr>
            <a:spLocks noGrp="1"/>
          </p:cNvSpPr>
          <p:nvPr>
            <p:ph type="body" sz="quarter" idx="1"/>
          </p:nvPr>
        </p:nvSpPr>
        <p:spPr>
          <a:xfrm>
            <a:off x="457200" y="1177290"/>
            <a:ext cx="3657600" cy="493776"/>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latin typeface="Times New Roman" panose="02020603050405020304" pitchFamily="18" charset="0"/>
              </a:defRPr>
            </a:lvl1pPr>
          </a:lstStyle>
          <a:p>
            <a:pPr lvl="0" eaLnBrk="1" latinLnBrk="0" hangingPunct="1"/>
            <a:r>
              <a:rPr kumimoji="0" lang="en-US" dirty="0"/>
              <a:t>Click to edit Master text styles</a:t>
            </a:r>
          </a:p>
        </p:txBody>
      </p:sp>
      <p:sp>
        <p:nvSpPr>
          <p:cNvPr id="14" name="Text Placeholder 13"/>
          <p:cNvSpPr>
            <a:spLocks noGrp="1"/>
          </p:cNvSpPr>
          <p:nvPr>
            <p:ph type="body" sz="quarter" idx="3"/>
          </p:nvPr>
        </p:nvSpPr>
        <p:spPr>
          <a:xfrm>
            <a:off x="4343400" y="1177290"/>
            <a:ext cx="3657600" cy="493776"/>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latin typeface="Times New Roman" panose="02020603050405020304" pitchFamily="18" charset="0"/>
              </a:defRPr>
            </a:lvl1pPr>
          </a:lstStyle>
          <a:p>
            <a:pPr lvl="0" eaLnBrk="1" latinLnBrk="0" hangingPunct="1"/>
            <a:r>
              <a:rPr kumimoji="0" lang="en-US" dirty="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kumimoji="0" lang="en-US" dirty="0"/>
              <a:t>Click to edit Master title style</a:t>
            </a:r>
          </a:p>
        </p:txBody>
      </p:sp>
      <p:sp>
        <p:nvSpPr>
          <p:cNvPr id="6" name="Date Placeholder 5"/>
          <p:cNvSpPr>
            <a:spLocks noGrp="1"/>
          </p:cNvSpPr>
          <p:nvPr>
            <p:ph type="dt" sz="half" idx="10"/>
          </p:nvPr>
        </p:nvSpPr>
        <p:spPr/>
        <p:txBody>
          <a:bodyPr rtlCol="0"/>
          <a:lstStyle>
            <a:lvl1pPr>
              <a:defRPr>
                <a:latin typeface="Times New Roman" panose="02020603050405020304" pitchFamily="18" charset="0"/>
              </a:defRPr>
            </a:lvl1pPr>
          </a:lstStyle>
          <a:p>
            <a:fld id="{1D8BD707-D9CF-40AE-B4C6-C98DA3205C09}" type="datetimeFigureOut">
              <a:rPr lang="en-US" smtClean="0"/>
              <a:pPr/>
              <a:t>5/13/2026</a:t>
            </a:fld>
            <a:endParaRPr lang="en-US" dirty="0"/>
          </a:p>
        </p:txBody>
      </p:sp>
      <p:sp>
        <p:nvSpPr>
          <p:cNvPr id="7" name="Slide Number Placeholder 6"/>
          <p:cNvSpPr>
            <a:spLocks noGrp="1"/>
          </p:cNvSpPr>
          <p:nvPr>
            <p:ph type="sldNum" sz="quarter" idx="11"/>
          </p:nvPr>
        </p:nvSpPr>
        <p:spPr/>
        <p:txBody>
          <a:bodyPr rtlCol="0"/>
          <a:lstStyle>
            <a:lvl1pPr>
              <a:defRPr>
                <a:latin typeface="Times New Roman" panose="02020603050405020304" pitchFamily="18" charset="0"/>
              </a:defRPr>
            </a:lvl1pPr>
          </a:lstStyle>
          <a:p>
            <a:fld id="{B6F15528-21DE-4FAA-801E-634DDDAF4B2B}" type="slidenum">
              <a:rPr lang="en-US" smtClean="0"/>
              <a:pPr/>
              <a:t>‹#›</a:t>
            </a:fld>
            <a:endParaRPr lang="en-US" dirty="0"/>
          </a:p>
        </p:txBody>
      </p:sp>
      <p:sp>
        <p:nvSpPr>
          <p:cNvPr id="8" name="Footer Placeholder 7"/>
          <p:cNvSpPr>
            <a:spLocks noGrp="1"/>
          </p:cNvSpPr>
          <p:nvPr>
            <p:ph type="ftr" sz="quarter" idx="12"/>
          </p:nvPr>
        </p:nvSpPr>
        <p:spPr/>
        <p:txBody>
          <a:bodyPr rtlCol="0"/>
          <a:lstStyle>
            <a:lvl1pPr>
              <a:defRPr>
                <a:latin typeface="Times New Roman" panose="02020603050405020304" pitchFamily="18" charset="0"/>
              </a:defRPr>
            </a:lvl1p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Times New Roman" panose="02020603050405020304" pitchFamily="18" charset="0"/>
              </a:defRPr>
            </a:lvl1pPr>
          </a:lstStyle>
          <a:p>
            <a:fld id="{1D8BD707-D9CF-40AE-B4C6-C98DA3205C09}" type="datetimeFigureOut">
              <a:rPr lang="en-US" smtClean="0"/>
              <a:pPr/>
              <a:t>5/13/2026</a:t>
            </a:fld>
            <a:endParaRPr lang="en-US" dirty="0"/>
          </a:p>
        </p:txBody>
      </p:sp>
      <p:sp>
        <p:nvSpPr>
          <p:cNvPr id="3" name="Footer Placeholder 2"/>
          <p:cNvSpPr>
            <a:spLocks noGrp="1"/>
          </p:cNvSpPr>
          <p:nvPr>
            <p:ph type="ftr" sz="quarter" idx="11"/>
          </p:nvPr>
        </p:nvSpPr>
        <p:spPr/>
        <p:txBody>
          <a:bodyPr/>
          <a:lstStyle>
            <a:lvl1pPr>
              <a:defRPr>
                <a:latin typeface="Times New Roman" panose="02020603050405020304" pitchFamily="18"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Times New Roman" panose="02020603050405020304" pitchFamily="18" charset="0"/>
              </a:defRPr>
            </a:lvl1p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51435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latin typeface="Times New Roman" panose="02020603050405020304" pitchFamily="18" charset="0"/>
            </a:endParaRPr>
          </a:p>
        </p:txBody>
      </p:sp>
      <p:sp>
        <p:nvSpPr>
          <p:cNvPr id="2" name="Title 1"/>
          <p:cNvSpPr>
            <a:spLocks noGrp="1"/>
          </p:cNvSpPr>
          <p:nvPr>
            <p:ph type="title"/>
          </p:nvPr>
        </p:nvSpPr>
        <p:spPr>
          <a:xfrm rot="5400000">
            <a:off x="4160520" y="2343150"/>
            <a:ext cx="4732020" cy="457200"/>
          </a:xfrm>
        </p:spPr>
        <p:txBody>
          <a:bodyPr anchor="b"/>
          <a:lstStyle>
            <a:lvl1pPr algn="l">
              <a:buNone/>
              <a:defRPr sz="2000" b="1" cap="small" baseline="0">
                <a:latin typeface="Times New Roman" panose="02020603050405020304" pitchFamily="18" charset="0"/>
              </a:defRPr>
            </a:lvl1pPr>
          </a:lstStyle>
          <a:p>
            <a:r>
              <a:rPr kumimoji="0" lang="en-US" dirty="0"/>
              <a:t>Click to edit Master title style</a:t>
            </a:r>
          </a:p>
        </p:txBody>
      </p:sp>
      <p:sp>
        <p:nvSpPr>
          <p:cNvPr id="3" name="Text Placeholder 2"/>
          <p:cNvSpPr>
            <a:spLocks noGrp="1"/>
          </p:cNvSpPr>
          <p:nvPr>
            <p:ph type="body" idx="2"/>
          </p:nvPr>
        </p:nvSpPr>
        <p:spPr>
          <a:xfrm>
            <a:off x="6812280" y="205740"/>
            <a:ext cx="1527048" cy="3737610"/>
          </a:xfrm>
        </p:spPr>
        <p:txBody>
          <a:bodyPr/>
          <a:lstStyle>
            <a:lvl1pPr marL="0" indent="0">
              <a:spcBef>
                <a:spcPts val="400"/>
              </a:spcBef>
              <a:spcAft>
                <a:spcPts val="1000"/>
              </a:spcAft>
              <a:buNone/>
              <a:defRPr sz="1200">
                <a:latin typeface="Times New Roman" panose="02020603050405020304" pitchFamily="18" charset="0"/>
              </a:defRPr>
            </a:lvl1pPr>
            <a:lvl2pPr>
              <a:buNone/>
              <a:defRPr sz="1200"/>
            </a:lvl2pPr>
            <a:lvl3pPr>
              <a:buNone/>
              <a:defRPr sz="1000"/>
            </a:lvl3pPr>
            <a:lvl4pPr>
              <a:buNone/>
              <a:defRPr sz="900"/>
            </a:lvl4pPr>
            <a:lvl5pPr>
              <a:buNone/>
              <a:defRPr sz="900"/>
            </a:lvl5pPr>
          </a:lstStyle>
          <a:p>
            <a:pPr lvl="0" eaLnBrk="1" latinLnBrk="0" hangingPunct="1"/>
            <a:r>
              <a:rPr kumimoji="0" lang="en-US" dirty="0"/>
              <a:t>Click to edit Master text styles</a:t>
            </a:r>
          </a:p>
        </p:txBody>
      </p:sp>
      <p:sp>
        <p:nvSpPr>
          <p:cNvPr id="8" name="Straight Connector 7"/>
          <p:cNvSpPr>
            <a:spLocks noChangeShapeType="1"/>
          </p:cNvSpPr>
          <p:nvPr/>
        </p:nvSpPr>
        <p:spPr bwMode="auto">
          <a:xfrm>
            <a:off x="6248400" y="0"/>
            <a:ext cx="0" cy="51435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latin typeface="Times New Roman" panose="02020603050405020304" pitchFamily="18" charset="0"/>
            </a:endParaRPr>
          </a:p>
        </p:txBody>
      </p:sp>
      <p:sp>
        <p:nvSpPr>
          <p:cNvPr id="9" name="Straight Connector 8"/>
          <p:cNvSpPr>
            <a:spLocks noChangeShapeType="1"/>
          </p:cNvSpPr>
          <p:nvPr/>
        </p:nvSpPr>
        <p:spPr bwMode="auto">
          <a:xfrm>
            <a:off x="6192296" y="0"/>
            <a:ext cx="0" cy="51435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latin typeface="Times New Roman" panose="02020603050405020304" pitchFamily="18" charset="0"/>
            </a:endParaRPr>
          </a:p>
        </p:txBody>
      </p:sp>
      <p:sp>
        <p:nvSpPr>
          <p:cNvPr id="11" name="Straight Connector 10"/>
          <p:cNvSpPr>
            <a:spLocks noChangeShapeType="1"/>
          </p:cNvSpPr>
          <p:nvPr/>
        </p:nvSpPr>
        <p:spPr bwMode="auto">
          <a:xfrm>
            <a:off x="8991600" y="0"/>
            <a:ext cx="0" cy="51435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latin typeface="Times New Roman" panose="02020603050405020304" pitchFamily="18" charset="0"/>
            </a:endParaRPr>
          </a:p>
        </p:txBody>
      </p:sp>
      <p:sp>
        <p:nvSpPr>
          <p:cNvPr id="12" name="Rectangle 11"/>
          <p:cNvSpPr/>
          <p:nvPr/>
        </p:nvSpPr>
        <p:spPr bwMode="auto">
          <a:xfrm>
            <a:off x="8839200" y="0"/>
            <a:ext cx="304800" cy="51435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latin typeface="Times New Roman" panose="02020603050405020304" pitchFamily="18" charset="0"/>
            </a:endParaRPr>
          </a:p>
        </p:txBody>
      </p:sp>
      <p:sp>
        <p:nvSpPr>
          <p:cNvPr id="13" name="Straight Connector 12"/>
          <p:cNvSpPr>
            <a:spLocks noChangeShapeType="1"/>
          </p:cNvSpPr>
          <p:nvPr/>
        </p:nvSpPr>
        <p:spPr bwMode="auto">
          <a:xfrm>
            <a:off x="8915400" y="0"/>
            <a:ext cx="0" cy="51435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latin typeface="Times New Roman" panose="02020603050405020304" pitchFamily="18" charset="0"/>
            </a:endParaRPr>
          </a:p>
        </p:txBody>
      </p:sp>
      <p:sp>
        <p:nvSpPr>
          <p:cNvPr id="14" name="Oval 13"/>
          <p:cNvSpPr/>
          <p:nvPr/>
        </p:nvSpPr>
        <p:spPr>
          <a:xfrm>
            <a:off x="8156448" y="4286250"/>
            <a:ext cx="548640" cy="41148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latin typeface="Times New Roman" panose="02020603050405020304" pitchFamily="18" charset="0"/>
            </a:endParaRPr>
          </a:p>
        </p:txBody>
      </p:sp>
      <p:sp>
        <p:nvSpPr>
          <p:cNvPr id="18" name="Content Placeholder 17"/>
          <p:cNvSpPr>
            <a:spLocks noGrp="1"/>
          </p:cNvSpPr>
          <p:nvPr>
            <p:ph sz="quarter" idx="1"/>
          </p:nvPr>
        </p:nvSpPr>
        <p:spPr>
          <a:xfrm>
            <a:off x="304800" y="205740"/>
            <a:ext cx="5638800" cy="4745736"/>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21" name="Date Placeholder 20"/>
          <p:cNvSpPr>
            <a:spLocks noGrp="1"/>
          </p:cNvSpPr>
          <p:nvPr>
            <p:ph type="dt" sz="half" idx="14"/>
          </p:nvPr>
        </p:nvSpPr>
        <p:spPr/>
        <p:txBody>
          <a:bodyPr rtlCol="0"/>
          <a:lstStyle>
            <a:lvl1pPr>
              <a:defRPr>
                <a:latin typeface="Times New Roman" panose="02020603050405020304" pitchFamily="18" charset="0"/>
              </a:defRPr>
            </a:lvl1pPr>
          </a:lstStyle>
          <a:p>
            <a:fld id="{1D8BD707-D9CF-40AE-B4C6-C98DA3205C09}" type="datetimeFigureOut">
              <a:rPr lang="en-US" smtClean="0"/>
              <a:pPr/>
              <a:t>5/13/2026</a:t>
            </a:fld>
            <a:endParaRPr lang="en-US" dirty="0"/>
          </a:p>
        </p:txBody>
      </p:sp>
      <p:sp>
        <p:nvSpPr>
          <p:cNvPr id="22" name="Slide Number Placeholder 21"/>
          <p:cNvSpPr>
            <a:spLocks noGrp="1"/>
          </p:cNvSpPr>
          <p:nvPr>
            <p:ph type="sldNum" sz="quarter" idx="15"/>
          </p:nvPr>
        </p:nvSpPr>
        <p:spPr/>
        <p:txBody>
          <a:bodyPr rtlCol="0"/>
          <a:lstStyle>
            <a:lvl1pPr>
              <a:defRPr>
                <a:latin typeface="Times New Roman" panose="02020603050405020304" pitchFamily="18" charset="0"/>
              </a:defRPr>
            </a:lvl1pPr>
          </a:lstStyle>
          <a:p>
            <a:fld id="{B6F15528-21DE-4FAA-801E-634DDDAF4B2B}" type="slidenum">
              <a:rPr lang="en-US" smtClean="0"/>
              <a:pPr/>
              <a:t>‹#›</a:t>
            </a:fld>
            <a:endParaRPr lang="en-US" dirty="0"/>
          </a:p>
        </p:txBody>
      </p:sp>
      <p:sp>
        <p:nvSpPr>
          <p:cNvPr id="23" name="Footer Placeholder 22"/>
          <p:cNvSpPr>
            <a:spLocks noGrp="1"/>
          </p:cNvSpPr>
          <p:nvPr>
            <p:ph type="ftr" sz="quarter" idx="16"/>
          </p:nvPr>
        </p:nvSpPr>
        <p:spPr/>
        <p:txBody>
          <a:bodyPr rtlCol="0"/>
          <a:lstStyle>
            <a:lvl1pPr>
              <a:defRPr>
                <a:latin typeface="Times New Roman" panose="02020603050405020304" pitchFamily="18" charset="0"/>
              </a:defRPr>
            </a:lvl1p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51435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latin typeface="Times New Roman" panose="02020603050405020304" pitchFamily="18" charset="0"/>
            </a:endParaRPr>
          </a:p>
        </p:txBody>
      </p:sp>
      <p:sp>
        <p:nvSpPr>
          <p:cNvPr id="13" name="Oval 12"/>
          <p:cNvSpPr/>
          <p:nvPr/>
        </p:nvSpPr>
        <p:spPr>
          <a:xfrm>
            <a:off x="8156448" y="4286250"/>
            <a:ext cx="548640" cy="41148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latin typeface="Times New Roman" panose="02020603050405020304" pitchFamily="18" charset="0"/>
            </a:endParaRPr>
          </a:p>
        </p:txBody>
      </p:sp>
      <p:sp>
        <p:nvSpPr>
          <p:cNvPr id="2" name="Title 1"/>
          <p:cNvSpPr>
            <a:spLocks noGrp="1"/>
          </p:cNvSpPr>
          <p:nvPr>
            <p:ph type="title"/>
          </p:nvPr>
        </p:nvSpPr>
        <p:spPr>
          <a:xfrm rot="5400000">
            <a:off x="4138803" y="2343150"/>
            <a:ext cx="4732020" cy="457200"/>
          </a:xfrm>
        </p:spPr>
        <p:txBody>
          <a:bodyPr anchor="b"/>
          <a:lstStyle>
            <a:lvl1pPr algn="l">
              <a:buNone/>
              <a:defRPr sz="2000" b="1">
                <a:latin typeface="Times New Roman" panose="02020603050405020304" pitchFamily="18" charset="0"/>
              </a:defRPr>
            </a:lvl1pPr>
          </a:lstStyle>
          <a:p>
            <a:r>
              <a:rPr kumimoji="0" lang="en-US" dirty="0"/>
              <a:t>Click to edit Master title style</a:t>
            </a:r>
          </a:p>
        </p:txBody>
      </p:sp>
      <p:sp>
        <p:nvSpPr>
          <p:cNvPr id="3" name="Picture Placeholder 2"/>
          <p:cNvSpPr>
            <a:spLocks noGrp="1"/>
          </p:cNvSpPr>
          <p:nvPr>
            <p:ph type="pic" idx="1"/>
          </p:nvPr>
        </p:nvSpPr>
        <p:spPr>
          <a:xfrm>
            <a:off x="0" y="0"/>
            <a:ext cx="6172200" cy="51435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atin typeface="Times New Roman" panose="02020603050405020304" pitchFamily="18" charset="0"/>
              </a:defRPr>
            </a:lvl1pPr>
          </a:lstStyle>
          <a:p>
            <a:pPr algn="ctr" eaLnBrk="1" latinLnBrk="0" hangingPunct="1">
              <a:buFontTx/>
              <a:buNone/>
            </a:pPr>
            <a:r>
              <a:rPr kumimoji="0" lang="en-US" dirty="0"/>
              <a:t>Click icon to add picture</a:t>
            </a:r>
          </a:p>
        </p:txBody>
      </p:sp>
      <p:sp>
        <p:nvSpPr>
          <p:cNvPr id="4" name="Text Placeholder 3"/>
          <p:cNvSpPr>
            <a:spLocks noGrp="1"/>
          </p:cNvSpPr>
          <p:nvPr>
            <p:ph type="body" sz="half" idx="2"/>
          </p:nvPr>
        </p:nvSpPr>
        <p:spPr>
          <a:xfrm>
            <a:off x="6765798" y="198596"/>
            <a:ext cx="1524000" cy="3717036"/>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atin typeface="Times New Roman" panose="02020603050405020304" pitchFamily="18" charset="0"/>
              </a:defRPr>
            </a:lvl1pPr>
            <a:lvl2pPr>
              <a:defRPr sz="1200"/>
            </a:lvl2pPr>
            <a:lvl3pPr>
              <a:defRPr sz="1000"/>
            </a:lvl3pPr>
            <a:lvl4pPr>
              <a:defRPr sz="900"/>
            </a:lvl4pPr>
            <a:lvl5pPr>
              <a:defRPr sz="900"/>
            </a:lvl5pPr>
          </a:lstStyle>
          <a:p>
            <a:pPr lvl="0" eaLnBrk="1" latinLnBrk="0" hangingPunct="1"/>
            <a:r>
              <a:rPr kumimoji="0" lang="en-US" dirty="0"/>
              <a:t>Click to edit Master text styles</a:t>
            </a:r>
          </a:p>
        </p:txBody>
      </p:sp>
      <p:sp>
        <p:nvSpPr>
          <p:cNvPr id="10" name="Straight Connector 9"/>
          <p:cNvSpPr>
            <a:spLocks noChangeShapeType="1"/>
          </p:cNvSpPr>
          <p:nvPr/>
        </p:nvSpPr>
        <p:spPr bwMode="auto">
          <a:xfrm>
            <a:off x="8991600" y="0"/>
            <a:ext cx="0" cy="51435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dirty="0">
              <a:latin typeface="Times New Roman" panose="02020603050405020304" pitchFamily="18" charset="0"/>
            </a:endParaRPr>
          </a:p>
        </p:txBody>
      </p:sp>
      <p:sp>
        <p:nvSpPr>
          <p:cNvPr id="11" name="Rectangle 10"/>
          <p:cNvSpPr/>
          <p:nvPr/>
        </p:nvSpPr>
        <p:spPr bwMode="auto">
          <a:xfrm>
            <a:off x="8839200" y="0"/>
            <a:ext cx="304800" cy="51435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latin typeface="Times New Roman" panose="02020603050405020304" pitchFamily="18" charset="0"/>
            </a:endParaRPr>
          </a:p>
        </p:txBody>
      </p:sp>
      <p:sp>
        <p:nvSpPr>
          <p:cNvPr id="12" name="Straight Connector 11"/>
          <p:cNvSpPr>
            <a:spLocks noChangeShapeType="1"/>
          </p:cNvSpPr>
          <p:nvPr/>
        </p:nvSpPr>
        <p:spPr bwMode="auto">
          <a:xfrm>
            <a:off x="8915400" y="0"/>
            <a:ext cx="0" cy="51435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latin typeface="Times New Roman" panose="02020603050405020304" pitchFamily="18" charset="0"/>
            </a:endParaRPr>
          </a:p>
        </p:txBody>
      </p:sp>
      <p:sp>
        <p:nvSpPr>
          <p:cNvPr id="19" name="Straight Connector 18"/>
          <p:cNvSpPr>
            <a:spLocks noChangeShapeType="1"/>
          </p:cNvSpPr>
          <p:nvPr/>
        </p:nvSpPr>
        <p:spPr bwMode="auto">
          <a:xfrm>
            <a:off x="6248400" y="0"/>
            <a:ext cx="0" cy="51435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latin typeface="Times New Roman" panose="02020603050405020304" pitchFamily="18" charset="0"/>
            </a:endParaRPr>
          </a:p>
        </p:txBody>
      </p:sp>
      <p:sp>
        <p:nvSpPr>
          <p:cNvPr id="20" name="Straight Connector 19"/>
          <p:cNvSpPr>
            <a:spLocks noChangeShapeType="1"/>
          </p:cNvSpPr>
          <p:nvPr/>
        </p:nvSpPr>
        <p:spPr bwMode="auto">
          <a:xfrm>
            <a:off x="6192296" y="0"/>
            <a:ext cx="0" cy="51435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latin typeface="Times New Roman" panose="02020603050405020304" pitchFamily="18" charset="0"/>
            </a:endParaRPr>
          </a:p>
        </p:txBody>
      </p:sp>
      <p:sp>
        <p:nvSpPr>
          <p:cNvPr id="17" name="Date Placeholder 16"/>
          <p:cNvSpPr>
            <a:spLocks noGrp="1"/>
          </p:cNvSpPr>
          <p:nvPr>
            <p:ph type="dt" sz="half" idx="10"/>
          </p:nvPr>
        </p:nvSpPr>
        <p:spPr/>
        <p:txBody>
          <a:bodyPr rtlCol="0"/>
          <a:lstStyle>
            <a:lvl1pPr>
              <a:defRPr>
                <a:latin typeface="Times New Roman" panose="02020603050405020304" pitchFamily="18" charset="0"/>
              </a:defRPr>
            </a:lvl1pPr>
          </a:lstStyle>
          <a:p>
            <a:fld id="{1D8BD707-D9CF-40AE-B4C6-C98DA3205C09}" type="datetimeFigureOut">
              <a:rPr lang="en-US" smtClean="0"/>
              <a:pPr/>
              <a:t>5/13/2026</a:t>
            </a:fld>
            <a:endParaRPr lang="en-US" dirty="0"/>
          </a:p>
        </p:txBody>
      </p:sp>
      <p:sp>
        <p:nvSpPr>
          <p:cNvPr id="18" name="Slide Number Placeholder 17"/>
          <p:cNvSpPr>
            <a:spLocks noGrp="1"/>
          </p:cNvSpPr>
          <p:nvPr>
            <p:ph type="sldNum" sz="quarter" idx="11"/>
          </p:nvPr>
        </p:nvSpPr>
        <p:spPr/>
        <p:txBody>
          <a:bodyPr rtlCol="0"/>
          <a:lstStyle>
            <a:lvl1pPr>
              <a:defRPr>
                <a:latin typeface="Times New Roman" panose="02020603050405020304" pitchFamily="18" charset="0"/>
              </a:defRPr>
            </a:lvl1pPr>
          </a:lstStyle>
          <a:p>
            <a:fld id="{B6F15528-21DE-4FAA-801E-634DDDAF4B2B}" type="slidenum">
              <a:rPr lang="en-US" smtClean="0"/>
              <a:pPr/>
              <a:t>‹#›</a:t>
            </a:fld>
            <a:endParaRPr lang="en-US" dirty="0"/>
          </a:p>
        </p:txBody>
      </p:sp>
      <p:sp>
        <p:nvSpPr>
          <p:cNvPr id="21" name="Footer Placeholder 20"/>
          <p:cNvSpPr>
            <a:spLocks noGrp="1"/>
          </p:cNvSpPr>
          <p:nvPr>
            <p:ph type="ftr" sz="quarter" idx="12"/>
          </p:nvPr>
        </p:nvSpPr>
        <p:spPr/>
        <p:txBody>
          <a:bodyPr rtlCol="0"/>
          <a:lstStyle>
            <a:lvl1pPr>
              <a:defRPr>
                <a:latin typeface="Times New Roman" panose="02020603050405020304" pitchFamily="18" charset="0"/>
              </a:defRPr>
            </a:lvl1pPr>
          </a:lstStyle>
          <a:p>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kumimoji="0" lang="en-US" dirty="0"/>
              <a:t>Click to edit Master title style</a:t>
            </a:r>
          </a:p>
        </p:txBody>
      </p:sp>
      <p:sp>
        <p:nvSpPr>
          <p:cNvPr id="3" name="Vertical Text Placeholder 2"/>
          <p:cNvSpPr>
            <a:spLocks noGrp="1"/>
          </p:cNvSpPr>
          <p:nvPr>
            <p:ph type="body" orient="vert" idx="1"/>
          </p:nvPr>
        </p:nvSpPr>
        <p:spPr/>
        <p:txBody>
          <a:bodyPr vert="eaVert"/>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Date Placeholder 3"/>
          <p:cNvSpPr>
            <a:spLocks noGrp="1"/>
          </p:cNvSpPr>
          <p:nvPr>
            <p:ph type="dt" sz="half" idx="10"/>
          </p:nvPr>
        </p:nvSpPr>
        <p:spPr/>
        <p:txBody>
          <a:bodyPr/>
          <a:lstStyle>
            <a:lvl1pPr>
              <a:defRPr>
                <a:latin typeface="Times New Roman" panose="02020603050405020304" pitchFamily="18" charset="0"/>
              </a:defRPr>
            </a:lvl1pPr>
          </a:lstStyle>
          <a:p>
            <a:fld id="{1D8BD707-D9CF-40AE-B4C6-C98DA3205C09}" type="datetimeFigureOut">
              <a:rPr lang="en-US" smtClean="0"/>
              <a:pPr/>
              <a:t>5/13/2026</a:t>
            </a:fld>
            <a:endParaRPr lang="en-US" dirty="0"/>
          </a:p>
        </p:txBody>
      </p:sp>
      <p:sp>
        <p:nvSpPr>
          <p:cNvPr id="5" name="Footer Placeholder 4"/>
          <p:cNvSpPr>
            <a:spLocks noGrp="1"/>
          </p:cNvSpPr>
          <p:nvPr>
            <p:ph type="ftr" sz="quarter" idx="11"/>
          </p:nvPr>
        </p:nvSpPr>
        <p:spPr/>
        <p:txBody>
          <a:bodyPr/>
          <a:lstStyle>
            <a:lvl1pPr>
              <a:defRPr>
                <a:latin typeface="Times New Roman" panose="02020603050405020304" pitchFamily="18"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Times New Roman" panose="02020603050405020304" pitchFamily="18" charset="0"/>
              </a:defRPr>
            </a:lvl1p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1676400" cy="4388644"/>
          </a:xfrm>
        </p:spPr>
        <p:txBody>
          <a:bodyPr vert="eaVert"/>
          <a:lstStyle>
            <a:lvl1pPr>
              <a:defRPr>
                <a:latin typeface="Times New Roman" panose="02020603050405020304" pitchFamily="18" charset="0"/>
              </a:defRPr>
            </a:lvl1pPr>
          </a:lstStyle>
          <a:p>
            <a:r>
              <a:rPr kumimoji="0" lang="en-US" dirty="0"/>
              <a:t>Click to edit Master title style</a:t>
            </a:r>
          </a:p>
        </p:txBody>
      </p:sp>
      <p:sp>
        <p:nvSpPr>
          <p:cNvPr id="3" name="Vertical Text Placeholder 2"/>
          <p:cNvSpPr>
            <a:spLocks noGrp="1"/>
          </p:cNvSpPr>
          <p:nvPr>
            <p:ph type="body" orient="vert" idx="1"/>
          </p:nvPr>
        </p:nvSpPr>
        <p:spPr>
          <a:xfrm>
            <a:off x="457200" y="205980"/>
            <a:ext cx="6019800" cy="4388644"/>
          </a:xfrm>
        </p:spPr>
        <p:txBody>
          <a:bodyPr vert="eaVert"/>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Date Placeholder 3"/>
          <p:cNvSpPr>
            <a:spLocks noGrp="1"/>
          </p:cNvSpPr>
          <p:nvPr>
            <p:ph type="dt" sz="half" idx="10"/>
          </p:nvPr>
        </p:nvSpPr>
        <p:spPr/>
        <p:txBody>
          <a:bodyPr/>
          <a:lstStyle>
            <a:lvl1pPr>
              <a:defRPr>
                <a:latin typeface="Times New Roman" panose="02020603050405020304" pitchFamily="18" charset="0"/>
              </a:defRPr>
            </a:lvl1pPr>
          </a:lstStyle>
          <a:p>
            <a:fld id="{1D8BD707-D9CF-40AE-B4C6-C98DA3205C09}" type="datetimeFigureOut">
              <a:rPr lang="en-US" smtClean="0"/>
              <a:pPr/>
              <a:t>5/13/2026</a:t>
            </a:fld>
            <a:endParaRPr lang="en-US" dirty="0"/>
          </a:p>
        </p:txBody>
      </p:sp>
      <p:sp>
        <p:nvSpPr>
          <p:cNvPr id="5" name="Footer Placeholder 4"/>
          <p:cNvSpPr>
            <a:spLocks noGrp="1"/>
          </p:cNvSpPr>
          <p:nvPr>
            <p:ph type="ftr" sz="quarter" idx="11"/>
          </p:nvPr>
        </p:nvSpPr>
        <p:spPr/>
        <p:txBody>
          <a:bodyPr/>
          <a:lstStyle>
            <a:lvl1pPr>
              <a:defRPr>
                <a:latin typeface="Times New Roman" panose="02020603050405020304" pitchFamily="18"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Times New Roman" panose="02020603050405020304" pitchFamily="18" charset="0"/>
              </a:defRPr>
            </a:lvl1p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51435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latin typeface="Times New Roman" panose="02020603050405020304" pitchFamily="18" charset="0"/>
            </a:endParaRPr>
          </a:p>
        </p:txBody>
      </p:sp>
      <p:sp>
        <p:nvSpPr>
          <p:cNvPr id="22" name="Title Placeholder 21"/>
          <p:cNvSpPr>
            <a:spLocks noGrp="1"/>
          </p:cNvSpPr>
          <p:nvPr>
            <p:ph type="title"/>
          </p:nvPr>
        </p:nvSpPr>
        <p:spPr>
          <a:xfrm>
            <a:off x="457200" y="205979"/>
            <a:ext cx="7467600" cy="857250"/>
          </a:xfrm>
          <a:prstGeom prst="rect">
            <a:avLst/>
          </a:prstGeom>
        </p:spPr>
        <p:txBody>
          <a:bodyPr vert="horz" anchor="b">
            <a:normAutofit/>
          </a:bodyPr>
          <a:lstStyle/>
          <a:p>
            <a:r>
              <a:rPr kumimoji="0" lang="en-US" dirty="0"/>
              <a:t>Click to edit Master title style</a:t>
            </a:r>
          </a:p>
        </p:txBody>
      </p:sp>
      <p:sp>
        <p:nvSpPr>
          <p:cNvPr id="13" name="Text Placeholder 12"/>
          <p:cNvSpPr>
            <a:spLocks noGrp="1"/>
          </p:cNvSpPr>
          <p:nvPr>
            <p:ph type="body" idx="1"/>
          </p:nvPr>
        </p:nvSpPr>
        <p:spPr>
          <a:xfrm>
            <a:off x="457200" y="1200150"/>
            <a:ext cx="7467600" cy="3655314"/>
          </a:xfrm>
          <a:prstGeom prst="rect">
            <a:avLst/>
          </a:prstGeom>
        </p:spPr>
        <p:txBody>
          <a:bodyPr vert="horz">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14" name="Date Placeholder 13"/>
          <p:cNvSpPr>
            <a:spLocks noGrp="1"/>
          </p:cNvSpPr>
          <p:nvPr>
            <p:ph type="dt" sz="half" idx="2"/>
          </p:nvPr>
        </p:nvSpPr>
        <p:spPr>
          <a:xfrm rot="5400000">
            <a:off x="7840980" y="763382"/>
            <a:ext cx="1508760" cy="384048"/>
          </a:xfrm>
          <a:prstGeom prst="rect">
            <a:avLst/>
          </a:prstGeom>
        </p:spPr>
        <p:txBody>
          <a:bodyPr vert="horz" anchor="ctr" anchorCtr="0"/>
          <a:lstStyle>
            <a:lvl1pPr algn="r" eaLnBrk="1" latinLnBrk="0" hangingPunct="1">
              <a:defRPr kumimoji="0" sz="1200">
                <a:solidFill>
                  <a:schemeClr val="tx2"/>
                </a:solidFill>
                <a:latin typeface="Times New Roman" panose="02020603050405020304" pitchFamily="18" charset="0"/>
              </a:defRPr>
            </a:lvl1pPr>
          </a:lstStyle>
          <a:p>
            <a:fld id="{1D8BD707-D9CF-40AE-B4C6-C98DA3205C09}" type="datetimeFigureOut">
              <a:rPr lang="en-US" smtClean="0"/>
              <a:pPr/>
              <a:t>5/13/2026</a:t>
            </a:fld>
            <a:endParaRPr lang="en-US" dirty="0"/>
          </a:p>
        </p:txBody>
      </p:sp>
      <p:sp>
        <p:nvSpPr>
          <p:cNvPr id="3" name="Footer Placeholder 2"/>
          <p:cNvSpPr>
            <a:spLocks noGrp="1"/>
          </p:cNvSpPr>
          <p:nvPr>
            <p:ph type="ftr" sz="quarter" idx="3"/>
          </p:nvPr>
        </p:nvSpPr>
        <p:spPr>
          <a:xfrm rot="5400000">
            <a:off x="7390236" y="2757210"/>
            <a:ext cx="2400300" cy="365760"/>
          </a:xfrm>
          <a:prstGeom prst="rect">
            <a:avLst/>
          </a:prstGeom>
        </p:spPr>
        <p:txBody>
          <a:bodyPr vert="horz" anchor="ctr" anchorCtr="0"/>
          <a:lstStyle>
            <a:lvl1pPr algn="l" eaLnBrk="1" latinLnBrk="0" hangingPunct="1">
              <a:defRPr kumimoji="0" sz="1200">
                <a:solidFill>
                  <a:schemeClr val="tx2"/>
                </a:solidFill>
                <a:latin typeface="Times New Roman" panose="02020603050405020304" pitchFamily="18" charset="0"/>
              </a:defRPr>
            </a:lvl1pPr>
          </a:lstStyle>
          <a:p>
            <a:endParaRPr lang="en-US" dirty="0"/>
          </a:p>
        </p:txBody>
      </p:sp>
      <p:sp>
        <p:nvSpPr>
          <p:cNvPr id="7" name="Straight Connector 6"/>
          <p:cNvSpPr>
            <a:spLocks noChangeShapeType="1"/>
          </p:cNvSpPr>
          <p:nvPr/>
        </p:nvSpPr>
        <p:spPr bwMode="auto">
          <a:xfrm>
            <a:off x="76200" y="0"/>
            <a:ext cx="0" cy="51435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latin typeface="Times New Roman" panose="02020603050405020304" pitchFamily="18" charset="0"/>
            </a:endParaRPr>
          </a:p>
        </p:txBody>
      </p:sp>
      <p:sp>
        <p:nvSpPr>
          <p:cNvPr id="9" name="Straight Connector 8"/>
          <p:cNvSpPr>
            <a:spLocks noChangeShapeType="1"/>
          </p:cNvSpPr>
          <p:nvPr/>
        </p:nvSpPr>
        <p:spPr bwMode="auto">
          <a:xfrm>
            <a:off x="8991600" y="0"/>
            <a:ext cx="0" cy="51435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latin typeface="Times New Roman" panose="02020603050405020304" pitchFamily="18" charset="0"/>
            </a:endParaRPr>
          </a:p>
        </p:txBody>
      </p:sp>
      <p:sp>
        <p:nvSpPr>
          <p:cNvPr id="10" name="Rectangle 9"/>
          <p:cNvSpPr/>
          <p:nvPr/>
        </p:nvSpPr>
        <p:spPr bwMode="auto">
          <a:xfrm>
            <a:off x="8839200" y="0"/>
            <a:ext cx="304800" cy="51435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latin typeface="Times New Roman" panose="02020603050405020304" pitchFamily="18" charset="0"/>
            </a:endParaRPr>
          </a:p>
        </p:txBody>
      </p:sp>
      <p:sp>
        <p:nvSpPr>
          <p:cNvPr id="11" name="Straight Connector 10"/>
          <p:cNvSpPr>
            <a:spLocks noChangeShapeType="1"/>
          </p:cNvSpPr>
          <p:nvPr/>
        </p:nvSpPr>
        <p:spPr bwMode="auto">
          <a:xfrm>
            <a:off x="8915400" y="0"/>
            <a:ext cx="0" cy="51435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latin typeface="Times New Roman" panose="02020603050405020304" pitchFamily="18" charset="0"/>
            </a:endParaRPr>
          </a:p>
        </p:txBody>
      </p:sp>
      <p:sp>
        <p:nvSpPr>
          <p:cNvPr id="12" name="Oval 11"/>
          <p:cNvSpPr/>
          <p:nvPr/>
        </p:nvSpPr>
        <p:spPr>
          <a:xfrm>
            <a:off x="8156448" y="4286250"/>
            <a:ext cx="548640" cy="41148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latin typeface="Times New Roman" panose="02020603050405020304" pitchFamily="18" charset="0"/>
            </a:endParaRPr>
          </a:p>
        </p:txBody>
      </p:sp>
      <p:sp>
        <p:nvSpPr>
          <p:cNvPr id="23" name="Slide Number Placeholder 22"/>
          <p:cNvSpPr>
            <a:spLocks noGrp="1"/>
          </p:cNvSpPr>
          <p:nvPr>
            <p:ph type="sldNum" sz="quarter" idx="4"/>
          </p:nvPr>
        </p:nvSpPr>
        <p:spPr>
          <a:xfrm>
            <a:off x="8129016" y="4300538"/>
            <a:ext cx="609600" cy="390906"/>
          </a:xfrm>
          <a:prstGeom prst="rect">
            <a:avLst/>
          </a:prstGeom>
        </p:spPr>
        <p:txBody>
          <a:bodyPr vert="horz" anchor="ctr"/>
          <a:lstStyle>
            <a:lvl1pPr algn="ctr" eaLnBrk="1" latinLnBrk="0" hangingPunct="1">
              <a:defRPr kumimoji="0" sz="1400" b="1">
                <a:solidFill>
                  <a:srgbClr val="FFFFFF"/>
                </a:solidFill>
                <a:latin typeface="Times New Roman" panose="02020603050405020304" pitchFamily="18" charset="0"/>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Times New Roman" panose="02020603050405020304" pitchFamily="18" charset="0"/>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Times New Roman" panose="02020603050405020304" pitchFamily="18" charset="0"/>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Times New Roman" panose="02020603050405020304" pitchFamily="18" charset="0"/>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Times New Roman" panose="02020603050405020304" pitchFamily="18" charset="0"/>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Times New Roman" panose="02020603050405020304" pitchFamily="18" charset="0"/>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Times New Roman" panose="02020603050405020304" pitchFamily="18" charset="0"/>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2052" name="Picture 4" descr="Career - Anudip">
            <a:extLst>
              <a:ext uri="{FF2B5EF4-FFF2-40B4-BE49-F238E27FC236}">
                <a16:creationId xmlns:a16="http://schemas.microsoft.com/office/drawing/2014/main" id="{6D40FA8C-87EB-3692-66AB-0D63193AC80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56384" y="183381"/>
            <a:ext cx="3707904" cy="164152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7206510-BF37-8B23-4F67-96FB9A6C9AD7}"/>
              </a:ext>
            </a:extLst>
          </p:cNvPr>
          <p:cNvSpPr txBox="1"/>
          <p:nvPr/>
        </p:nvSpPr>
        <p:spPr>
          <a:xfrm>
            <a:off x="2267744" y="2283718"/>
            <a:ext cx="6696744" cy="2554545"/>
          </a:xfrm>
          <a:prstGeom prst="rect">
            <a:avLst/>
          </a:prstGeom>
          <a:noFill/>
        </p:spPr>
        <p:txBody>
          <a:bodyPr wrap="square" rtlCol="0">
            <a:spAutoFit/>
          </a:bodyPr>
          <a:lstStyle/>
          <a:p>
            <a:r>
              <a:rPr lang="en-IN" sz="4000" b="1" dirty="0">
                <a:solidFill>
                  <a:schemeClr val="accent1"/>
                </a:solidFill>
                <a:latin typeface="Times New Roman" panose="02020603050405020304" pitchFamily="18" charset="0"/>
                <a:cs typeface="Times New Roman" panose="02020603050405020304" pitchFamily="18" charset="0"/>
              </a:rPr>
              <a:t>Topic: Information    	   Technology</a:t>
            </a:r>
            <a:br>
              <a:rPr lang="en-IN" sz="4000" b="1" dirty="0">
                <a:solidFill>
                  <a:schemeClr val="accent1"/>
                </a:solidFill>
                <a:latin typeface="Times New Roman" panose="02020603050405020304" pitchFamily="18" charset="0"/>
                <a:cs typeface="Times New Roman" panose="02020603050405020304" pitchFamily="18" charset="0"/>
              </a:rPr>
            </a:br>
            <a:r>
              <a:rPr lang="en-IN" sz="4000" b="1" dirty="0">
                <a:solidFill>
                  <a:schemeClr val="accent1"/>
                </a:solidFill>
                <a:latin typeface="Times New Roman" panose="02020603050405020304" pitchFamily="18" charset="0"/>
                <a:cs typeface="Times New Roman" panose="02020603050405020304" pitchFamily="18" charset="0"/>
              </a:rPr>
              <a:t>Name: Kuntal Das</a:t>
            </a:r>
            <a:br>
              <a:rPr lang="en-IN" sz="4000" b="1" dirty="0">
                <a:solidFill>
                  <a:schemeClr val="accent1"/>
                </a:solidFill>
                <a:latin typeface="Times New Roman" panose="02020603050405020304" pitchFamily="18" charset="0"/>
                <a:cs typeface="Times New Roman" panose="02020603050405020304" pitchFamily="18" charset="0"/>
              </a:rPr>
            </a:br>
            <a:r>
              <a:rPr lang="en-IN" sz="4000" b="1" dirty="0">
                <a:solidFill>
                  <a:schemeClr val="accent1"/>
                </a:solidFill>
                <a:latin typeface="Times New Roman" panose="02020603050405020304" pitchFamily="18" charset="0"/>
                <a:cs typeface="Times New Roman" panose="02020603050405020304" pitchFamily="18" charset="0"/>
              </a:rPr>
              <a:t>Batch Code: ANP – D6152</a:t>
            </a:r>
            <a:endParaRPr lang="en-IN" sz="4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706A2CFF-0F44-21C0-A471-345D379C1CA1}"/>
              </a:ext>
            </a:extLst>
          </p:cNvPr>
          <p:cNvSpPr>
            <a:spLocks noGrp="1"/>
          </p:cNvSpPr>
          <p:nvPr>
            <p:ph type="ctrTitle"/>
          </p:nvPr>
        </p:nvSpPr>
        <p:spPr>
          <a:xfrm>
            <a:off x="2699792" y="699542"/>
            <a:ext cx="6264696" cy="3064380"/>
          </a:xfrm>
        </p:spPr>
        <p:txBody>
          <a:bodyPr>
            <a:noAutofit/>
          </a:bodyPr>
          <a:lstStyle/>
          <a:p>
            <a:r>
              <a:rPr lang="en-US" sz="5400" b="1" i="0" dirty="0">
                <a:solidFill>
                  <a:schemeClr val="tx1"/>
                </a:solidFill>
                <a:effectLst/>
                <a:cs typeface="Times New Roman" panose="02020603050405020304" pitchFamily="18" charset="0"/>
              </a:rPr>
              <a:t>Introduction to IT and Business Systems</a:t>
            </a:r>
            <a:endParaRPr lang="en-IN" sz="54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2919192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FAA5E-A059-0454-C331-1EF05401B21E}"/>
              </a:ext>
            </a:extLst>
          </p:cNvPr>
          <p:cNvSpPr>
            <a:spLocks noGrp="1"/>
          </p:cNvSpPr>
          <p:nvPr>
            <p:ph type="title"/>
          </p:nvPr>
        </p:nvSpPr>
        <p:spPr>
          <a:xfrm>
            <a:off x="457200" y="205979"/>
            <a:ext cx="7467600" cy="565571"/>
          </a:xfrm>
        </p:spPr>
        <p:txBody>
          <a:bodyPr>
            <a:normAutofit/>
          </a:bodyPr>
          <a:lstStyle/>
          <a:p>
            <a:r>
              <a:rPr lang="en-US" sz="2600" b="1" dirty="0">
                <a:solidFill>
                  <a:schemeClr val="accent1">
                    <a:lumMod val="75000"/>
                  </a:schemeClr>
                </a:solidFill>
              </a:rPr>
              <a:t>What is Information Technology (IT)?</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6F36CE64-3AEB-2D15-EC05-F08224A87035}"/>
              </a:ext>
            </a:extLst>
          </p:cNvPr>
          <p:cNvSpPr>
            <a:spLocks noGrp="1"/>
          </p:cNvSpPr>
          <p:nvPr>
            <p:ph sz="quarter" idx="1"/>
          </p:nvPr>
        </p:nvSpPr>
        <p:spPr>
          <a:xfrm>
            <a:off x="457200" y="864100"/>
            <a:ext cx="7467600" cy="4083914"/>
          </a:xfrm>
        </p:spPr>
        <p:txBody>
          <a:bodyPr>
            <a:noAutofit/>
          </a:bodyPr>
          <a:lstStyle/>
          <a:p>
            <a:pPr marL="0" indent="0">
              <a:spcBef>
                <a:spcPts val="0"/>
              </a:spcBef>
              <a:spcAft>
                <a:spcPts val="600"/>
              </a:spcAft>
              <a:buNone/>
            </a:pPr>
            <a:r>
              <a:rPr lang="en-US" sz="1400" dirty="0"/>
              <a:t>Information Technology (IT) is the strategic use of hardware, software, and networks to manage, process, and protect digital information. Here is a breakdown of its core definition:</a:t>
            </a:r>
          </a:p>
          <a:p>
            <a:pPr>
              <a:spcBef>
                <a:spcPts val="0"/>
              </a:spcBef>
              <a:spcAft>
                <a:spcPts val="600"/>
              </a:spcAft>
              <a:buSzPct val="100000"/>
              <a:buFont typeface="Wingdings" panose="05000000000000000000" pitchFamily="2" charset="2"/>
              <a:buChar char="¢"/>
            </a:pPr>
            <a:r>
              <a:rPr lang="en-US" sz="1400" b="1" dirty="0"/>
              <a:t>Data Processing:</a:t>
            </a:r>
            <a:r>
              <a:rPr lang="en-US" sz="1400" dirty="0"/>
              <a:t> IT involves the collection, organization, and transformation of raw data into useful, actionable information.</a:t>
            </a:r>
          </a:p>
          <a:p>
            <a:pPr>
              <a:spcBef>
                <a:spcPts val="0"/>
              </a:spcBef>
              <a:spcAft>
                <a:spcPts val="600"/>
              </a:spcAft>
              <a:buSzPct val="100000"/>
              <a:buFont typeface="Wingdings" panose="05000000000000000000" pitchFamily="2" charset="2"/>
              <a:buChar char="¢"/>
            </a:pPr>
            <a:r>
              <a:rPr lang="en-US" sz="1400" b="1" dirty="0"/>
              <a:t>Hardware Foundation:</a:t>
            </a:r>
            <a:r>
              <a:rPr lang="en-US" sz="1400" dirty="0"/>
              <a:t> It encompasses all physical components, such as computers, servers, storage devices, and mobile hardware.</a:t>
            </a:r>
          </a:p>
          <a:p>
            <a:pPr>
              <a:spcBef>
                <a:spcPts val="0"/>
              </a:spcBef>
              <a:spcAft>
                <a:spcPts val="600"/>
              </a:spcAft>
              <a:buSzPct val="100000"/>
              <a:buFont typeface="Wingdings" panose="05000000000000000000" pitchFamily="2" charset="2"/>
              <a:buChar char="¢"/>
            </a:pPr>
            <a:r>
              <a:rPr lang="en-US" sz="1400" b="1" dirty="0"/>
              <a:t>Software Execution:</a:t>
            </a:r>
            <a:r>
              <a:rPr lang="en-US" sz="1400" dirty="0"/>
              <a:t> It includes the operating systems and applications that provide instructions to the hardware to perform specific tasks.</a:t>
            </a:r>
          </a:p>
          <a:p>
            <a:pPr>
              <a:spcBef>
                <a:spcPts val="0"/>
              </a:spcBef>
              <a:spcAft>
                <a:spcPts val="600"/>
              </a:spcAft>
              <a:buSzPct val="100000"/>
              <a:buFont typeface="Wingdings" panose="05000000000000000000" pitchFamily="2" charset="2"/>
              <a:buChar char="¢"/>
            </a:pPr>
            <a:r>
              <a:rPr lang="en-US" sz="1400" b="1" dirty="0"/>
              <a:t>Network Connectivity:</a:t>
            </a:r>
            <a:r>
              <a:rPr lang="en-US" sz="1400" dirty="0"/>
              <a:t> IT manages the infrastructure—like Wi-Fi, Ethernet, and the Cloud—that allows devices to communicate and share data globally.</a:t>
            </a:r>
          </a:p>
          <a:p>
            <a:pPr>
              <a:spcBef>
                <a:spcPts val="0"/>
              </a:spcBef>
              <a:spcAft>
                <a:spcPts val="600"/>
              </a:spcAft>
              <a:buSzPct val="100000"/>
              <a:buFont typeface="Wingdings" panose="05000000000000000000" pitchFamily="2" charset="2"/>
              <a:buChar char="¢"/>
            </a:pPr>
            <a:r>
              <a:rPr lang="en-US" sz="1400" b="1" dirty="0"/>
              <a:t>Information Security:</a:t>
            </a:r>
            <a:r>
              <a:rPr lang="en-US" sz="1400" dirty="0"/>
              <a:t> A critical pillar of IT is protecting digital assets from unauthorized access, breaches, and cyber threats through encryption and firewalls.</a:t>
            </a:r>
          </a:p>
          <a:p>
            <a:pPr>
              <a:spcBef>
                <a:spcPts val="0"/>
              </a:spcBef>
              <a:spcAft>
                <a:spcPts val="600"/>
              </a:spcAft>
              <a:buSzPct val="100000"/>
              <a:buFont typeface="Wingdings" panose="05000000000000000000" pitchFamily="2" charset="2"/>
              <a:buChar char="¢"/>
            </a:pPr>
            <a:r>
              <a:rPr lang="en-US" sz="1400" b="1" dirty="0"/>
              <a:t>Business Problem Solving:</a:t>
            </a:r>
            <a:r>
              <a:rPr lang="en-US" sz="1400" dirty="0"/>
              <a:t> In a professional context, IT is the application of technology to streamline operations, improve efficiency, and solve complex organizational challenges.</a:t>
            </a:r>
          </a:p>
          <a:p>
            <a:pPr>
              <a:spcBef>
                <a:spcPts val="0"/>
              </a:spcBef>
              <a:spcAft>
                <a:spcPts val="600"/>
              </a:spcAft>
              <a:buSzPct val="100000"/>
              <a:buFont typeface="Wingdings" panose="05000000000000000000" pitchFamily="2" charset="2"/>
              <a:buChar char="¢"/>
            </a:pPr>
            <a:r>
              <a:rPr lang="en-US" sz="1400" b="1" dirty="0"/>
              <a:t>Continuous Maintenance:</a:t>
            </a:r>
            <a:r>
              <a:rPr lang="en-US" sz="1400" dirty="0"/>
              <a:t> It covers the ongoing lifecycle of technology, including troubleshooting, regular updates, and the recovery of data after a disaster.</a:t>
            </a:r>
          </a:p>
          <a:p>
            <a:pPr>
              <a:spcBef>
                <a:spcPts val="0"/>
              </a:spcBef>
              <a:spcAft>
                <a:spcPts val="600"/>
              </a:spcAft>
            </a:pPr>
            <a:endParaRPr lang="en-IN" sz="1400" dirty="0"/>
          </a:p>
        </p:txBody>
      </p:sp>
    </p:spTree>
    <p:extLst>
      <p:ext uri="{BB962C8B-B14F-4D97-AF65-F5344CB8AC3E}">
        <p14:creationId xmlns:p14="http://schemas.microsoft.com/office/powerpoint/2010/main" val="4034266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3478"/>
            <a:ext cx="7859216" cy="651719"/>
          </a:xfrm>
        </p:spPr>
        <p:txBody>
          <a:bodyPr>
            <a:normAutofit/>
          </a:bodyPr>
          <a:lstStyle/>
          <a:p>
            <a:r>
              <a:rPr lang="en-US" sz="2600" b="1" dirty="0">
                <a:solidFill>
                  <a:schemeClr val="accent1">
                    <a:lumMod val="75000"/>
                  </a:schemeClr>
                </a:solidFill>
                <a:cs typeface="Times New Roman" panose="02020603050405020304" pitchFamily="18" charset="0"/>
              </a:rPr>
              <a:t>Why is Information Technology important?</a:t>
            </a:r>
            <a:endParaRPr lang="en-US" sz="2600" dirty="0">
              <a:solidFill>
                <a:schemeClr val="accent1">
                  <a:lumMod val="75000"/>
                </a:schemeClr>
              </a:solidFill>
              <a:cs typeface="Times New Roman" panose="02020603050405020304" pitchFamily="18" charset="0"/>
            </a:endParaRPr>
          </a:p>
        </p:txBody>
      </p:sp>
      <p:sp>
        <p:nvSpPr>
          <p:cNvPr id="3" name="Content Placeholder 2"/>
          <p:cNvSpPr>
            <a:spLocks noGrp="1"/>
          </p:cNvSpPr>
          <p:nvPr>
            <p:ph sz="quarter" idx="1"/>
          </p:nvPr>
        </p:nvSpPr>
        <p:spPr>
          <a:xfrm>
            <a:off x="457200" y="1076676"/>
            <a:ext cx="7467600" cy="3655314"/>
          </a:xfrm>
        </p:spPr>
        <p:txBody>
          <a:bodyPr>
            <a:normAutofit lnSpcReduction="10000"/>
          </a:bodyPr>
          <a:lstStyle/>
          <a:p>
            <a:pPr marL="457200" indent="-457200">
              <a:spcBef>
                <a:spcPts val="0"/>
              </a:spcBef>
              <a:spcAft>
                <a:spcPts val="600"/>
              </a:spcAft>
              <a:buSzPct val="100000"/>
              <a:buFont typeface="+mj-lt"/>
              <a:buAutoNum type="arabicPeriod"/>
            </a:pPr>
            <a:r>
              <a:rPr lang="en-US" sz="1400" b="1" dirty="0">
                <a:cs typeface="Times New Roman" panose="02020603050405020304" pitchFamily="18" charset="0"/>
              </a:rPr>
              <a:t>Operational Efficiency &amp; Productivity:</a:t>
            </a:r>
          </a:p>
          <a:p>
            <a:pPr marL="446088" indent="-273050" algn="just">
              <a:spcBef>
                <a:spcPts val="0"/>
              </a:spcBef>
              <a:spcAft>
                <a:spcPts val="600"/>
              </a:spcAft>
              <a:buSzPct val="100000"/>
            </a:pPr>
            <a:r>
              <a:rPr lang="en-US" sz="1400" b="1" dirty="0">
                <a:cs typeface="Times New Roman" panose="02020603050405020304" pitchFamily="18" charset="0"/>
              </a:rPr>
              <a:t>Automation of Tasks:</a:t>
            </a:r>
            <a:r>
              <a:rPr lang="en-US" sz="1400" dirty="0">
                <a:cs typeface="Times New Roman" panose="02020603050405020304" pitchFamily="18" charset="0"/>
              </a:rPr>
              <a:t> IT allows for the automation of repetitive, manual tasks, which reduces human error and speeds up workflows.</a:t>
            </a:r>
          </a:p>
          <a:p>
            <a:pPr marL="446088" indent="-273050" algn="just">
              <a:spcBef>
                <a:spcPts val="0"/>
              </a:spcBef>
              <a:spcAft>
                <a:spcPts val="600"/>
              </a:spcAft>
              <a:buSzPct val="100000"/>
            </a:pPr>
            <a:r>
              <a:rPr lang="en-US" sz="1400" b="1" dirty="0">
                <a:cs typeface="Times New Roman" panose="02020603050405020304" pitchFamily="18" charset="0"/>
              </a:rPr>
              <a:t>Focus on Innovation:</a:t>
            </a:r>
            <a:r>
              <a:rPr lang="en-US" sz="1400" dirty="0">
                <a:cs typeface="Times New Roman" panose="02020603050405020304" pitchFamily="18" charset="0"/>
              </a:rPr>
              <a:t> By handling the "logistics" through technology, employees can shift their focus toward creative problem-solving and new ideas.</a:t>
            </a:r>
          </a:p>
          <a:p>
            <a:pPr marL="446088" indent="-273050" algn="just">
              <a:spcBef>
                <a:spcPts val="0"/>
              </a:spcBef>
              <a:spcAft>
                <a:spcPts val="600"/>
              </a:spcAft>
              <a:buSzPct val="100000"/>
            </a:pPr>
            <a:r>
              <a:rPr lang="en-US" sz="1400" b="1" dirty="0">
                <a:cs typeface="Times New Roman" panose="02020603050405020304" pitchFamily="18" charset="0"/>
              </a:rPr>
              <a:t>Faster Data Transmission:</a:t>
            </a:r>
            <a:r>
              <a:rPr lang="en-US" sz="1400" dirty="0">
                <a:cs typeface="Times New Roman" panose="02020603050405020304" pitchFamily="18" charset="0"/>
              </a:rPr>
              <a:t> In high-stakes industries like healthcare and finance, the ability to move data quickly and accurately is a necessity for smooth operations.</a:t>
            </a:r>
          </a:p>
          <a:p>
            <a:pPr marL="457200" indent="-457200">
              <a:spcBef>
                <a:spcPts val="0"/>
              </a:spcBef>
              <a:spcAft>
                <a:spcPts val="600"/>
              </a:spcAft>
              <a:buSzPct val="100000"/>
              <a:buFont typeface="+mj-lt"/>
              <a:buAutoNum type="arabicPeriod" startAt="2"/>
            </a:pPr>
            <a:r>
              <a:rPr lang="en-US" sz="1400" b="1" dirty="0">
                <a:cs typeface="Times New Roman" panose="02020603050405020304" pitchFamily="18" charset="0"/>
              </a:rPr>
              <a:t>Digital Transformation:</a:t>
            </a:r>
          </a:p>
          <a:p>
            <a:pPr marL="446088" indent="-273050">
              <a:spcBef>
                <a:spcPts val="0"/>
              </a:spcBef>
              <a:spcAft>
                <a:spcPts val="600"/>
              </a:spcAft>
              <a:buSzPct val="100000"/>
            </a:pPr>
            <a:r>
              <a:rPr lang="en-US" sz="1400" b="1" dirty="0">
                <a:cs typeface="Times New Roman" panose="02020603050405020304" pitchFamily="18" charset="0"/>
              </a:rPr>
              <a:t>Integration:</a:t>
            </a:r>
            <a:r>
              <a:rPr lang="en-US" sz="1400" dirty="0">
                <a:cs typeface="Times New Roman" panose="02020603050405020304" pitchFamily="18" charset="0"/>
              </a:rPr>
              <a:t> IT is the backbone of "Digital Transformation"—the process of embedding technology into every aspect of a business.</a:t>
            </a:r>
          </a:p>
          <a:p>
            <a:pPr marL="446088" indent="-273050">
              <a:spcBef>
                <a:spcPts val="0"/>
              </a:spcBef>
              <a:spcAft>
                <a:spcPts val="600"/>
              </a:spcAft>
              <a:buSzPct val="100000"/>
            </a:pPr>
            <a:r>
              <a:rPr lang="en-US" sz="1400" b="1" dirty="0">
                <a:cs typeface="Times New Roman" panose="02020603050405020304" pitchFamily="18" charset="0"/>
              </a:rPr>
              <a:t>Structured Growth:</a:t>
            </a:r>
            <a:r>
              <a:rPr lang="en-US" sz="1400" dirty="0">
                <a:cs typeface="Times New Roman" panose="02020603050405020304" pitchFamily="18" charset="0"/>
              </a:rPr>
              <a:t> Without professional IT support, adopting new tech would be disorganized. IT professionals provide the protocols and policies needed to manage these complex digital environments.</a:t>
            </a:r>
          </a:p>
          <a:p>
            <a:pPr marL="446088" indent="-273050">
              <a:spcBef>
                <a:spcPts val="0"/>
              </a:spcBef>
              <a:spcAft>
                <a:spcPts val="600"/>
              </a:spcAft>
              <a:buSzPct val="100000"/>
            </a:pPr>
            <a:r>
              <a:rPr lang="en-US" sz="1400" b="1" dirty="0">
                <a:cs typeface="Times New Roman" panose="02020603050405020304" pitchFamily="18" charset="0"/>
              </a:rPr>
              <a:t>Data-Driven Strategy:</a:t>
            </a:r>
            <a:r>
              <a:rPr lang="en-US" sz="1400" dirty="0">
                <a:cs typeface="Times New Roman" panose="02020603050405020304" pitchFamily="18" charset="0"/>
              </a:rPr>
              <a:t> Modern IT systems allow for advanced data analysis, which helps organizations make better strategic plans for the future.</a:t>
            </a:r>
          </a:p>
          <a:p>
            <a:pPr algn="just">
              <a:spcBef>
                <a:spcPts val="0"/>
              </a:spcBef>
              <a:spcAft>
                <a:spcPts val="600"/>
              </a:spcAft>
            </a:pPr>
            <a:endParaRPr lang="en-US" sz="1400" dirty="0">
              <a:cs typeface="Times New Roman" panose="02020603050405020304" pitchFamily="18" charset="0"/>
            </a:endParaRPr>
          </a:p>
          <a:p>
            <a:pPr marL="457200" indent="-457200">
              <a:spcBef>
                <a:spcPts val="0"/>
              </a:spcBef>
              <a:spcAft>
                <a:spcPts val="600"/>
              </a:spcAft>
              <a:buFont typeface="Arial" pitchFamily="34" charset="0"/>
              <a:buChar char="•"/>
            </a:pPr>
            <a:endParaRPr lang="en-US" sz="1400" dirty="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228600"/>
            <a:ext cx="7467600" cy="4800600"/>
          </a:xfrm>
        </p:spPr>
        <p:txBody>
          <a:bodyPr>
            <a:normAutofit/>
          </a:bodyPr>
          <a:lstStyle/>
          <a:p>
            <a:pPr marL="457200" indent="-457200">
              <a:spcAft>
                <a:spcPts val="600"/>
              </a:spcAft>
              <a:buSzPct val="100000"/>
              <a:buFont typeface="+mj-lt"/>
              <a:buAutoNum type="arabicPeriod" startAt="3"/>
            </a:pPr>
            <a:r>
              <a:rPr lang="en-US" sz="1400" b="1" dirty="0">
                <a:cs typeface="Times New Roman" panose="02020603050405020304" pitchFamily="18" charset="0"/>
              </a:rPr>
              <a:t>Connectivity &amp; Accessibility:</a:t>
            </a:r>
          </a:p>
          <a:p>
            <a:pPr marL="446088" indent="-269875">
              <a:spcAft>
                <a:spcPts val="600"/>
              </a:spcAft>
              <a:buSzPct val="100000"/>
            </a:pPr>
            <a:r>
              <a:rPr lang="en-US" sz="1400" b="1" dirty="0">
                <a:cs typeface="Times New Roman" panose="02020603050405020304" pitchFamily="18" charset="0"/>
              </a:rPr>
              <a:t>Remote Work:</a:t>
            </a:r>
            <a:r>
              <a:rPr lang="en-US" sz="1400" dirty="0">
                <a:cs typeface="Times New Roman" panose="02020603050405020304" pitchFamily="18" charset="0"/>
              </a:rPr>
              <a:t> IT provides the infrastructure for remote connectivity, allowing teams to collaborate regardless of their physical location.</a:t>
            </a:r>
          </a:p>
          <a:p>
            <a:pPr marL="446088" indent="-269875">
              <a:spcAft>
                <a:spcPts val="600"/>
              </a:spcAft>
              <a:buSzPct val="100000"/>
            </a:pPr>
            <a:r>
              <a:rPr lang="en-US" sz="1400" b="1" dirty="0">
                <a:cs typeface="Times New Roman" panose="02020603050405020304" pitchFamily="18" charset="0"/>
              </a:rPr>
              <a:t>Data Management:</a:t>
            </a:r>
            <a:r>
              <a:rPr lang="en-US" sz="1400" dirty="0">
                <a:cs typeface="Times New Roman" panose="02020603050405020304" pitchFamily="18" charset="0"/>
              </a:rPr>
              <a:t> Systems are designed for efficient data storage and transmission, making information accessible to the right people at the right time.</a:t>
            </a:r>
          </a:p>
          <a:p>
            <a:pPr marL="457200" indent="-457200">
              <a:spcAft>
                <a:spcPts val="600"/>
              </a:spcAft>
              <a:buSzPct val="100000"/>
              <a:buFont typeface="+mj-lt"/>
              <a:buAutoNum type="arabicPeriod" startAt="4"/>
            </a:pPr>
            <a:r>
              <a:rPr lang="en-US" sz="1400" b="1" dirty="0">
                <a:cs typeface="Times New Roman" panose="02020603050405020304" pitchFamily="18" charset="0"/>
              </a:rPr>
              <a:t>Security &amp; Risk Management</a:t>
            </a:r>
          </a:p>
          <a:p>
            <a:pPr marL="446088" indent="-269875">
              <a:spcAft>
                <a:spcPts val="600"/>
              </a:spcAft>
              <a:buSzPct val="100000"/>
            </a:pPr>
            <a:r>
              <a:rPr lang="en-US" sz="1400" b="1" dirty="0">
                <a:cs typeface="Times New Roman" panose="02020603050405020304" pitchFamily="18" charset="0"/>
              </a:rPr>
              <a:t>Infrastructure Protection: </a:t>
            </a:r>
            <a:r>
              <a:rPr lang="en-US" sz="1400" dirty="0">
                <a:cs typeface="Times New Roman" panose="02020603050405020304" pitchFamily="18" charset="0"/>
              </a:rPr>
              <a:t>IT professionals monitor environments to protect against cyber threats and data breaches.</a:t>
            </a:r>
          </a:p>
          <a:p>
            <a:pPr marL="446088" indent="-269875">
              <a:spcAft>
                <a:spcPts val="600"/>
              </a:spcAft>
              <a:buSzPct val="100000"/>
            </a:pPr>
            <a:r>
              <a:rPr lang="en-US" sz="1400" b="1" dirty="0">
                <a:cs typeface="Times New Roman" panose="02020603050405020304" pitchFamily="18" charset="0"/>
              </a:rPr>
              <a:t>Information Integrity: </a:t>
            </a:r>
            <a:r>
              <a:rPr lang="en-US" sz="1400" dirty="0">
                <a:cs typeface="Times New Roman" panose="02020603050405020304" pitchFamily="18" charset="0"/>
              </a:rPr>
              <a:t>Beyond just "fixing things," IT ensures that sensitive information remains secure and accessible only to authorized users.</a:t>
            </a:r>
          </a:p>
          <a:p>
            <a:pPr marL="457200" indent="-457200">
              <a:spcAft>
                <a:spcPts val="600"/>
              </a:spcAft>
              <a:buSzPct val="100000"/>
              <a:buFont typeface="+mj-lt"/>
              <a:buAutoNum type="arabicPeriod" startAt="5"/>
            </a:pPr>
            <a:r>
              <a:rPr lang="en-US" sz="1400" b="1" dirty="0">
                <a:cs typeface="Times New Roman" panose="02020603050405020304" pitchFamily="18" charset="0"/>
              </a:rPr>
              <a:t>Economic &amp; Career Growth</a:t>
            </a:r>
          </a:p>
          <a:p>
            <a:pPr marL="446088" indent="-269875">
              <a:spcAft>
                <a:spcPts val="600"/>
              </a:spcAft>
              <a:buSzPct val="100000"/>
            </a:pPr>
            <a:r>
              <a:rPr lang="en-US" sz="1400" b="1" dirty="0">
                <a:cs typeface="Times New Roman" panose="02020603050405020304" pitchFamily="18" charset="0"/>
              </a:rPr>
              <a:t>High Demand: </a:t>
            </a:r>
            <a:r>
              <a:rPr lang="en-US" sz="1400" dirty="0">
                <a:cs typeface="Times New Roman" panose="02020603050405020304" pitchFamily="18" charset="0"/>
              </a:rPr>
              <a:t>The field is growing significantly faster than many other industries, with some roles projected to grow by 33% between 2020 and 2030.</a:t>
            </a:r>
          </a:p>
          <a:p>
            <a:pPr marL="446088" indent="-269875">
              <a:spcAft>
                <a:spcPts val="600"/>
              </a:spcAft>
              <a:buSzPct val="100000"/>
            </a:pPr>
            <a:r>
              <a:rPr lang="en-US" sz="1400" b="1" dirty="0">
                <a:cs typeface="Times New Roman" panose="02020603050405020304" pitchFamily="18" charset="0"/>
              </a:rPr>
              <a:t>Business Success: </a:t>
            </a:r>
            <a:r>
              <a:rPr lang="en-US" sz="1400" dirty="0">
                <a:cs typeface="Times New Roman" panose="02020603050405020304" pitchFamily="18" charset="0"/>
              </a:rPr>
              <a:t>The survival and future growth of most companies are now directly tied to the strength of their IT infrastructure.</a:t>
            </a:r>
          </a:p>
          <a:p>
            <a:endParaRPr lang="en-US" sz="1400" dirty="0">
              <a:cs typeface="Times New Roman" panose="02020603050405020304" pitchFamily="18" charset="0"/>
            </a:endParaRPr>
          </a:p>
          <a:p>
            <a:pPr marL="457200" indent="-457200">
              <a:buSzPct val="100000"/>
              <a:buFont typeface="Arial" pitchFamily="34" charset="0"/>
              <a:buChar char="•"/>
            </a:pPr>
            <a:endParaRPr lang="en-US" sz="1400" b="1" dirty="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3478"/>
            <a:ext cx="7467600" cy="512064"/>
          </a:xfrm>
        </p:spPr>
        <p:txBody>
          <a:bodyPr>
            <a:normAutofit/>
          </a:bodyPr>
          <a:lstStyle/>
          <a:p>
            <a:r>
              <a:rPr lang="en-US" sz="2600" b="1" dirty="0">
                <a:solidFill>
                  <a:schemeClr val="accent1">
                    <a:lumMod val="75000"/>
                  </a:schemeClr>
                </a:solidFill>
                <a:cs typeface="Times New Roman" panose="02020603050405020304" pitchFamily="18" charset="0"/>
              </a:rPr>
              <a:t>Hardware </a:t>
            </a:r>
            <a:r>
              <a:rPr lang="en-US" sz="2600" b="1" dirty="0" err="1">
                <a:solidFill>
                  <a:schemeClr val="accent1">
                    <a:lumMod val="75000"/>
                  </a:schemeClr>
                </a:solidFill>
                <a:cs typeface="Times New Roman" panose="02020603050405020304" pitchFamily="18" charset="0"/>
              </a:rPr>
              <a:t>vs</a:t>
            </a:r>
            <a:r>
              <a:rPr lang="en-US" sz="2600" b="1" dirty="0">
                <a:solidFill>
                  <a:schemeClr val="accent1">
                    <a:lumMod val="75000"/>
                  </a:schemeClr>
                </a:solidFill>
                <a:cs typeface="Times New Roman" panose="02020603050405020304" pitchFamily="18" charset="0"/>
              </a:rPr>
              <a:t> Software</a:t>
            </a:r>
          </a:p>
        </p:txBody>
      </p:sp>
      <p:sp>
        <p:nvSpPr>
          <p:cNvPr id="3" name="Content Placeholder 2"/>
          <p:cNvSpPr>
            <a:spLocks noGrp="1"/>
          </p:cNvSpPr>
          <p:nvPr>
            <p:ph sz="quarter" idx="1"/>
          </p:nvPr>
        </p:nvSpPr>
        <p:spPr>
          <a:xfrm>
            <a:off x="457200" y="771550"/>
            <a:ext cx="7643192" cy="3941064"/>
          </a:xfrm>
        </p:spPr>
        <p:txBody>
          <a:bodyPr>
            <a:noAutofit/>
          </a:bodyPr>
          <a:lstStyle/>
          <a:p>
            <a:pPr marL="457200" indent="-457200">
              <a:buSzPct val="100000"/>
              <a:buFont typeface="+mj-lt"/>
              <a:buAutoNum type="arabicPeriod"/>
            </a:pPr>
            <a:r>
              <a:rPr lang="en-US" sz="1400" b="1" dirty="0">
                <a:cs typeface="Times New Roman" panose="02020603050405020304" pitchFamily="18" charset="0"/>
              </a:rPr>
              <a:t>The Fundamental Distinction:</a:t>
            </a:r>
          </a:p>
          <a:p>
            <a:pPr marL="446088" indent="-273050">
              <a:buSzPct val="100000"/>
            </a:pPr>
            <a:r>
              <a:rPr lang="en-US" sz="1400" b="1" dirty="0">
                <a:cs typeface="Times New Roman" panose="02020603050405020304" pitchFamily="18" charset="0"/>
              </a:rPr>
              <a:t>Hardware:</a:t>
            </a:r>
            <a:r>
              <a:rPr lang="en-US" sz="1400" dirty="0">
                <a:cs typeface="Times New Roman" panose="02020603050405020304" pitchFamily="18" charset="0"/>
              </a:rPr>
              <a:t> The physical, tangible devices (The "Body").</a:t>
            </a:r>
          </a:p>
          <a:p>
            <a:pPr marL="446088" indent="-273050">
              <a:buSzPct val="100000"/>
            </a:pPr>
            <a:r>
              <a:rPr lang="en-US" sz="1400" b="1" dirty="0">
                <a:cs typeface="Times New Roman" panose="02020603050405020304" pitchFamily="18" charset="0"/>
              </a:rPr>
              <a:t>Software:</a:t>
            </a:r>
            <a:r>
              <a:rPr lang="en-US" sz="1400" dirty="0">
                <a:cs typeface="Times New Roman" panose="02020603050405020304" pitchFamily="18" charset="0"/>
              </a:rPr>
              <a:t> The digital instructions and programs that run on the hardware (The "Mind").</a:t>
            </a:r>
          </a:p>
          <a:p>
            <a:pPr marL="446088" indent="-273050">
              <a:buSzPct val="100000"/>
            </a:pPr>
            <a:r>
              <a:rPr lang="en-US" sz="1400" b="1" dirty="0">
                <a:cs typeface="Times New Roman" panose="02020603050405020304" pitchFamily="18" charset="0"/>
              </a:rPr>
              <a:t>The Relationship:</a:t>
            </a:r>
            <a:r>
              <a:rPr lang="en-US" sz="1400" dirty="0">
                <a:cs typeface="Times New Roman" panose="02020603050405020304" pitchFamily="18" charset="0"/>
              </a:rPr>
              <a:t> Hardware provides the platform; Software provides the purpose. For example, a laptop is the hardware, but Microsoft Word is the software that makes it useful.</a:t>
            </a:r>
          </a:p>
          <a:p>
            <a:pPr marL="457200" indent="-457200">
              <a:buSzPct val="100000"/>
              <a:buFont typeface="+mj-lt"/>
              <a:buAutoNum type="arabicPeriod" startAt="2"/>
            </a:pPr>
            <a:r>
              <a:rPr lang="en-US" sz="1400" b="1" dirty="0"/>
              <a:t>Essential Hardware Components</a:t>
            </a:r>
          </a:p>
          <a:p>
            <a:pPr marL="446088" indent="-273050">
              <a:buSzPct val="100000"/>
            </a:pPr>
            <a:r>
              <a:rPr lang="en-US" sz="1400" dirty="0"/>
              <a:t>Every IT infrastructure relies on these four core physical parts:</a:t>
            </a:r>
          </a:p>
          <a:p>
            <a:pPr marL="446088" indent="-273050">
              <a:buSzPct val="100000"/>
            </a:pPr>
            <a:r>
              <a:rPr lang="en-US" sz="1400" b="1" dirty="0"/>
              <a:t>Central Processing Unit (CPU):</a:t>
            </a:r>
            <a:r>
              <a:rPr lang="en-US" sz="1400" dirty="0"/>
              <a:t> The "Brain." It reads electrical signals to receive and transmit instructions between software and other hardware.</a:t>
            </a:r>
          </a:p>
          <a:p>
            <a:pPr marL="446088" indent="-273050">
              <a:buSzPct val="100000"/>
            </a:pPr>
            <a:r>
              <a:rPr lang="en-US" sz="1400" b="1" dirty="0"/>
              <a:t>Hard Drive:</a:t>
            </a:r>
            <a:r>
              <a:rPr lang="en-US" sz="1400" dirty="0"/>
              <a:t> The "Long-term Memory." It provides permanent data storage for the Operating System (OS), applications, and your files using binary-encoded information.</a:t>
            </a:r>
          </a:p>
          <a:p>
            <a:pPr marL="446088" indent="-273050">
              <a:buSzPct val="100000"/>
            </a:pPr>
            <a:r>
              <a:rPr lang="en-US" sz="1400" b="1" dirty="0"/>
              <a:t>Random Access Memory (RAM):</a:t>
            </a:r>
            <a:r>
              <a:rPr lang="en-US" sz="1400" dirty="0"/>
              <a:t> The "Short-term Memory." It holds data temporarily for active tasks because it is much faster than a hard drive. Once a task is saved, it moves back to the hard drive.</a:t>
            </a:r>
          </a:p>
          <a:p>
            <a:pPr marL="446088" indent="-273050">
              <a:buSzPct val="100000"/>
            </a:pPr>
            <a:r>
              <a:rPr lang="en-US" sz="1400" b="1" dirty="0"/>
              <a:t>Motherboard:</a:t>
            </a:r>
            <a:r>
              <a:rPr lang="en-US" sz="1400" dirty="0"/>
              <a:t> The "Central Hub." A large circuit board that connects the CPU, RAM, and hard drive, providing them with power and a path to communicate.</a:t>
            </a:r>
          </a:p>
          <a:p>
            <a:endParaRPr lang="en-US" sz="1400" dirty="0"/>
          </a:p>
          <a:p>
            <a:endParaRPr lang="en-US" sz="1400" dirty="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95536" y="123478"/>
            <a:ext cx="7992888" cy="4684014"/>
          </a:xfrm>
        </p:spPr>
        <p:txBody>
          <a:bodyPr>
            <a:noAutofit/>
          </a:bodyPr>
          <a:lstStyle/>
          <a:p>
            <a:pPr marL="457200" indent="-457200">
              <a:spcAft>
                <a:spcPts val="600"/>
              </a:spcAft>
              <a:buSzPct val="100000"/>
              <a:buFont typeface="+mj-lt"/>
              <a:buAutoNum type="arabicPeriod" startAt="3"/>
            </a:pPr>
            <a:r>
              <a:rPr lang="en-US" sz="1400" b="1" dirty="0"/>
              <a:t>The Layers of Software</a:t>
            </a:r>
          </a:p>
          <a:p>
            <a:pPr marL="446088" indent="0">
              <a:spcAft>
                <a:spcPts val="600"/>
              </a:spcAft>
              <a:buNone/>
            </a:pPr>
            <a:r>
              <a:rPr lang="en-US" sz="1400" dirty="0"/>
              <a:t>Software isn't just one thing; it functions in three distinct layers:</a:t>
            </a:r>
          </a:p>
          <a:p>
            <a:pPr marL="446088" indent="-273050">
              <a:spcAft>
                <a:spcPts val="600"/>
              </a:spcAft>
              <a:buSzPct val="100000"/>
            </a:pPr>
            <a:r>
              <a:rPr lang="en-US" sz="1400" b="1" dirty="0"/>
              <a:t>System Software (The Foundation)</a:t>
            </a:r>
          </a:p>
          <a:p>
            <a:pPr marL="620713" indent="-273050">
              <a:spcAft>
                <a:spcPts val="600"/>
              </a:spcAft>
              <a:buSzPct val="100000"/>
              <a:buFont typeface="Arial" panose="020B0604020202020204" pitchFamily="34" charset="0"/>
              <a:buChar char="•"/>
            </a:pPr>
            <a:r>
              <a:rPr lang="en-US" sz="1400" dirty="0"/>
              <a:t>Primarily refers to the </a:t>
            </a:r>
            <a:r>
              <a:rPr lang="en-US" sz="1400" b="1" dirty="0"/>
              <a:t>Operating System (OS)</a:t>
            </a:r>
            <a:r>
              <a:rPr lang="en-US" sz="1400" dirty="0"/>
              <a:t> like Windows, </a:t>
            </a:r>
            <a:r>
              <a:rPr lang="en-US" sz="1400" dirty="0" err="1"/>
              <a:t>macOS</a:t>
            </a:r>
            <a:r>
              <a:rPr lang="en-US" sz="1400" dirty="0"/>
              <a:t>, or Linux.</a:t>
            </a:r>
          </a:p>
          <a:p>
            <a:pPr marL="620713" indent="-273050">
              <a:spcAft>
                <a:spcPts val="600"/>
              </a:spcAft>
              <a:buSzPct val="100000"/>
              <a:buFont typeface="Arial" panose="020B0604020202020204" pitchFamily="34" charset="0"/>
              <a:buChar char="•"/>
            </a:pPr>
            <a:r>
              <a:rPr lang="en-US" sz="1400" dirty="0"/>
              <a:t>It manages hardware resources and provides a platform for other programs to run.</a:t>
            </a:r>
          </a:p>
          <a:p>
            <a:pPr marL="620713" indent="-273050">
              <a:spcAft>
                <a:spcPts val="600"/>
              </a:spcAft>
              <a:buSzPct val="100000"/>
              <a:buFont typeface="Arial" panose="020B0604020202020204" pitchFamily="34" charset="0"/>
              <a:buChar char="•"/>
            </a:pPr>
            <a:r>
              <a:rPr lang="en-US" sz="1400" dirty="0"/>
              <a:t>It moves from the hard drive to the RAM to manage the CPU's instructions.</a:t>
            </a:r>
          </a:p>
          <a:p>
            <a:pPr marL="446088" indent="-273050">
              <a:spcAft>
                <a:spcPts val="600"/>
              </a:spcAft>
              <a:buSzPct val="100000"/>
            </a:pPr>
            <a:r>
              <a:rPr lang="en-US" sz="1400" b="1" dirty="0"/>
              <a:t>Application Software (The User Tools)</a:t>
            </a:r>
          </a:p>
          <a:p>
            <a:pPr marL="620713" indent="-273050">
              <a:spcAft>
                <a:spcPts val="600"/>
              </a:spcAft>
              <a:buSzPct val="100000"/>
              <a:buFont typeface="Arial" panose="020B0604020202020204" pitchFamily="34" charset="0"/>
              <a:buChar char="•"/>
            </a:pPr>
            <a:r>
              <a:rPr lang="en-US" sz="1400" dirty="0"/>
              <a:t>The programs you interact with daily: Web browsers, word processors (MS Word), and spreadsheets.</a:t>
            </a:r>
          </a:p>
          <a:p>
            <a:pPr marL="620713" indent="-273050">
              <a:spcAft>
                <a:spcPts val="600"/>
              </a:spcAft>
              <a:buSzPct val="100000"/>
              <a:buFont typeface="Arial" panose="020B0604020202020204" pitchFamily="34" charset="0"/>
              <a:buChar char="•"/>
            </a:pPr>
            <a:r>
              <a:rPr lang="en-US" sz="1400" dirty="0"/>
              <a:t>These run on RAM and write data to the hard drive when you click "Save."</a:t>
            </a:r>
          </a:p>
          <a:p>
            <a:pPr marL="446088" indent="-273050">
              <a:spcAft>
                <a:spcPts val="600"/>
              </a:spcAft>
              <a:buSzPct val="100000"/>
            </a:pPr>
            <a:r>
              <a:rPr lang="en-US" sz="1400" b="1" dirty="0"/>
              <a:t>Utility Software (The Maintenance Crew)</a:t>
            </a:r>
          </a:p>
          <a:p>
            <a:pPr marL="620713" indent="-273050">
              <a:spcAft>
                <a:spcPts val="600"/>
              </a:spcAft>
              <a:buSzPct val="100000"/>
              <a:buFont typeface="Arial" panose="020B0604020202020204" pitchFamily="34" charset="0"/>
              <a:buChar char="•"/>
            </a:pPr>
            <a:r>
              <a:rPr lang="en-US" sz="1400" dirty="0"/>
              <a:t>Background programs that keep the system healthy.</a:t>
            </a:r>
          </a:p>
          <a:p>
            <a:pPr marL="620713" indent="-273050">
              <a:spcAft>
                <a:spcPts val="600"/>
              </a:spcAft>
              <a:buSzPct val="100000"/>
              <a:buFont typeface="Arial" panose="020B0604020202020204" pitchFamily="34" charset="0"/>
              <a:buChar char="•"/>
            </a:pPr>
            <a:r>
              <a:rPr lang="en-US" sz="1400" dirty="0"/>
              <a:t>Includes </a:t>
            </a:r>
            <a:r>
              <a:rPr lang="en-US" sz="1400" b="1" dirty="0"/>
              <a:t>anti-virus</a:t>
            </a:r>
            <a:r>
              <a:rPr lang="en-US" sz="1400" dirty="0"/>
              <a:t>, security tools, disk cleanup, and optimization software.</a:t>
            </a:r>
          </a:p>
          <a:p>
            <a:pPr marL="620713" indent="-273050">
              <a:spcAft>
                <a:spcPts val="600"/>
              </a:spcAft>
              <a:buSzPct val="100000"/>
              <a:buFont typeface="Arial" panose="020B0604020202020204" pitchFamily="34" charset="0"/>
              <a:buChar char="•"/>
            </a:pPr>
            <a:r>
              <a:rPr lang="en-US" sz="1400" dirty="0"/>
              <a:t>These usually run quietly without the user noticing.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3478"/>
            <a:ext cx="7467600" cy="493563"/>
          </a:xfrm>
        </p:spPr>
        <p:txBody>
          <a:bodyPr>
            <a:normAutofit/>
          </a:bodyPr>
          <a:lstStyle/>
          <a:p>
            <a:r>
              <a:rPr lang="en-US" sz="2600" b="1" dirty="0">
                <a:solidFill>
                  <a:schemeClr val="accent1">
                    <a:lumMod val="75000"/>
                  </a:schemeClr>
                </a:solidFill>
              </a:rPr>
              <a:t>Core functions of Information Technology</a:t>
            </a:r>
            <a:endParaRPr lang="en-US" sz="2600" dirty="0">
              <a:solidFill>
                <a:schemeClr val="accent1">
                  <a:lumMod val="75000"/>
                </a:schemeClr>
              </a:solidFill>
            </a:endParaRPr>
          </a:p>
        </p:txBody>
      </p:sp>
      <p:sp>
        <p:nvSpPr>
          <p:cNvPr id="3" name="Content Placeholder 2"/>
          <p:cNvSpPr>
            <a:spLocks noGrp="1"/>
          </p:cNvSpPr>
          <p:nvPr>
            <p:ph sz="quarter" idx="1"/>
          </p:nvPr>
        </p:nvSpPr>
        <p:spPr>
          <a:xfrm>
            <a:off x="457200" y="771550"/>
            <a:ext cx="7715200" cy="3655314"/>
          </a:xfrm>
        </p:spPr>
        <p:txBody>
          <a:bodyPr>
            <a:noAutofit/>
          </a:bodyPr>
          <a:lstStyle/>
          <a:p>
            <a:pPr marL="457200" indent="-457200">
              <a:spcAft>
                <a:spcPts val="600"/>
              </a:spcAft>
              <a:buSzPct val="100000"/>
              <a:buFont typeface="+mj-lt"/>
              <a:buAutoNum type="arabicPeriod"/>
            </a:pPr>
            <a:r>
              <a:rPr lang="en-US" sz="1400" b="1" dirty="0"/>
              <a:t>IT Governance (The Strategy)</a:t>
            </a:r>
          </a:p>
          <a:p>
            <a:pPr marL="446088" indent="-273050">
              <a:spcAft>
                <a:spcPts val="600"/>
              </a:spcAft>
              <a:buSzPct val="100000"/>
            </a:pPr>
            <a:r>
              <a:rPr lang="en-US" sz="1400" b="1" dirty="0"/>
              <a:t>Alignment:</a:t>
            </a:r>
            <a:r>
              <a:rPr lang="en-US" sz="1400" dirty="0"/>
              <a:t> Ensuring IT projects and upgrades directly support the company's goals and priorities.</a:t>
            </a:r>
          </a:p>
          <a:p>
            <a:pPr marL="446088" indent="-273050">
              <a:spcAft>
                <a:spcPts val="600"/>
              </a:spcAft>
              <a:buSzPct val="100000"/>
            </a:pPr>
            <a:r>
              <a:rPr lang="en-US" sz="1400" b="1" dirty="0"/>
              <a:t>Resource Management:</a:t>
            </a:r>
            <a:r>
              <a:rPr lang="en-US" sz="1400" dirty="0"/>
              <a:t> Careful budgeting and allocation of tools and personnel.</a:t>
            </a:r>
          </a:p>
          <a:p>
            <a:pPr marL="446088" indent="-273050">
              <a:spcAft>
                <a:spcPts val="600"/>
              </a:spcAft>
              <a:buSzPct val="100000"/>
            </a:pPr>
            <a:r>
              <a:rPr lang="en-US" sz="1400" b="1" dirty="0"/>
              <a:t>Risk Mitigation:</a:t>
            </a:r>
            <a:r>
              <a:rPr lang="en-US" sz="1400" dirty="0"/>
              <a:t> Managing potential threats and ensuring the organization complies with industry standards.</a:t>
            </a:r>
          </a:p>
          <a:p>
            <a:pPr marL="446088" indent="-273050">
              <a:spcAft>
                <a:spcPts val="600"/>
              </a:spcAft>
              <a:buSzPct val="100000"/>
            </a:pPr>
            <a:r>
              <a:rPr lang="en-US" sz="1400" b="1" dirty="0"/>
              <a:t>Value Creation:</a:t>
            </a:r>
            <a:r>
              <a:rPr lang="en-US" sz="1400" dirty="0"/>
              <a:t> Every IT decision should add measurable value to the organization.</a:t>
            </a:r>
          </a:p>
          <a:p>
            <a:pPr marL="457200" indent="-457200">
              <a:spcAft>
                <a:spcPts val="600"/>
              </a:spcAft>
              <a:buSzPct val="100000"/>
              <a:buFont typeface="+mj-lt"/>
              <a:buAutoNum type="arabicPeriod" startAt="2"/>
            </a:pPr>
            <a:r>
              <a:rPr lang="en-US" sz="1400" b="1" dirty="0"/>
              <a:t>IT Operations (The Daily Management)</a:t>
            </a:r>
          </a:p>
          <a:p>
            <a:pPr marL="446088" indent="-273050">
              <a:spcAft>
                <a:spcPts val="600"/>
              </a:spcAft>
              <a:buSzPct val="100000"/>
            </a:pPr>
            <a:r>
              <a:rPr lang="en-US" sz="1400" b="1" dirty="0"/>
              <a:t>Automation:</a:t>
            </a:r>
            <a:r>
              <a:rPr lang="en-US" sz="1400" dirty="0"/>
              <a:t> Using software to monitor networks and devices for problems automatically.</a:t>
            </a:r>
          </a:p>
          <a:p>
            <a:pPr marL="446088" indent="-273050">
              <a:spcAft>
                <a:spcPts val="600"/>
              </a:spcAft>
              <a:buSzPct val="100000"/>
            </a:pPr>
            <a:r>
              <a:rPr lang="en-US" sz="1400" b="1" dirty="0"/>
              <a:t>Remote Support:</a:t>
            </a:r>
            <a:r>
              <a:rPr lang="en-US" sz="1400" dirty="0"/>
              <a:t> Troubleshooting and fixing issues without needing to be physically present.</a:t>
            </a:r>
          </a:p>
          <a:p>
            <a:pPr marL="446088" indent="-273050">
              <a:spcAft>
                <a:spcPts val="600"/>
              </a:spcAft>
              <a:buSzPct val="100000"/>
            </a:pPr>
            <a:r>
              <a:rPr lang="en-US" sz="1400" b="1" dirty="0"/>
              <a:t>Proactive Maintenance:</a:t>
            </a:r>
            <a:r>
              <a:rPr lang="en-US" sz="1400" dirty="0"/>
              <a:t> Deploying patches and updates to prevent system failures before they happen.</a:t>
            </a:r>
          </a:p>
          <a:p>
            <a:pPr marL="446088" indent="-273050">
              <a:spcAft>
                <a:spcPts val="600"/>
              </a:spcAft>
              <a:buSzPct val="100000"/>
            </a:pPr>
            <a:r>
              <a:rPr lang="en-US" sz="1400" b="1" dirty="0"/>
              <a:t>Efficiency:</a:t>
            </a:r>
            <a:r>
              <a:rPr lang="en-US" sz="1400" dirty="0"/>
              <a:t> Saving time and money by reducing manual "tedious" tasks for IT technicians.</a:t>
            </a:r>
          </a:p>
          <a:p>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230092"/>
            <a:ext cx="7715200" cy="4645914"/>
          </a:xfrm>
        </p:spPr>
        <p:txBody>
          <a:bodyPr>
            <a:noAutofit/>
          </a:bodyPr>
          <a:lstStyle/>
          <a:p>
            <a:pPr marL="457200" indent="-457200">
              <a:buSzPct val="100000"/>
              <a:buFont typeface="+mj-lt"/>
              <a:buAutoNum type="arabicPeriod" startAt="3"/>
            </a:pPr>
            <a:r>
              <a:rPr lang="en-US" sz="1400" b="1" dirty="0" err="1"/>
              <a:t>Cybersecurity</a:t>
            </a:r>
            <a:r>
              <a:rPr lang="en-US" sz="1400" b="1" dirty="0"/>
              <a:t> (The Defense)</a:t>
            </a:r>
          </a:p>
          <a:p>
            <a:pPr marL="446088" indent="-269875">
              <a:buSzPct val="100000"/>
            </a:pPr>
            <a:r>
              <a:rPr lang="en-US" sz="1400" b="1" dirty="0"/>
              <a:t>Attack Surface Management:</a:t>
            </a:r>
            <a:r>
              <a:rPr lang="en-US" sz="1400" dirty="0"/>
              <a:t> As companies move to the cloud, there are more "entry points" for hackers. IT must monitor these constantly.</a:t>
            </a:r>
          </a:p>
          <a:p>
            <a:pPr marL="446088" indent="-269875">
              <a:buSzPct val="100000"/>
            </a:pPr>
            <a:r>
              <a:rPr lang="en-US" sz="1400" b="1" dirty="0"/>
              <a:t>Patch Management:</a:t>
            </a:r>
            <a:r>
              <a:rPr lang="en-US" sz="1400" dirty="0"/>
              <a:t> Regularly updating software to close security "holes" that attackers might use.</a:t>
            </a:r>
          </a:p>
          <a:p>
            <a:pPr marL="446088" indent="-269875">
              <a:buSzPct val="100000"/>
            </a:pPr>
            <a:r>
              <a:rPr lang="en-US" sz="1400" b="1" dirty="0"/>
              <a:t>Access Control:</a:t>
            </a:r>
            <a:r>
              <a:rPr lang="en-US" sz="1400" dirty="0"/>
              <a:t> Implementing strong credentials and monitoring who has access to what part of the network.</a:t>
            </a:r>
          </a:p>
          <a:p>
            <a:pPr marL="446088" indent="-269875">
              <a:buSzPct val="100000"/>
            </a:pPr>
            <a:r>
              <a:rPr lang="en-US" sz="1400" b="1" dirty="0"/>
              <a:t>Prevention of Loss:</a:t>
            </a:r>
            <a:r>
              <a:rPr lang="en-US" sz="1400" dirty="0"/>
              <a:t> Avoiding expensive downtime, legal fines, and the theft of employee or customer identities.</a:t>
            </a:r>
          </a:p>
          <a:p>
            <a:pPr marL="457200" indent="-457200">
              <a:buSzPct val="100000"/>
              <a:buFont typeface="+mj-lt"/>
              <a:buAutoNum type="arabicPeriod" startAt="4"/>
            </a:pPr>
            <a:r>
              <a:rPr lang="en-US" sz="1400" b="1" dirty="0"/>
              <a:t>Data Security &amp; Database Management</a:t>
            </a:r>
          </a:p>
          <a:p>
            <a:pPr marL="446088" indent="-269875">
              <a:buSzPct val="100000"/>
            </a:pPr>
            <a:r>
              <a:rPr lang="en-US" sz="1400" b="1" dirty="0"/>
              <a:t>DBMS (Database Management Systems):</a:t>
            </a:r>
            <a:r>
              <a:rPr lang="en-US" sz="1400" dirty="0"/>
              <a:t> Tools that provide </a:t>
            </a:r>
            <a:r>
              <a:rPr lang="en-US" sz="1400" b="1" dirty="0"/>
              <a:t>visibility</a:t>
            </a:r>
            <a:r>
              <a:rPr lang="en-US" sz="1400" dirty="0"/>
              <a:t>, ensuring IT teams know exactly where all data is stored so it can't be hidden or exploited.</a:t>
            </a:r>
          </a:p>
          <a:p>
            <a:pPr marL="446088" indent="-269875">
              <a:buSzPct val="100000"/>
            </a:pPr>
            <a:r>
              <a:rPr lang="en-US" sz="1400" b="1" dirty="0"/>
              <a:t>Zero-Trust Principle:</a:t>
            </a:r>
            <a:r>
              <a:rPr lang="en-US" sz="1400" dirty="0"/>
              <a:t> A security model where no one is trusted by default. Users are only given "need-to-know" access to sensitive information.</a:t>
            </a:r>
          </a:p>
          <a:p>
            <a:pPr marL="446088" indent="-269875">
              <a:buSzPct val="100000"/>
            </a:pPr>
            <a:r>
              <a:rPr lang="en-US" sz="1400" b="1" dirty="0"/>
              <a:t>Anomaly Detection:</a:t>
            </a:r>
            <a:r>
              <a:rPr lang="en-US" sz="1400" dirty="0"/>
              <a:t> Monitoring access logs for unusual patterns that might suggest a password has been stolen.</a:t>
            </a:r>
          </a:p>
          <a:p>
            <a:pPr marL="446088" indent="-269875">
              <a:buSzPct val="100000"/>
            </a:pPr>
            <a:r>
              <a:rPr lang="en-US" sz="1400" b="1" dirty="0"/>
              <a:t>Integrity:</a:t>
            </a:r>
            <a:r>
              <a:rPr lang="en-US" sz="1400" dirty="0"/>
              <a:t> Ensuring data is not only safe from theft but also stored correctly and remains uncorrupted.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3478"/>
            <a:ext cx="7467600" cy="493563"/>
          </a:xfrm>
        </p:spPr>
        <p:txBody>
          <a:bodyPr>
            <a:normAutofit/>
          </a:bodyPr>
          <a:lstStyle/>
          <a:p>
            <a:pPr marL="457200" indent="-457200">
              <a:buFont typeface="Wingdings" panose="05000000000000000000" pitchFamily="2" charset="2"/>
              <a:buChar char="q"/>
            </a:pPr>
            <a:r>
              <a:rPr lang="en-US" sz="2600" b="1" dirty="0">
                <a:solidFill>
                  <a:schemeClr val="accent1">
                    <a:lumMod val="75000"/>
                  </a:schemeClr>
                </a:solidFill>
              </a:rPr>
              <a:t>Data Backup and Recovery</a:t>
            </a:r>
          </a:p>
        </p:txBody>
      </p:sp>
      <p:sp>
        <p:nvSpPr>
          <p:cNvPr id="3" name="Content Placeholder 2"/>
          <p:cNvSpPr>
            <a:spLocks noGrp="1"/>
          </p:cNvSpPr>
          <p:nvPr>
            <p:ph sz="quarter" idx="1"/>
          </p:nvPr>
        </p:nvSpPr>
        <p:spPr>
          <a:xfrm>
            <a:off x="457200" y="788644"/>
            <a:ext cx="7715200" cy="3655314"/>
          </a:xfrm>
        </p:spPr>
        <p:txBody>
          <a:bodyPr>
            <a:noAutofit/>
          </a:bodyPr>
          <a:lstStyle/>
          <a:p>
            <a:pPr>
              <a:lnSpc>
                <a:spcPct val="120000"/>
              </a:lnSpc>
              <a:spcBef>
                <a:spcPts val="0"/>
              </a:spcBef>
              <a:spcAft>
                <a:spcPts val="600"/>
              </a:spcAft>
              <a:buSzPct val="100000"/>
            </a:pPr>
            <a:r>
              <a:rPr lang="en-US" sz="1400" b="1" dirty="0"/>
              <a:t>Disaster Defense:</a:t>
            </a:r>
            <a:r>
              <a:rPr lang="en-US" sz="1400" dirty="0"/>
              <a:t> Acts as the primary shield against </a:t>
            </a:r>
            <a:r>
              <a:rPr lang="en-US" sz="1400" dirty="0" err="1"/>
              <a:t>ransomware</a:t>
            </a:r>
            <a:r>
              <a:rPr lang="en-US" sz="1400" dirty="0"/>
              <a:t>, </a:t>
            </a:r>
            <a:r>
              <a:rPr lang="en-US" sz="1400" dirty="0" err="1"/>
              <a:t>cyberattacks</a:t>
            </a:r>
            <a:r>
              <a:rPr lang="en-US" sz="1400" dirty="0"/>
              <a:t>, and natural disasters.</a:t>
            </a:r>
          </a:p>
          <a:p>
            <a:pPr>
              <a:lnSpc>
                <a:spcPct val="120000"/>
              </a:lnSpc>
              <a:spcBef>
                <a:spcPts val="0"/>
              </a:spcBef>
              <a:spcAft>
                <a:spcPts val="600"/>
              </a:spcAft>
              <a:buSzPct val="100000"/>
            </a:pPr>
            <a:r>
              <a:rPr lang="en-US" sz="1400" b="1" dirty="0"/>
              <a:t>Redundancy Strategy:</a:t>
            </a:r>
            <a:r>
              <a:rPr lang="en-US" sz="1400" dirty="0"/>
              <a:t> Maintaining at least </a:t>
            </a:r>
            <a:r>
              <a:rPr lang="en-US" sz="1400" b="1" dirty="0"/>
              <a:t>two extra copies</a:t>
            </a:r>
            <a:r>
              <a:rPr lang="en-US" sz="1400" dirty="0"/>
              <a:t> of data is essential to prevent catastrophic loss.</a:t>
            </a:r>
          </a:p>
          <a:p>
            <a:pPr>
              <a:lnSpc>
                <a:spcPct val="120000"/>
              </a:lnSpc>
              <a:spcBef>
                <a:spcPts val="0"/>
              </a:spcBef>
              <a:spcAft>
                <a:spcPts val="600"/>
              </a:spcAft>
              <a:buSzPct val="100000"/>
            </a:pPr>
            <a:r>
              <a:rPr lang="en-US" sz="1400" b="1" dirty="0"/>
              <a:t>Regular Scheduling:</a:t>
            </a:r>
            <a:r>
              <a:rPr lang="en-US" sz="1400" dirty="0"/>
              <a:t> IT providers must ensure backups run automatically and consistently without gaps.</a:t>
            </a:r>
          </a:p>
          <a:p>
            <a:pPr>
              <a:lnSpc>
                <a:spcPct val="120000"/>
              </a:lnSpc>
              <a:spcBef>
                <a:spcPts val="0"/>
              </a:spcBef>
              <a:spcAft>
                <a:spcPts val="600"/>
              </a:spcAft>
              <a:buSzPct val="100000"/>
            </a:pPr>
            <a:r>
              <a:rPr lang="en-US" sz="1400" b="1" dirty="0"/>
              <a:t>Usability Verification:</a:t>
            </a:r>
            <a:r>
              <a:rPr lang="en-US" sz="1400" dirty="0"/>
              <a:t> Constant testing is required to confirm that backed-up data is actually functional when downloaded.</a:t>
            </a:r>
          </a:p>
          <a:p>
            <a:pPr>
              <a:lnSpc>
                <a:spcPct val="120000"/>
              </a:lnSpc>
              <a:spcBef>
                <a:spcPts val="0"/>
              </a:spcBef>
              <a:spcAft>
                <a:spcPts val="600"/>
              </a:spcAft>
              <a:buSzPct val="100000"/>
            </a:pPr>
            <a:r>
              <a:rPr lang="en-US" sz="1400" b="1" dirty="0"/>
              <a:t>Cloud-Based Models:</a:t>
            </a:r>
            <a:r>
              <a:rPr lang="en-US" sz="1400" dirty="0"/>
              <a:t> Offers off-site safety and accessibility, ideal for modern remote environments.</a:t>
            </a:r>
          </a:p>
          <a:p>
            <a:pPr>
              <a:lnSpc>
                <a:spcPct val="120000"/>
              </a:lnSpc>
              <a:spcBef>
                <a:spcPts val="0"/>
              </a:spcBef>
              <a:spcAft>
                <a:spcPts val="600"/>
              </a:spcAft>
              <a:buSzPct val="100000"/>
            </a:pPr>
            <a:r>
              <a:rPr lang="en-US" sz="1400" b="1" dirty="0"/>
              <a:t>Local &amp; Hybrid Models:</a:t>
            </a:r>
            <a:r>
              <a:rPr lang="en-US" sz="1400" dirty="0"/>
              <a:t> Provides faster recovery speeds through on-site hardware or a mix of local and cloud storage.</a:t>
            </a:r>
          </a:p>
          <a:p>
            <a:pPr>
              <a:lnSpc>
                <a:spcPct val="120000"/>
              </a:lnSpc>
              <a:spcBef>
                <a:spcPts val="0"/>
              </a:spcBef>
              <a:spcAft>
                <a:spcPts val="600"/>
              </a:spcAft>
              <a:buSzPct val="100000"/>
            </a:pPr>
            <a:r>
              <a:rPr lang="en-US" sz="1400" b="1" dirty="0"/>
              <a:t>Tailored Solutions:</a:t>
            </a:r>
            <a:r>
              <a:rPr lang="en-US" sz="1400" dirty="0"/>
              <a:t> Strategies are customized based on an organization’s specific budget, scale, and risk needs.</a:t>
            </a:r>
          </a:p>
          <a:p>
            <a:pPr>
              <a:lnSpc>
                <a:spcPct val="120000"/>
              </a:lnSpc>
              <a:spcBef>
                <a:spcPts val="0"/>
              </a:spcBef>
              <a:spcAft>
                <a:spcPts val="600"/>
              </a:spcAft>
              <a:buSzPct val="100000"/>
            </a:pPr>
            <a:r>
              <a:rPr lang="en-US" sz="1400" b="1" dirty="0"/>
              <a:t>Professional Advisory:</a:t>
            </a:r>
            <a:r>
              <a:rPr lang="en-US" sz="1400" dirty="0"/>
              <a:t> IT technicians must guide stakeholders by explaining the pros and cons of different backup infrastructures.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23478"/>
            <a:ext cx="7715200" cy="4645914"/>
          </a:xfrm>
        </p:spPr>
        <p:txBody>
          <a:bodyPr>
            <a:noAutofit/>
          </a:bodyPr>
          <a:lstStyle/>
          <a:p>
            <a:pPr marL="446088" indent="-446088">
              <a:spcBef>
                <a:spcPts val="1200"/>
              </a:spcBef>
              <a:spcAft>
                <a:spcPts val="1200"/>
              </a:spcAft>
              <a:buSzPct val="100000"/>
              <a:buFont typeface="Wingdings" pitchFamily="2" charset="2"/>
              <a:buChar char="q"/>
            </a:pPr>
            <a:r>
              <a:rPr lang="en-US" sz="2600" b="1" dirty="0">
                <a:solidFill>
                  <a:schemeClr val="accent1">
                    <a:lumMod val="75000"/>
                  </a:schemeClr>
                </a:solidFill>
              </a:rPr>
              <a:t>Network Management</a:t>
            </a:r>
          </a:p>
          <a:p>
            <a:pPr marR="0" lvl="0" algn="l" defTabSz="914400" rtl="0" eaLnBrk="0" fontAlgn="base" latinLnBrk="0" hangingPunct="0">
              <a:lnSpc>
                <a:spcPct val="100000"/>
              </a:lnSpc>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Security Centralization:</a:t>
            </a:r>
            <a:r>
              <a:rPr kumimoji="0" lang="en-US" altLang="en-US" sz="1400" b="0" i="0" u="none" strike="noStrike" cap="none" normalizeH="0" baseline="0" dirty="0">
                <a:ln>
                  <a:noFill/>
                </a:ln>
                <a:solidFill>
                  <a:schemeClr val="tx1"/>
                </a:solidFill>
                <a:effectLst/>
                <a:cs typeface="Times New Roman" panose="02020603050405020304" pitchFamily="18" charset="0"/>
              </a:rPr>
              <a:t> Securing a network is complex, so management focuses on enforcing unified security protocols across all connected devices to prevent reinfection.</a:t>
            </a:r>
          </a:p>
          <a:p>
            <a:pPr marR="0" lvl="0" algn="l" defTabSz="914400" rtl="0" eaLnBrk="0" fontAlgn="base" latinLnBrk="0" hangingPunct="0">
              <a:lnSpc>
                <a:spcPct val="100000"/>
              </a:lnSpc>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Protocol Enforcement:</a:t>
            </a:r>
            <a:r>
              <a:rPr kumimoji="0" lang="en-US" altLang="en-US" sz="1400" b="0" i="0" u="none" strike="noStrike" cap="none" normalizeH="0" baseline="0" dirty="0">
                <a:ln>
                  <a:noFill/>
                </a:ln>
                <a:solidFill>
                  <a:schemeClr val="tx1"/>
                </a:solidFill>
                <a:effectLst/>
                <a:cs typeface="Times New Roman" panose="02020603050405020304" pitchFamily="18" charset="0"/>
              </a:rPr>
              <a:t> Ensures every device follows specific communication rules, which boosts overall system stability and data safety.</a:t>
            </a:r>
          </a:p>
          <a:p>
            <a:pPr marR="0" lvl="0" algn="l" defTabSz="914400" rtl="0" eaLnBrk="0" fontAlgn="base" latinLnBrk="0" hangingPunct="0">
              <a:lnSpc>
                <a:spcPct val="100000"/>
              </a:lnSpc>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Performance Oversight:</a:t>
            </a:r>
            <a:r>
              <a:rPr kumimoji="0" lang="en-US" altLang="en-US" sz="1400" b="0" i="0" u="none" strike="noStrike" cap="none" normalizeH="0" baseline="0" dirty="0">
                <a:ln>
                  <a:noFill/>
                </a:ln>
                <a:solidFill>
                  <a:schemeClr val="tx1"/>
                </a:solidFill>
                <a:effectLst/>
                <a:cs typeface="Times New Roman" panose="02020603050405020304" pitchFamily="18" charset="0"/>
              </a:rPr>
              <a:t> Includes monitoring network traffic and employee connectivity to ensure resources are used efficiently and securely.</a:t>
            </a:r>
          </a:p>
          <a:p>
            <a:pPr marL="446088" indent="-446088">
              <a:spcBef>
                <a:spcPts val="1200"/>
              </a:spcBef>
              <a:spcAft>
                <a:spcPts val="1200"/>
              </a:spcAft>
              <a:buSzPct val="100000"/>
              <a:buFont typeface="Wingdings" pitchFamily="2" charset="2"/>
              <a:buChar char="q"/>
            </a:pPr>
            <a:r>
              <a:rPr lang="en-US" sz="2600" b="1" dirty="0">
                <a:solidFill>
                  <a:schemeClr val="accent1">
                    <a:lumMod val="75000"/>
                  </a:schemeClr>
                </a:solidFill>
              </a:rPr>
              <a:t>Virtualization</a:t>
            </a:r>
          </a:p>
          <a:p>
            <a:pPr marR="0" lvl="0" algn="l" defTabSz="914400" rtl="0" eaLnBrk="0" fontAlgn="base" latinLnBrk="0" hangingPunct="0">
              <a:lnSpc>
                <a:spcPct val="100000"/>
              </a:lnSpc>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Resource Optimization:</a:t>
            </a:r>
            <a:r>
              <a:rPr kumimoji="0" lang="en-US" altLang="en-US" sz="1400" b="0" i="0" u="none" strike="noStrike" cap="none" normalizeH="0" baseline="0" dirty="0">
                <a:ln>
                  <a:noFill/>
                </a:ln>
                <a:solidFill>
                  <a:schemeClr val="tx1"/>
                </a:solidFill>
                <a:effectLst/>
                <a:cs typeface="Times New Roman" panose="02020603050405020304" pitchFamily="18" charset="0"/>
              </a:rPr>
              <a:t> Software creates "virtual computers," allowing multiple operating systems to run simultaneously on a single physical machine.</a:t>
            </a:r>
          </a:p>
          <a:p>
            <a:pPr marR="0" lvl="0" algn="l" defTabSz="914400" rtl="0" eaLnBrk="0" fontAlgn="base" latinLnBrk="0" hangingPunct="0">
              <a:lnSpc>
                <a:spcPct val="100000"/>
              </a:lnSpc>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Cost Efficiency:</a:t>
            </a:r>
            <a:r>
              <a:rPr kumimoji="0" lang="en-US" altLang="en-US" sz="1400" b="0" i="0" u="none" strike="noStrike" cap="none" normalizeH="0" baseline="0" dirty="0">
                <a:ln>
                  <a:noFill/>
                </a:ln>
                <a:solidFill>
                  <a:schemeClr val="tx1"/>
                </a:solidFill>
                <a:effectLst/>
                <a:cs typeface="Times New Roman" panose="02020603050405020304" pitchFamily="18" charset="0"/>
              </a:rPr>
              <a:t> Reduces the need for physical hardware, leading to significant savings on server purchasing, space, and power consumption.</a:t>
            </a:r>
          </a:p>
          <a:p>
            <a:pPr marR="0" lvl="0" algn="l" defTabSz="914400" rtl="0" eaLnBrk="0" fontAlgn="base" latinLnBrk="0" hangingPunct="0">
              <a:lnSpc>
                <a:spcPct val="100000"/>
              </a:lnSpc>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Enhanced Productivity:</a:t>
            </a:r>
            <a:r>
              <a:rPr kumimoji="0" lang="en-US" altLang="en-US" sz="1400" b="0" i="0" u="none" strike="noStrike" cap="none" normalizeH="0" baseline="0" dirty="0">
                <a:ln>
                  <a:noFill/>
                </a:ln>
                <a:solidFill>
                  <a:schemeClr val="tx1"/>
                </a:solidFill>
                <a:effectLst/>
                <a:cs typeface="Times New Roman" panose="02020603050405020304" pitchFamily="18" charset="0"/>
              </a:rPr>
              <a:t> IT teams can deploy, test, and manage environments faster since virtual servers are easier to create and maintain than physical ones.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23478"/>
            <a:ext cx="7715200" cy="4645914"/>
          </a:xfrm>
        </p:spPr>
        <p:txBody>
          <a:bodyPr>
            <a:normAutofit fontScale="25000" lnSpcReduction="20000"/>
          </a:bodyPr>
          <a:lstStyle/>
          <a:p>
            <a:pPr marL="363538" indent="-363538">
              <a:lnSpc>
                <a:spcPct val="120000"/>
              </a:lnSpc>
              <a:spcBef>
                <a:spcPts val="1200"/>
              </a:spcBef>
              <a:spcAft>
                <a:spcPts val="1200"/>
              </a:spcAft>
              <a:buSzPct val="100000"/>
              <a:buFont typeface="Wingdings" pitchFamily="2" charset="2"/>
              <a:buChar char="q"/>
            </a:pPr>
            <a:r>
              <a:rPr lang="en-US" sz="10400" b="1" dirty="0">
                <a:solidFill>
                  <a:schemeClr val="accent1">
                    <a:lumMod val="75000"/>
                  </a:schemeClr>
                </a:solidFill>
              </a:rPr>
              <a:t>Software Troubleshooting</a:t>
            </a:r>
          </a:p>
          <a:p>
            <a:pPr marR="0" lvl="0" algn="l" defTabSz="914400" rtl="0" eaLnBrk="0" fontAlgn="base" latinLnBrk="0" hangingPunct="0">
              <a:lnSpc>
                <a:spcPct val="120000"/>
              </a:lnSpc>
              <a:spcAft>
                <a:spcPts val="600"/>
              </a:spcAft>
              <a:buSzTx/>
              <a:buFont typeface="Wingdings" panose="05000000000000000000" pitchFamily="2" charset="2"/>
              <a:buChar char="¢"/>
              <a:tabLst/>
            </a:pPr>
            <a:r>
              <a:rPr kumimoji="0" lang="en-US" altLang="en-US" sz="5600" b="1" i="0" u="none" strike="noStrike" cap="none" normalizeH="0" baseline="0" dirty="0">
                <a:ln>
                  <a:noFill/>
                </a:ln>
                <a:solidFill>
                  <a:schemeClr val="tx1"/>
                </a:solidFill>
                <a:effectLst/>
                <a:cs typeface="Times New Roman" panose="02020603050405020304" pitchFamily="18" charset="0"/>
              </a:rPr>
              <a:t>Operational Continuity:</a:t>
            </a:r>
            <a:r>
              <a:rPr kumimoji="0" lang="en-US" altLang="en-US" sz="5600" b="0" i="0" u="none" strike="noStrike" cap="none" normalizeH="0" baseline="0" dirty="0">
                <a:ln>
                  <a:noFill/>
                </a:ln>
                <a:solidFill>
                  <a:schemeClr val="tx1"/>
                </a:solidFill>
                <a:effectLst/>
                <a:cs typeface="Times New Roman" panose="02020603050405020304" pitchFamily="18" charset="0"/>
              </a:rPr>
              <a:t> Resolving bugs is essential for daily business; without it, critical tasks like saving files or processing data would stall.</a:t>
            </a:r>
          </a:p>
          <a:p>
            <a:pPr marR="0" lvl="0" algn="l" defTabSz="914400" rtl="0" eaLnBrk="0" fontAlgn="base" latinLnBrk="0" hangingPunct="0">
              <a:lnSpc>
                <a:spcPct val="120000"/>
              </a:lnSpc>
              <a:spcAft>
                <a:spcPts val="600"/>
              </a:spcAft>
              <a:buSzTx/>
              <a:buFont typeface="Wingdings" panose="05000000000000000000" pitchFamily="2" charset="2"/>
              <a:buChar char="¢"/>
              <a:tabLst/>
            </a:pPr>
            <a:r>
              <a:rPr kumimoji="0" lang="en-US" altLang="en-US" sz="5600" b="1" i="0" u="none" strike="noStrike" cap="none" normalizeH="0" baseline="0" dirty="0">
                <a:ln>
                  <a:noFill/>
                </a:ln>
                <a:solidFill>
                  <a:schemeClr val="tx1"/>
                </a:solidFill>
                <a:effectLst/>
                <a:cs typeface="Times New Roman" panose="02020603050405020304" pitchFamily="18" charset="0"/>
              </a:rPr>
              <a:t>Layered Diagnosis:</a:t>
            </a:r>
            <a:r>
              <a:rPr kumimoji="0" lang="en-US" altLang="en-US" sz="5600" b="0" i="0" u="none" strike="noStrike" cap="none" normalizeH="0" baseline="0" dirty="0">
                <a:ln>
                  <a:noFill/>
                </a:ln>
                <a:solidFill>
                  <a:schemeClr val="tx1"/>
                </a:solidFill>
                <a:effectLst/>
                <a:cs typeface="Times New Roman" panose="02020603050405020304" pitchFamily="18" charset="0"/>
              </a:rPr>
              <a:t> Technicians use a mix of automated diagnostic checks and manual methods, such as reviewing code or performing hard restarts.</a:t>
            </a:r>
          </a:p>
          <a:p>
            <a:pPr marR="0" lvl="0" algn="l" defTabSz="914400" rtl="0" eaLnBrk="0" fontAlgn="base" latinLnBrk="0" hangingPunct="0">
              <a:lnSpc>
                <a:spcPct val="120000"/>
              </a:lnSpc>
              <a:spcAft>
                <a:spcPts val="600"/>
              </a:spcAft>
              <a:buSzTx/>
              <a:buFont typeface="Wingdings" panose="05000000000000000000" pitchFamily="2" charset="2"/>
              <a:buChar char="¢"/>
              <a:tabLst/>
            </a:pPr>
            <a:r>
              <a:rPr kumimoji="0" lang="en-US" altLang="en-US" sz="5600" b="1" i="0" u="none" strike="noStrike" cap="none" normalizeH="0" baseline="0" dirty="0">
                <a:ln>
                  <a:noFill/>
                </a:ln>
                <a:solidFill>
                  <a:schemeClr val="tx1"/>
                </a:solidFill>
                <a:effectLst/>
                <a:cs typeface="Times New Roman" panose="02020603050405020304" pitchFamily="18" charset="0"/>
              </a:rPr>
              <a:t>Security Maintenance:</a:t>
            </a:r>
            <a:r>
              <a:rPr kumimoji="0" lang="en-US" altLang="en-US" sz="5600" b="0" i="0" u="none" strike="noStrike" cap="none" normalizeH="0" baseline="0" dirty="0">
                <a:ln>
                  <a:noFill/>
                </a:ln>
                <a:solidFill>
                  <a:schemeClr val="tx1"/>
                </a:solidFill>
                <a:effectLst/>
                <a:cs typeface="Times New Roman" panose="02020603050405020304" pitchFamily="18" charset="0"/>
              </a:rPr>
              <a:t> Effective troubleshooting identifies software vulnerabilities early, preventing errors from becoming entry points for cyber threats.</a:t>
            </a:r>
          </a:p>
          <a:p>
            <a:pPr marL="363538" indent="-363538">
              <a:lnSpc>
                <a:spcPct val="120000"/>
              </a:lnSpc>
              <a:spcBef>
                <a:spcPts val="1200"/>
              </a:spcBef>
              <a:spcAft>
                <a:spcPts val="1200"/>
              </a:spcAft>
              <a:buSzPct val="100000"/>
              <a:buFont typeface="Wingdings" pitchFamily="2" charset="2"/>
              <a:buChar char="q"/>
            </a:pPr>
            <a:r>
              <a:rPr lang="en-US" sz="10400" b="1" dirty="0">
                <a:solidFill>
                  <a:schemeClr val="accent1">
                    <a:lumMod val="75000"/>
                  </a:schemeClr>
                </a:solidFill>
              </a:rPr>
              <a:t>Device Management</a:t>
            </a:r>
          </a:p>
          <a:p>
            <a:pPr marR="0" lvl="0" algn="l" defTabSz="914400" rtl="0" eaLnBrk="0" fontAlgn="base" latinLnBrk="0" hangingPunct="0">
              <a:lnSpc>
                <a:spcPct val="120000"/>
              </a:lnSpc>
              <a:spcAft>
                <a:spcPts val="600"/>
              </a:spcAft>
              <a:buSzTx/>
              <a:buFont typeface="Wingdings" panose="05000000000000000000" pitchFamily="2" charset="2"/>
              <a:buChar char="¢"/>
              <a:tabLst/>
            </a:pPr>
            <a:r>
              <a:rPr kumimoji="0" lang="en-US" altLang="en-US" sz="5600" b="1" i="0" u="none" strike="noStrike" cap="none" normalizeH="0" baseline="0" dirty="0">
                <a:ln>
                  <a:noFill/>
                </a:ln>
                <a:solidFill>
                  <a:schemeClr val="tx1"/>
                </a:solidFill>
                <a:effectLst/>
                <a:cs typeface="Times New Roman" panose="02020603050405020304" pitchFamily="18" charset="0"/>
              </a:rPr>
              <a:t>Lifecycle Tracking:</a:t>
            </a:r>
            <a:r>
              <a:rPr kumimoji="0" lang="en-US" altLang="en-US" sz="5600" b="0" i="0" u="none" strike="noStrike" cap="none" normalizeH="0" baseline="0" dirty="0">
                <a:ln>
                  <a:noFill/>
                </a:ln>
                <a:solidFill>
                  <a:schemeClr val="tx1"/>
                </a:solidFill>
                <a:effectLst/>
                <a:cs typeface="Times New Roman" panose="02020603050405020304" pitchFamily="18" charset="0"/>
              </a:rPr>
              <a:t> Monitors assets from initial deployment to retirement, recognizing that older devices require more maintenance and eventual replacement.</a:t>
            </a:r>
          </a:p>
          <a:p>
            <a:pPr marR="0" lvl="0" algn="l" defTabSz="914400" rtl="0" eaLnBrk="0" fontAlgn="base" latinLnBrk="0" hangingPunct="0">
              <a:lnSpc>
                <a:spcPct val="120000"/>
              </a:lnSpc>
              <a:spcAft>
                <a:spcPts val="600"/>
              </a:spcAft>
              <a:buSzTx/>
              <a:buFont typeface="Wingdings" panose="05000000000000000000" pitchFamily="2" charset="2"/>
              <a:buChar char="¢"/>
              <a:tabLst/>
            </a:pPr>
            <a:r>
              <a:rPr kumimoji="0" lang="en-US" altLang="en-US" sz="5600" b="1" i="0" u="none" strike="noStrike" cap="none" normalizeH="0" baseline="0" dirty="0">
                <a:ln>
                  <a:noFill/>
                </a:ln>
                <a:solidFill>
                  <a:schemeClr val="tx1"/>
                </a:solidFill>
                <a:effectLst/>
                <a:cs typeface="Times New Roman" panose="02020603050405020304" pitchFamily="18" charset="0"/>
              </a:rPr>
              <a:t>ITAM &amp; MDM:</a:t>
            </a:r>
            <a:r>
              <a:rPr kumimoji="0" lang="en-US" altLang="en-US" sz="5600" b="0" i="0" u="none" strike="noStrike" cap="none" normalizeH="0" baseline="0" dirty="0">
                <a:ln>
                  <a:noFill/>
                </a:ln>
                <a:solidFill>
                  <a:schemeClr val="tx1"/>
                </a:solidFill>
                <a:effectLst/>
                <a:cs typeface="Times New Roman" panose="02020603050405020304" pitchFamily="18" charset="0"/>
              </a:rPr>
              <a:t> Uses specialized tools (IT Asset Management and Mobile Device Management) to remotely secure, update, and track company-owned devices.</a:t>
            </a:r>
          </a:p>
          <a:p>
            <a:pPr marR="0" lvl="0" algn="l" defTabSz="914400" rtl="0" eaLnBrk="0" fontAlgn="base" latinLnBrk="0" hangingPunct="0">
              <a:lnSpc>
                <a:spcPct val="120000"/>
              </a:lnSpc>
              <a:spcAft>
                <a:spcPts val="600"/>
              </a:spcAft>
              <a:buSzTx/>
              <a:buFont typeface="Wingdings" panose="05000000000000000000" pitchFamily="2" charset="2"/>
              <a:buChar char="¢"/>
              <a:tabLst/>
            </a:pPr>
            <a:r>
              <a:rPr kumimoji="0" lang="en-US" altLang="en-US" sz="5600" b="1" i="0" u="none" strike="noStrike" cap="none" normalizeH="0" baseline="0" dirty="0">
                <a:ln>
                  <a:noFill/>
                </a:ln>
                <a:solidFill>
                  <a:schemeClr val="tx1"/>
                </a:solidFill>
                <a:effectLst/>
                <a:cs typeface="Times New Roman" panose="02020603050405020304" pitchFamily="18" charset="0"/>
              </a:rPr>
              <a:t>Strategic Automation:</a:t>
            </a:r>
            <a:r>
              <a:rPr kumimoji="0" lang="en-US" altLang="en-US" sz="5600" b="0" i="0" u="none" strike="noStrike" cap="none" normalizeH="0" baseline="0" dirty="0">
                <a:ln>
                  <a:noFill/>
                </a:ln>
                <a:solidFill>
                  <a:schemeClr val="tx1"/>
                </a:solidFill>
                <a:effectLst/>
                <a:cs typeface="Times New Roman" panose="02020603050405020304" pitchFamily="18" charset="0"/>
              </a:rPr>
              <a:t> Prioritizes automating repetitive maintenance tasks to free up IT resources for more complex organizational projects.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7467600" cy="536971"/>
          </a:xfrm>
        </p:spPr>
        <p:txBody>
          <a:bodyPr>
            <a:normAutofit/>
          </a:bodyPr>
          <a:lstStyle/>
          <a:p>
            <a:r>
              <a:rPr lang="en-US" sz="2600" b="1" dirty="0">
                <a:solidFill>
                  <a:schemeClr val="accent1">
                    <a:lumMod val="75000"/>
                  </a:schemeClr>
                </a:solidFill>
              </a:rPr>
              <a:t>The importance of understanding IT</a:t>
            </a:r>
            <a:endParaRPr lang="en-US" sz="2600" dirty="0">
              <a:solidFill>
                <a:schemeClr val="accent1">
                  <a:lumMod val="75000"/>
                </a:schemeClr>
              </a:solidFill>
            </a:endParaRPr>
          </a:p>
        </p:txBody>
      </p:sp>
      <p:sp>
        <p:nvSpPr>
          <p:cNvPr id="3" name="Content Placeholder 2"/>
          <p:cNvSpPr>
            <a:spLocks noGrp="1"/>
          </p:cNvSpPr>
          <p:nvPr>
            <p:ph sz="quarter" idx="1"/>
          </p:nvPr>
        </p:nvSpPr>
        <p:spPr>
          <a:xfrm>
            <a:off x="457200" y="860652"/>
            <a:ext cx="7643192" cy="3655314"/>
          </a:xfrm>
        </p:spPr>
        <p:txBody>
          <a:bodyPr>
            <a:noAutofit/>
          </a:bodyPr>
          <a:lstStyle/>
          <a:p>
            <a:pPr>
              <a:spcBef>
                <a:spcPts val="0"/>
              </a:spcBef>
              <a:spcAft>
                <a:spcPts val="600"/>
              </a:spcAft>
              <a:buSzPct val="100000"/>
            </a:pPr>
            <a:r>
              <a:rPr lang="en-US" sz="1400" b="1" dirty="0"/>
              <a:t>Complexity &amp; Scope:</a:t>
            </a:r>
            <a:r>
              <a:rPr lang="en-US" sz="1400" dirty="0"/>
              <a:t> IT is a multi-faceted field covering everything from physical device management to global data protection.</a:t>
            </a:r>
          </a:p>
          <a:p>
            <a:pPr>
              <a:spcBef>
                <a:spcPts val="0"/>
              </a:spcBef>
              <a:spcAft>
                <a:spcPts val="600"/>
              </a:spcAft>
              <a:buSzPct val="100000"/>
            </a:pPr>
            <a:r>
              <a:rPr lang="en-US" sz="1400" b="1" dirty="0"/>
              <a:t>Operational Efficiency:</a:t>
            </a:r>
            <a:r>
              <a:rPr lang="en-US" sz="1400" dirty="0"/>
              <a:t> Automation tools like ITAM and ITOM are essential for handling tedious tasks, allowing teams to focus on high-priority challenges.</a:t>
            </a:r>
          </a:p>
          <a:p>
            <a:pPr>
              <a:spcBef>
                <a:spcPts val="0"/>
              </a:spcBef>
              <a:spcAft>
                <a:spcPts val="600"/>
              </a:spcAft>
              <a:buSzPct val="100000"/>
            </a:pPr>
            <a:r>
              <a:rPr lang="en-US" sz="1400" b="1" dirty="0"/>
              <a:t>Digital Dependency:</a:t>
            </a:r>
            <a:r>
              <a:rPr lang="en-US" sz="1400" dirty="0"/>
              <a:t> As the world moves toward virtual technologies, a basic understanding of IT has become a fundamental life skill.</a:t>
            </a:r>
          </a:p>
          <a:p>
            <a:pPr>
              <a:spcBef>
                <a:spcPts val="0"/>
              </a:spcBef>
              <a:spcAft>
                <a:spcPts val="600"/>
              </a:spcAft>
              <a:buSzPct val="100000"/>
            </a:pPr>
            <a:r>
              <a:rPr lang="en-US" sz="1400" b="1" dirty="0"/>
              <a:t>Career Foundation:</a:t>
            </a:r>
            <a:r>
              <a:rPr lang="en-US" sz="1400" dirty="0"/>
              <a:t> For aspiring technicians, mastering these fundamentals is the first step toward professional success and effective problem-solving.</a:t>
            </a:r>
          </a:p>
          <a:p>
            <a:pPr>
              <a:spcBef>
                <a:spcPts val="0"/>
              </a:spcBef>
              <a:spcAft>
                <a:spcPts val="600"/>
              </a:spcAft>
              <a:buSzPct val="100000"/>
            </a:pPr>
            <a:r>
              <a:rPr lang="en-US" sz="1400" b="1" dirty="0"/>
              <a:t>Personal Troubleshooting:</a:t>
            </a:r>
            <a:r>
              <a:rPr lang="en-US" sz="1400" dirty="0"/>
              <a:t> Basic IT knowledge empowers non-professionals to fix their own technical issues, reducing downtime and frustration.</a:t>
            </a:r>
          </a:p>
          <a:p>
            <a:pPr>
              <a:spcBef>
                <a:spcPts val="0"/>
              </a:spcBef>
              <a:spcAft>
                <a:spcPts val="600"/>
              </a:spcAft>
              <a:buSzPct val="100000"/>
            </a:pPr>
            <a:r>
              <a:rPr lang="en-US" sz="1400" b="1" dirty="0"/>
              <a:t>Everyday Utility:</a:t>
            </a:r>
            <a:r>
              <a:rPr lang="en-US" sz="1400" dirty="0"/>
              <a:t> In a device-heavy world, knowing how to efficiently use and maintain hardware is useful in almost every career context.</a:t>
            </a:r>
          </a:p>
          <a:p>
            <a:pPr>
              <a:spcBef>
                <a:spcPts val="0"/>
              </a:spcBef>
              <a:spcAft>
                <a:spcPts val="600"/>
              </a:spcAft>
              <a:buSzPct val="100000"/>
            </a:pPr>
            <a:r>
              <a:rPr lang="en-US" sz="1400" b="1" dirty="0"/>
              <a:t>Proactive Monitoring:</a:t>
            </a:r>
            <a:r>
              <a:rPr lang="en-US" sz="1400" dirty="0"/>
              <a:t> Understanding the basics allows individuals to automate their own digital monitoring tasks, improving personal security and data safety.</a:t>
            </a:r>
          </a:p>
          <a:p>
            <a:pPr>
              <a:spcBef>
                <a:spcPts val="0"/>
              </a:spcBef>
              <a:spcAft>
                <a:spcPts val="600"/>
              </a:spcAft>
              <a:buSzPct val="100000"/>
            </a:pPr>
            <a:r>
              <a:rPr lang="en-US" sz="1400" b="1" dirty="0"/>
              <a:t>Strategic Advantage:</a:t>
            </a:r>
            <a:r>
              <a:rPr lang="en-US" sz="1400" dirty="0"/>
              <a:t> Whether in business or daily life, those who understand the "how" behind technology can use it more strategically and safely.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78595"/>
            <a:ext cx="7772400" cy="536971"/>
          </a:xfrm>
        </p:spPr>
        <p:txBody>
          <a:bodyPr>
            <a:noAutofit/>
          </a:bodyPr>
          <a:lstStyle/>
          <a:p>
            <a:r>
              <a:rPr lang="en-US" sz="2600" b="1" dirty="0">
                <a:solidFill>
                  <a:schemeClr val="accent1">
                    <a:lumMod val="75000"/>
                  </a:schemeClr>
                </a:solidFill>
              </a:rPr>
              <a:t>The Role of Information Technology in Modern Business</a:t>
            </a:r>
          </a:p>
        </p:txBody>
      </p:sp>
      <p:sp>
        <p:nvSpPr>
          <p:cNvPr id="3" name="Content Placeholder 2"/>
          <p:cNvSpPr>
            <a:spLocks noGrp="1"/>
          </p:cNvSpPr>
          <p:nvPr>
            <p:ph sz="quarter" idx="1"/>
          </p:nvPr>
        </p:nvSpPr>
        <p:spPr>
          <a:xfrm>
            <a:off x="457200" y="1138014"/>
            <a:ext cx="7772400" cy="3810000"/>
          </a:xfrm>
        </p:spPr>
        <p:txBody>
          <a:bodyPr>
            <a:noAutofit/>
          </a:bodyPr>
          <a:lstStyle/>
          <a:p>
            <a:pPr marL="342900" indent="-342900">
              <a:spcBef>
                <a:spcPts val="0"/>
              </a:spcBef>
              <a:spcAft>
                <a:spcPts val="600"/>
              </a:spcAft>
              <a:buSzPct val="100000"/>
              <a:buFont typeface="+mj-lt"/>
              <a:buAutoNum type="arabicPeriod"/>
            </a:pPr>
            <a:r>
              <a:rPr lang="en-US" sz="1400" b="1" dirty="0"/>
              <a:t>Improved Efficiency and Productivity</a:t>
            </a:r>
          </a:p>
          <a:p>
            <a:pPr marL="363538" indent="-273050">
              <a:spcBef>
                <a:spcPts val="0"/>
              </a:spcBef>
              <a:spcAft>
                <a:spcPts val="600"/>
              </a:spcAft>
              <a:buSzPct val="100000"/>
              <a:tabLst>
                <a:tab pos="363538" algn="l"/>
              </a:tabLst>
            </a:pPr>
            <a:r>
              <a:rPr lang="en-US" sz="1400" b="1" dirty="0"/>
              <a:t>Workflow Automation:</a:t>
            </a:r>
            <a:r>
              <a:rPr lang="en-US" sz="1400" dirty="0"/>
              <a:t> Software handles routine tasks, reducing manual errors and accelerating data processing.</a:t>
            </a:r>
          </a:p>
          <a:p>
            <a:pPr marL="363538" indent="-273050">
              <a:spcBef>
                <a:spcPts val="0"/>
              </a:spcBef>
              <a:spcAft>
                <a:spcPts val="600"/>
              </a:spcAft>
              <a:buSzPct val="100000"/>
              <a:tabLst>
                <a:tab pos="363538" algn="l"/>
              </a:tabLst>
            </a:pPr>
            <a:r>
              <a:rPr lang="en-US" sz="1400" b="1" dirty="0"/>
              <a:t>Strategic Focus:</a:t>
            </a:r>
            <a:r>
              <a:rPr lang="en-US" sz="1400" dirty="0"/>
              <a:t> By automating "logistics," employees can dedicate more time to high-value, creative projects.</a:t>
            </a:r>
          </a:p>
          <a:p>
            <a:pPr marL="363538" indent="-273050">
              <a:spcBef>
                <a:spcPts val="0"/>
              </a:spcBef>
              <a:spcAft>
                <a:spcPts val="600"/>
              </a:spcAft>
              <a:buSzPct val="100000"/>
              <a:tabLst>
                <a:tab pos="363538" algn="l"/>
              </a:tabLst>
            </a:pPr>
            <a:r>
              <a:rPr lang="en-US" sz="1400" b="1" dirty="0"/>
              <a:t>Competitive Edge:</a:t>
            </a:r>
            <a:r>
              <a:rPr lang="en-US" sz="1400" dirty="0"/>
              <a:t> Higher operational speeds allow the business to outperform slower, traditional competitors.</a:t>
            </a:r>
          </a:p>
          <a:p>
            <a:pPr marL="342900" indent="-342900">
              <a:spcBef>
                <a:spcPts val="0"/>
              </a:spcBef>
              <a:spcAft>
                <a:spcPts val="600"/>
              </a:spcAft>
              <a:buSzPct val="100000"/>
              <a:buFont typeface="+mj-lt"/>
              <a:buAutoNum type="arabicPeriod" startAt="2"/>
            </a:pPr>
            <a:r>
              <a:rPr lang="en-US" sz="1400" b="1" dirty="0"/>
              <a:t>Enhanced Communication and Collaboration</a:t>
            </a:r>
          </a:p>
          <a:p>
            <a:pPr marL="363538" indent="-273050">
              <a:spcBef>
                <a:spcPts val="0"/>
              </a:spcBef>
              <a:spcAft>
                <a:spcPts val="600"/>
              </a:spcAft>
              <a:buSzPct val="100000"/>
              <a:tabLst>
                <a:tab pos="363538" algn="l"/>
              </a:tabLst>
            </a:pPr>
            <a:r>
              <a:rPr lang="en-US" sz="1400" b="1" dirty="0"/>
              <a:t>Global Connectivity:</a:t>
            </a:r>
            <a:r>
              <a:rPr lang="en-US" sz="1400" dirty="0"/>
              <a:t> Tools like video conferencing and instant messaging bridge geographical gaps between teams instantly.</a:t>
            </a:r>
          </a:p>
          <a:p>
            <a:pPr marL="363538" indent="-273050">
              <a:spcBef>
                <a:spcPts val="0"/>
              </a:spcBef>
              <a:spcAft>
                <a:spcPts val="600"/>
              </a:spcAft>
              <a:buSzPct val="100000"/>
              <a:tabLst>
                <a:tab pos="363538" algn="l"/>
              </a:tabLst>
            </a:pPr>
            <a:r>
              <a:rPr lang="en-US" sz="1400" b="1" dirty="0"/>
              <a:t>Real-time Interaction:</a:t>
            </a:r>
            <a:r>
              <a:rPr lang="en-US" sz="1400" dirty="0"/>
              <a:t> Collaboration platforms ensure all departments have access to the same project data for faster decision-making.</a:t>
            </a:r>
          </a:p>
          <a:p>
            <a:pPr marL="363538" indent="-273050">
              <a:spcBef>
                <a:spcPts val="0"/>
              </a:spcBef>
              <a:spcAft>
                <a:spcPts val="600"/>
              </a:spcAft>
              <a:buSzPct val="100000"/>
              <a:tabLst>
                <a:tab pos="363538" algn="l"/>
              </a:tabLst>
            </a:pPr>
            <a:r>
              <a:rPr lang="en-US" sz="1400" b="1" dirty="0"/>
              <a:t>Seamless Teamwork:</a:t>
            </a:r>
            <a:r>
              <a:rPr lang="en-US" sz="1400" dirty="0"/>
              <a:t> Digital tools foster better internal coordination, leading to more successful business outcomes.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483518"/>
            <a:ext cx="7696200" cy="4264914"/>
          </a:xfrm>
        </p:spPr>
        <p:txBody>
          <a:bodyPr>
            <a:normAutofit/>
          </a:bodyPr>
          <a:lstStyle/>
          <a:p>
            <a:pPr marL="342900" indent="-342900">
              <a:spcAft>
                <a:spcPts val="600"/>
              </a:spcAft>
              <a:buSzPct val="100000"/>
              <a:buFont typeface="+mj-lt"/>
              <a:buAutoNum type="arabicPeriod" startAt="3"/>
            </a:pPr>
            <a:r>
              <a:rPr lang="en-US" sz="1400" b="1" dirty="0"/>
              <a:t>Data Management and Analysis</a:t>
            </a:r>
          </a:p>
          <a:p>
            <a:pPr marL="363538" indent="-273050">
              <a:spcAft>
                <a:spcPts val="600"/>
              </a:spcAft>
              <a:buSzPct val="100000"/>
            </a:pPr>
            <a:r>
              <a:rPr lang="en-US" sz="1400" b="1" dirty="0"/>
              <a:t>Informed Decisions:</a:t>
            </a:r>
            <a:r>
              <a:rPr lang="en-US" sz="1400" dirty="0"/>
              <a:t> Analytics tools extract actionable insights from raw data to guide evidence-based strategic planning.</a:t>
            </a:r>
          </a:p>
          <a:p>
            <a:pPr marL="363538" indent="-273050">
              <a:spcAft>
                <a:spcPts val="600"/>
              </a:spcAft>
              <a:buSzPct val="100000"/>
            </a:pPr>
            <a:r>
              <a:rPr lang="en-US" sz="1400" b="1" dirty="0"/>
              <a:t>Market Intelligence:</a:t>
            </a:r>
            <a:r>
              <a:rPr lang="en-US" sz="1400" dirty="0"/>
              <a:t> Businesses can accurately identify customer segments and predict emerging market trends.</a:t>
            </a:r>
          </a:p>
          <a:p>
            <a:pPr marL="363538" indent="-273050">
              <a:spcAft>
                <a:spcPts val="600"/>
              </a:spcAft>
              <a:buSzPct val="100000"/>
            </a:pPr>
            <a:r>
              <a:rPr lang="en-US" sz="1400" b="1" dirty="0"/>
              <a:t>Adaptive Growth:</a:t>
            </a:r>
            <a:r>
              <a:rPr lang="en-US" sz="1400" dirty="0"/>
              <a:t> A data-driven approach allows companies to pivot quickly in response to changing market conditions.</a:t>
            </a:r>
          </a:p>
          <a:p>
            <a:pPr marL="342900" indent="-342900">
              <a:spcAft>
                <a:spcPts val="600"/>
              </a:spcAft>
              <a:buSzPct val="100000"/>
              <a:buFont typeface="+mj-lt"/>
              <a:buAutoNum type="arabicPeriod" startAt="4"/>
            </a:pPr>
            <a:r>
              <a:rPr lang="en-US" sz="1400" b="1" dirty="0"/>
              <a:t>Enhanced Customer Engagement</a:t>
            </a:r>
          </a:p>
          <a:p>
            <a:pPr marL="363538" indent="-273050">
              <a:spcAft>
                <a:spcPts val="600"/>
              </a:spcAft>
              <a:buSzPct val="100000"/>
            </a:pPr>
            <a:r>
              <a:rPr lang="en-US" sz="1400" b="1" dirty="0"/>
              <a:t>24/7 Digital Reach:</a:t>
            </a:r>
            <a:r>
              <a:rPr lang="en-US" sz="1400" dirty="0"/>
              <a:t> E-commerce and social media platforms allow businesses to interact with audiences at any time.</a:t>
            </a:r>
          </a:p>
          <a:p>
            <a:pPr marL="363538" indent="-273050">
              <a:spcAft>
                <a:spcPts val="600"/>
              </a:spcAft>
              <a:buSzPct val="100000"/>
            </a:pPr>
            <a:r>
              <a:rPr lang="en-US" sz="1400" b="1" dirty="0"/>
              <a:t>Personalized Service:</a:t>
            </a:r>
            <a:r>
              <a:rPr lang="en-US" sz="1400" dirty="0"/>
              <a:t> CRM software tracks customer preferences to provide tailored experiences and build loyalty.</a:t>
            </a:r>
          </a:p>
          <a:p>
            <a:pPr marL="363538" indent="-273050">
              <a:spcAft>
                <a:spcPts val="600"/>
              </a:spcAft>
              <a:buSzPct val="100000"/>
            </a:pPr>
            <a:r>
              <a:rPr lang="en-US" sz="1400" b="1" dirty="0"/>
              <a:t>Direct Interaction:</a:t>
            </a:r>
            <a:r>
              <a:rPr lang="en-US" sz="1400" dirty="0"/>
              <a:t> Mobile apps and personalized marketing facilitate faster and more effective customer support.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450308"/>
            <a:ext cx="7620000" cy="4569714"/>
          </a:xfrm>
        </p:spPr>
        <p:txBody>
          <a:bodyPr>
            <a:normAutofit/>
          </a:bodyPr>
          <a:lstStyle/>
          <a:p>
            <a:pPr marL="457200" indent="-457200">
              <a:spcAft>
                <a:spcPts val="600"/>
              </a:spcAft>
              <a:buSzPct val="100000"/>
              <a:buFont typeface="+mj-lt"/>
              <a:buAutoNum type="arabicPeriod" startAt="5"/>
            </a:pPr>
            <a:r>
              <a:rPr lang="en-US" sz="1400" b="1" dirty="0"/>
              <a:t>Innovation and Competitive Advantage</a:t>
            </a:r>
          </a:p>
          <a:p>
            <a:pPr marL="446088" indent="-273050">
              <a:spcAft>
                <a:spcPts val="600"/>
              </a:spcAft>
              <a:buSzPct val="100000"/>
            </a:pPr>
            <a:r>
              <a:rPr lang="en-US" sz="1400" b="1" dirty="0"/>
              <a:t>Tech-Driven Growth:</a:t>
            </a:r>
            <a:r>
              <a:rPr lang="en-US" sz="1400" dirty="0"/>
              <a:t> IT provides the R&amp;D platforms needed to experiment with emerging technologies like AI and </a:t>
            </a:r>
            <a:r>
              <a:rPr lang="en-US" sz="1400" dirty="0" err="1"/>
              <a:t>Blockchain</a:t>
            </a:r>
            <a:r>
              <a:rPr lang="en-US" sz="1400" dirty="0"/>
              <a:t>.</a:t>
            </a:r>
          </a:p>
          <a:p>
            <a:pPr marL="446088" indent="-273050">
              <a:spcAft>
                <a:spcPts val="600"/>
              </a:spcAft>
              <a:buSzPct val="100000"/>
            </a:pPr>
            <a:r>
              <a:rPr lang="en-US" sz="1400" b="1" dirty="0"/>
              <a:t>Market Differentiation:</a:t>
            </a:r>
            <a:r>
              <a:rPr lang="en-US" sz="1400" dirty="0"/>
              <a:t> Innovative digital products and services set the company apart from the competition.</a:t>
            </a:r>
          </a:p>
          <a:p>
            <a:pPr marL="446088" indent="-273050">
              <a:spcAft>
                <a:spcPts val="600"/>
              </a:spcAft>
              <a:buSzPct val="100000"/>
            </a:pPr>
            <a:r>
              <a:rPr lang="en-US" sz="1400" b="1" dirty="0"/>
              <a:t>Future Proofing:</a:t>
            </a:r>
            <a:r>
              <a:rPr lang="en-US" sz="1400" dirty="0"/>
              <a:t> Staying ahead in the "tech race" ensures long-term relevance in an increasingly digital economy.</a:t>
            </a:r>
          </a:p>
          <a:p>
            <a:pPr marL="457200" indent="-457200">
              <a:spcAft>
                <a:spcPts val="600"/>
              </a:spcAft>
              <a:buSzPct val="100000"/>
              <a:buFont typeface="+mj-lt"/>
              <a:buAutoNum type="arabicPeriod" startAt="6"/>
            </a:pPr>
            <a:r>
              <a:rPr lang="en-US" sz="1400" b="1" dirty="0"/>
              <a:t>Supply Chain and Risk Management</a:t>
            </a:r>
          </a:p>
          <a:p>
            <a:pPr marL="446088" indent="-273050">
              <a:spcAft>
                <a:spcPts val="600"/>
              </a:spcAft>
              <a:buSzPct val="100000"/>
            </a:pPr>
            <a:r>
              <a:rPr lang="en-US" sz="1400" b="1" dirty="0"/>
              <a:t>Logistics Optimization:</a:t>
            </a:r>
            <a:r>
              <a:rPr lang="en-US" sz="1400" dirty="0"/>
              <a:t> Sophisticated software tracks inventory and improves demand forecasting to reduce waste.</a:t>
            </a:r>
          </a:p>
          <a:p>
            <a:pPr marL="446088" indent="-273050">
              <a:spcAft>
                <a:spcPts val="600"/>
              </a:spcAft>
              <a:buSzPct val="100000"/>
            </a:pPr>
            <a:r>
              <a:rPr lang="en-US" sz="1400" b="1" dirty="0" err="1"/>
              <a:t>Cybersecurity</a:t>
            </a:r>
            <a:r>
              <a:rPr lang="en-US" sz="1400" b="1" dirty="0"/>
              <a:t> Defense:</a:t>
            </a:r>
            <a:r>
              <a:rPr lang="en-US" sz="1400" dirty="0"/>
              <a:t> Advanced measures like encryption and firewalls protect sensitive data and maintain customer trust.</a:t>
            </a:r>
          </a:p>
          <a:p>
            <a:pPr marL="446088" indent="-273050">
              <a:spcAft>
                <a:spcPts val="600"/>
              </a:spcAft>
              <a:buSzPct val="100000"/>
            </a:pPr>
            <a:r>
              <a:rPr lang="en-US" sz="1400" b="1" dirty="0"/>
              <a:t>Proactive Protection:</a:t>
            </a:r>
            <a:r>
              <a:rPr lang="en-US" sz="1400" dirty="0"/>
              <a:t> Continuous monitoring prevents expensive downtime and safeguards the company’s reputation.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78300"/>
            <a:ext cx="7571184" cy="4569714"/>
          </a:xfrm>
        </p:spPr>
        <p:txBody>
          <a:bodyPr>
            <a:normAutofit/>
          </a:bodyPr>
          <a:lstStyle/>
          <a:p>
            <a:pPr marL="342900" indent="-342900">
              <a:spcBef>
                <a:spcPts val="1200"/>
              </a:spcBef>
              <a:spcAft>
                <a:spcPts val="1200"/>
              </a:spcAft>
              <a:buSzPct val="100000"/>
              <a:buFont typeface="+mj-lt"/>
              <a:buAutoNum type="arabicPeriod" startAt="7"/>
            </a:pPr>
            <a:r>
              <a:rPr lang="en-US" sz="1400" b="1" dirty="0"/>
              <a:t>Cost Reduction and Sustainability</a:t>
            </a:r>
          </a:p>
          <a:p>
            <a:pPr marL="363538" indent="-273050">
              <a:spcAft>
                <a:spcPts val="600"/>
              </a:spcAft>
              <a:buSzPct val="100000"/>
            </a:pPr>
            <a:r>
              <a:rPr lang="en-US" sz="1400" b="1" dirty="0"/>
              <a:t>Operational Savings:</a:t>
            </a:r>
            <a:r>
              <a:rPr lang="en-US" sz="1400" dirty="0"/>
              <a:t> Automation and digital workflows significantly lower long-term administrative and overhead costs.</a:t>
            </a:r>
          </a:p>
          <a:p>
            <a:pPr marL="363538" indent="-273050">
              <a:spcAft>
                <a:spcPts val="600"/>
              </a:spcAft>
              <a:buSzPct val="100000"/>
            </a:pPr>
            <a:r>
              <a:rPr lang="en-US" sz="1400" b="1" dirty="0"/>
              <a:t>Cloud Flexibility:</a:t>
            </a:r>
            <a:r>
              <a:rPr lang="en-US" sz="1400" dirty="0"/>
              <a:t> Eliminates the need for expensive on-premises hardware and physical server maintenance.</a:t>
            </a:r>
          </a:p>
          <a:p>
            <a:pPr marL="363538" indent="-273050">
              <a:spcAft>
                <a:spcPts val="600"/>
              </a:spcAft>
              <a:buSzPct val="100000"/>
            </a:pPr>
            <a:r>
              <a:rPr lang="en-US" sz="1400" b="1" dirty="0"/>
              <a:t>Scalable Resources:</a:t>
            </a:r>
            <a:r>
              <a:rPr lang="en-US" sz="1400" dirty="0"/>
              <a:t> Cloud computing allows businesses to pay only for the technology resources they actually use.</a:t>
            </a:r>
          </a:p>
          <a:p>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7467600" cy="493563"/>
          </a:xfrm>
        </p:spPr>
        <p:txBody>
          <a:bodyPr>
            <a:normAutofit/>
          </a:bodyPr>
          <a:lstStyle/>
          <a:p>
            <a:r>
              <a:rPr lang="en-US" sz="2600" b="1" dirty="0">
                <a:solidFill>
                  <a:schemeClr val="accent1">
                    <a:lumMod val="75000"/>
                  </a:schemeClr>
                </a:solidFill>
              </a:rPr>
              <a:t>Enterprise Resource Planning (ERP)</a:t>
            </a:r>
          </a:p>
        </p:txBody>
      </p:sp>
      <p:sp>
        <p:nvSpPr>
          <p:cNvPr id="3" name="Content Placeholder 2"/>
          <p:cNvSpPr>
            <a:spLocks noGrp="1"/>
          </p:cNvSpPr>
          <p:nvPr>
            <p:ph sz="quarter" idx="1"/>
          </p:nvPr>
        </p:nvSpPr>
        <p:spPr>
          <a:xfrm>
            <a:off x="457200" y="771550"/>
            <a:ext cx="7467600" cy="3883914"/>
          </a:xfrm>
        </p:spPr>
        <p:txBody>
          <a:bodyPr>
            <a:noAutofit/>
          </a:bodyPr>
          <a:lstStyle/>
          <a:p>
            <a:pPr>
              <a:spcAft>
                <a:spcPts val="600"/>
              </a:spcAft>
              <a:buSzPct val="100000"/>
            </a:pPr>
            <a:r>
              <a:rPr lang="en-US" sz="1400" b="1" dirty="0"/>
              <a:t>Centralized Integration:</a:t>
            </a:r>
            <a:r>
              <a:rPr lang="en-US" sz="1400" dirty="0"/>
              <a:t> ERP acts as a unified platform that integrates all essential business processes—such as finance, HR, and sales—into a single system.</a:t>
            </a:r>
          </a:p>
          <a:p>
            <a:pPr>
              <a:spcAft>
                <a:spcPts val="600"/>
              </a:spcAft>
              <a:buSzPct val="100000"/>
            </a:pPr>
            <a:r>
              <a:rPr lang="en-US" sz="1400" b="1" dirty="0"/>
              <a:t>Single Source of Truth:</a:t>
            </a:r>
            <a:r>
              <a:rPr lang="en-US" sz="1400" dirty="0"/>
              <a:t> By consolidating data from various departments, it ensures that everyone in the company is working with the same, accurate information.</a:t>
            </a:r>
          </a:p>
          <a:p>
            <a:pPr>
              <a:spcAft>
                <a:spcPts val="600"/>
              </a:spcAft>
              <a:buSzPct val="100000"/>
            </a:pPr>
            <a:r>
              <a:rPr lang="en-US" sz="1400" b="1" dirty="0"/>
              <a:t>Operational Planning:</a:t>
            </a:r>
            <a:r>
              <a:rPr lang="en-US" sz="1400" dirty="0"/>
              <a:t> The software helps companies implement effective resource planning by connecting purchasing, inventory, and production schedules.</a:t>
            </a:r>
          </a:p>
          <a:p>
            <a:pPr>
              <a:spcAft>
                <a:spcPts val="600"/>
              </a:spcAft>
              <a:buSzPct val="100000"/>
            </a:pPr>
            <a:r>
              <a:rPr lang="en-US" sz="1400" b="1" dirty="0"/>
              <a:t>Cross-Functional Sync:</a:t>
            </a:r>
            <a:r>
              <a:rPr lang="en-US" sz="1400" dirty="0"/>
              <a:t> It bridges the gap between different wings of a business, allowing marketing, sales, and finance to share data seamlessly.</a:t>
            </a:r>
          </a:p>
          <a:p>
            <a:pPr>
              <a:spcAft>
                <a:spcPts val="600"/>
              </a:spcAft>
              <a:buSzPct val="100000"/>
            </a:pPr>
            <a:r>
              <a:rPr lang="en-US" sz="1400" b="1" dirty="0"/>
              <a:t>Process Automation:</a:t>
            </a:r>
            <a:r>
              <a:rPr lang="en-US" sz="1400" dirty="0"/>
              <a:t> ERP systems automate routine tasks across departments, reducing manual data entry and minimizing human error.</a:t>
            </a:r>
          </a:p>
          <a:p>
            <a:pPr>
              <a:spcAft>
                <a:spcPts val="600"/>
              </a:spcAft>
              <a:buSzPct val="100000"/>
            </a:pPr>
            <a:r>
              <a:rPr lang="en-US" sz="1400" b="1" dirty="0"/>
              <a:t>Enhanced Visibility:</a:t>
            </a:r>
            <a:r>
              <a:rPr lang="en-US" sz="1400" dirty="0"/>
              <a:t> Management gains a "birds-eye view" of the entire organization, making it easier to track performance and identify bottlenecks.</a:t>
            </a:r>
          </a:p>
          <a:p>
            <a:pPr>
              <a:spcAft>
                <a:spcPts val="600"/>
              </a:spcAft>
              <a:buSzPct val="100000"/>
            </a:pPr>
            <a:r>
              <a:rPr lang="en-US" sz="1400" b="1" dirty="0"/>
              <a:t>Strategic Decision-Making:</a:t>
            </a:r>
            <a:r>
              <a:rPr lang="en-US" sz="1400" dirty="0"/>
              <a:t> With real-time data from every corner of the company, leaders can make faster, evidence-based decisions to drive growth.</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9502"/>
            <a:ext cx="7467600" cy="613171"/>
          </a:xfrm>
        </p:spPr>
        <p:txBody>
          <a:bodyPr>
            <a:noAutofit/>
          </a:bodyPr>
          <a:lstStyle/>
          <a:p>
            <a:r>
              <a:rPr lang="en-US" sz="2600" b="1" dirty="0">
                <a:solidFill>
                  <a:schemeClr val="accent1">
                    <a:lumMod val="75000"/>
                  </a:schemeClr>
                </a:solidFill>
              </a:rPr>
              <a:t>Enterprise Resource Planning Platforms Working</a:t>
            </a:r>
            <a:endParaRPr lang="en-US" sz="2600" dirty="0">
              <a:solidFill>
                <a:schemeClr val="accent1">
                  <a:lumMod val="75000"/>
                </a:schemeClr>
              </a:solidFill>
            </a:endParaRPr>
          </a:p>
        </p:txBody>
      </p:sp>
      <p:sp>
        <p:nvSpPr>
          <p:cNvPr id="3" name="Content Placeholder 2"/>
          <p:cNvSpPr>
            <a:spLocks noGrp="1"/>
          </p:cNvSpPr>
          <p:nvPr>
            <p:ph sz="quarter" idx="1"/>
          </p:nvPr>
        </p:nvSpPr>
        <p:spPr>
          <a:xfrm>
            <a:off x="476200" y="987574"/>
            <a:ext cx="7696200" cy="3731514"/>
          </a:xfrm>
        </p:spPr>
        <p:txBody>
          <a:bodyPr>
            <a:noAutofit/>
          </a:bodyPr>
          <a:lstStyle/>
          <a:p>
            <a:pPr>
              <a:spcAft>
                <a:spcPts val="600"/>
              </a:spcAft>
              <a:buSzPct val="100000"/>
            </a:pPr>
            <a:r>
              <a:rPr lang="en-US" sz="1400" b="1" dirty="0"/>
              <a:t>Evolution to the Cloud:</a:t>
            </a:r>
            <a:r>
              <a:rPr lang="en-US" sz="1400" dirty="0"/>
              <a:t> Modern ERPs have shifted from physical, on-premise servers and manual entry to cloud-based platforms accessible via the web.</a:t>
            </a:r>
          </a:p>
          <a:p>
            <a:pPr>
              <a:spcAft>
                <a:spcPts val="600"/>
              </a:spcAft>
              <a:buSzPct val="100000"/>
            </a:pPr>
            <a:r>
              <a:rPr lang="en-US" sz="1400" b="1" dirty="0"/>
              <a:t>Service-Based Model:</a:t>
            </a:r>
            <a:r>
              <a:rPr lang="en-US" sz="1400" dirty="0"/>
              <a:t> The platform is typically maintained by a provider, with businesses renting the software as a service (</a:t>
            </a:r>
            <a:r>
              <a:rPr lang="en-US" sz="1400" dirty="0" err="1"/>
              <a:t>SaaS</a:t>
            </a:r>
            <a:r>
              <a:rPr lang="en-US" sz="1400" dirty="0"/>
              <a:t>) rather than owning the physical infrastructure.</a:t>
            </a:r>
          </a:p>
          <a:p>
            <a:pPr>
              <a:spcAft>
                <a:spcPts val="600"/>
              </a:spcAft>
              <a:buSzPct val="100000"/>
            </a:pPr>
            <a:r>
              <a:rPr lang="en-US" sz="1400" b="1" dirty="0"/>
              <a:t>Modular Customization:</a:t>
            </a:r>
            <a:r>
              <a:rPr lang="en-US" sz="1400" dirty="0"/>
              <a:t> Businesses have the flexibility to select only the specific applications (e.g., HR, Finance, or Logistics) that fit their unique operational needs.</a:t>
            </a:r>
          </a:p>
          <a:p>
            <a:pPr>
              <a:spcAft>
                <a:spcPts val="600"/>
              </a:spcAft>
              <a:buSzPct val="100000"/>
            </a:pPr>
            <a:r>
              <a:rPr lang="en-US" sz="1400" b="1" dirty="0"/>
              <a:t>Phased Integration:</a:t>
            </a:r>
            <a:r>
              <a:rPr lang="en-US" sz="1400" dirty="0"/>
              <a:t> The provider loads the chosen apps onto a rented server, followed by a collaborative process to integrate the company’s existing data into the system.</a:t>
            </a:r>
          </a:p>
          <a:p>
            <a:pPr>
              <a:spcAft>
                <a:spcPts val="600"/>
              </a:spcAft>
              <a:buSzPct val="100000"/>
            </a:pPr>
            <a:r>
              <a:rPr lang="en-US" sz="1400" b="1" dirty="0"/>
              <a:t>Unified Data Collection:</a:t>
            </a:r>
            <a:r>
              <a:rPr lang="en-US" sz="1400" dirty="0"/>
              <a:t> Once all departments are "tied in," all organizational data is stored on a single server, creating a centralized digital hub.</a:t>
            </a:r>
          </a:p>
          <a:p>
            <a:pPr>
              <a:spcAft>
                <a:spcPts val="600"/>
              </a:spcAft>
              <a:buSzPct val="100000"/>
            </a:pPr>
            <a:r>
              <a:rPr lang="en-US" sz="1400" b="1" dirty="0"/>
              <a:t>Real-Time Accessibility:</a:t>
            </a:r>
            <a:r>
              <a:rPr lang="en-US" sz="1400" dirty="0"/>
              <a:t> Information becomes instantly available to authorized users across the company, breaking down communication silos between departments.</a:t>
            </a:r>
          </a:p>
          <a:p>
            <a:pPr>
              <a:spcAft>
                <a:spcPts val="600"/>
              </a:spcAft>
              <a:buSzPct val="100000"/>
            </a:pPr>
            <a:r>
              <a:rPr lang="en-US" sz="1400" b="1" dirty="0"/>
              <a:t>Automated Reporting:</a:t>
            </a:r>
            <a:r>
              <a:rPr lang="en-US" sz="1400" dirty="0"/>
              <a:t> The system generates real-time metrics, graphs, and visual aids, allowing management to monitor performance and make quick, data-driven adjustments.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3478"/>
            <a:ext cx="7467600" cy="536971"/>
          </a:xfrm>
        </p:spPr>
        <p:txBody>
          <a:bodyPr>
            <a:normAutofit/>
          </a:bodyPr>
          <a:lstStyle/>
          <a:p>
            <a:r>
              <a:rPr lang="en-US" sz="2600" b="1" dirty="0">
                <a:solidFill>
                  <a:schemeClr val="accent1">
                    <a:lumMod val="75000"/>
                  </a:schemeClr>
                </a:solidFill>
              </a:rPr>
              <a:t>Types of ERP Systems</a:t>
            </a:r>
          </a:p>
        </p:txBody>
      </p:sp>
      <p:sp>
        <p:nvSpPr>
          <p:cNvPr id="3" name="Content Placeholder 2"/>
          <p:cNvSpPr>
            <a:spLocks noGrp="1"/>
          </p:cNvSpPr>
          <p:nvPr>
            <p:ph sz="quarter" idx="1"/>
          </p:nvPr>
        </p:nvSpPr>
        <p:spPr>
          <a:xfrm>
            <a:off x="457200" y="742950"/>
            <a:ext cx="7715200" cy="4112514"/>
          </a:xfrm>
        </p:spPr>
        <p:txBody>
          <a:bodyPr>
            <a:noAutofit/>
          </a:bodyPr>
          <a:lstStyle/>
          <a:p>
            <a:pPr marL="342900" indent="-342900">
              <a:lnSpc>
                <a:spcPct val="110000"/>
              </a:lnSpc>
              <a:spcBef>
                <a:spcPts val="0"/>
              </a:spcBef>
              <a:spcAft>
                <a:spcPts val="600"/>
              </a:spcAft>
              <a:buSzPct val="100000"/>
              <a:buFont typeface="+mj-lt"/>
              <a:buAutoNum type="arabicPeriod"/>
            </a:pPr>
            <a:r>
              <a:rPr lang="en-US" sz="1400" b="1" dirty="0"/>
              <a:t>On-Premise ERP</a:t>
            </a:r>
          </a:p>
          <a:p>
            <a:pPr marL="363538" indent="-273050">
              <a:lnSpc>
                <a:spcPct val="110000"/>
              </a:lnSpc>
              <a:spcBef>
                <a:spcPts val="0"/>
              </a:spcBef>
              <a:spcAft>
                <a:spcPts val="600"/>
              </a:spcAft>
              <a:buSzPct val="100000"/>
            </a:pPr>
            <a:r>
              <a:rPr lang="en-US" sz="1400" b="1" dirty="0"/>
              <a:t>Direct Control:</a:t>
            </a:r>
            <a:r>
              <a:rPr lang="en-US" sz="1400" dirty="0"/>
              <a:t> Software is installed on the company's own physical servers, giving them full ownership and control over their data.</a:t>
            </a:r>
          </a:p>
          <a:p>
            <a:pPr marL="363538" indent="-273050">
              <a:lnSpc>
                <a:spcPct val="110000"/>
              </a:lnSpc>
              <a:spcBef>
                <a:spcPts val="0"/>
              </a:spcBef>
              <a:spcAft>
                <a:spcPts val="600"/>
              </a:spcAft>
              <a:buSzPct val="100000"/>
            </a:pPr>
            <a:r>
              <a:rPr lang="en-US" sz="1400" b="1" dirty="0"/>
              <a:t>High Customization:</a:t>
            </a:r>
            <a:r>
              <a:rPr lang="en-US" sz="1400" dirty="0"/>
              <a:t> Allows for extensive integration with existing systems, though it requires a dedicated internal IT team for maintenance and security.</a:t>
            </a:r>
          </a:p>
          <a:p>
            <a:pPr marL="342900" indent="-342900">
              <a:lnSpc>
                <a:spcPct val="110000"/>
              </a:lnSpc>
              <a:spcBef>
                <a:spcPts val="0"/>
              </a:spcBef>
              <a:spcAft>
                <a:spcPts val="600"/>
              </a:spcAft>
              <a:buSzPct val="100000"/>
              <a:buFont typeface="+mj-lt"/>
              <a:buAutoNum type="arabicPeriod" startAt="2"/>
            </a:pPr>
            <a:r>
              <a:rPr lang="en-US" sz="1400" b="1" dirty="0"/>
              <a:t>Cloud ERP</a:t>
            </a:r>
          </a:p>
          <a:p>
            <a:pPr marL="363538" indent="-273050">
              <a:lnSpc>
                <a:spcPct val="110000"/>
              </a:lnSpc>
              <a:spcBef>
                <a:spcPts val="0"/>
              </a:spcBef>
              <a:spcAft>
                <a:spcPts val="600"/>
              </a:spcAft>
              <a:buSzPct val="100000"/>
            </a:pPr>
            <a:r>
              <a:rPr lang="en-US" sz="1400" b="1" dirty="0"/>
              <a:t>Web-Based Access:</a:t>
            </a:r>
            <a:r>
              <a:rPr lang="en-US" sz="1400" dirty="0"/>
              <a:t> Hosted on remote servers and accessed via the internet, usually through a subscription-based (</a:t>
            </a:r>
            <a:r>
              <a:rPr lang="en-US" sz="1400" dirty="0" err="1"/>
              <a:t>SaaS</a:t>
            </a:r>
            <a:r>
              <a:rPr lang="en-US" sz="1400" dirty="0"/>
              <a:t>) model.</a:t>
            </a:r>
          </a:p>
          <a:p>
            <a:pPr marL="363538" indent="-273050">
              <a:lnSpc>
                <a:spcPct val="110000"/>
              </a:lnSpc>
              <a:spcBef>
                <a:spcPts val="0"/>
              </a:spcBef>
              <a:spcAft>
                <a:spcPts val="600"/>
              </a:spcAft>
              <a:buSzPct val="100000"/>
            </a:pPr>
            <a:r>
              <a:rPr lang="en-US" sz="1400" b="1" dirty="0"/>
              <a:t>Scalability:</a:t>
            </a:r>
            <a:r>
              <a:rPr lang="en-US" sz="1400" dirty="0"/>
              <a:t> Offers better flexibility to adjust resources as the business grows without needing significant upfront hardware investment.</a:t>
            </a:r>
          </a:p>
          <a:p>
            <a:pPr marL="342900" indent="-342900">
              <a:lnSpc>
                <a:spcPct val="110000"/>
              </a:lnSpc>
              <a:spcBef>
                <a:spcPts val="0"/>
              </a:spcBef>
              <a:spcAft>
                <a:spcPts val="600"/>
              </a:spcAft>
              <a:buSzPct val="100000"/>
              <a:buFont typeface="+mj-lt"/>
              <a:buAutoNum type="arabicPeriod" startAt="3"/>
            </a:pPr>
            <a:r>
              <a:rPr lang="en-US" sz="1400" b="1" dirty="0"/>
              <a:t>Industry-Specific ERP</a:t>
            </a:r>
          </a:p>
          <a:p>
            <a:pPr marL="363538" indent="-273050">
              <a:lnSpc>
                <a:spcPct val="110000"/>
              </a:lnSpc>
              <a:spcBef>
                <a:spcPts val="0"/>
              </a:spcBef>
              <a:spcAft>
                <a:spcPts val="600"/>
              </a:spcAft>
              <a:buSzPct val="100000"/>
            </a:pPr>
            <a:r>
              <a:rPr lang="en-US" sz="1400" b="1" dirty="0"/>
              <a:t>Niche Functionality:</a:t>
            </a:r>
            <a:r>
              <a:rPr lang="en-US" sz="1400" dirty="0"/>
              <a:t> Tailored with specific modules to meet the unique requirements of a particular field, such as manufacturing or healthcare.</a:t>
            </a:r>
          </a:p>
          <a:p>
            <a:pPr marL="363538" indent="-273050">
              <a:lnSpc>
                <a:spcPct val="110000"/>
              </a:lnSpc>
              <a:spcBef>
                <a:spcPts val="0"/>
              </a:spcBef>
              <a:spcAft>
                <a:spcPts val="600"/>
              </a:spcAft>
              <a:buSzPct val="100000"/>
            </a:pPr>
            <a:r>
              <a:rPr lang="en-US" sz="1400" b="1" dirty="0"/>
              <a:t>Best Practices:</a:t>
            </a:r>
            <a:r>
              <a:rPr lang="en-US" sz="1400" dirty="0"/>
              <a:t> Built-in workflows address industry-specific complexities, like specialized supply chain tracking or regulatory compliance.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285750"/>
            <a:ext cx="7467600" cy="4569714"/>
          </a:xfrm>
        </p:spPr>
        <p:txBody>
          <a:bodyPr>
            <a:normAutofit/>
          </a:bodyPr>
          <a:lstStyle/>
          <a:p>
            <a:pPr marL="457200" indent="-457200">
              <a:spcBef>
                <a:spcPts val="1200"/>
              </a:spcBef>
              <a:spcAft>
                <a:spcPts val="1200"/>
              </a:spcAft>
              <a:buSzPct val="100000"/>
              <a:buFont typeface="+mj-lt"/>
              <a:buAutoNum type="arabicPeriod" startAt="4"/>
            </a:pPr>
            <a:r>
              <a:rPr lang="en-US" sz="1400" b="1" dirty="0"/>
              <a:t>Open-Source ERP</a:t>
            </a:r>
          </a:p>
          <a:p>
            <a:pPr marL="446088" indent="-273050">
              <a:buSzPct val="100000"/>
            </a:pPr>
            <a:r>
              <a:rPr lang="en-US" sz="1400" b="1" dirty="0"/>
              <a:t>Code Accessibility:</a:t>
            </a:r>
            <a:r>
              <a:rPr lang="en-US" sz="1400" dirty="0"/>
              <a:t> Provides access to the source code, allowing a company’s developers to modify or redistribute the software to fit exact needs.</a:t>
            </a:r>
          </a:p>
          <a:p>
            <a:pPr marL="446088" indent="-273050">
              <a:buSzPct val="100000"/>
            </a:pPr>
            <a:r>
              <a:rPr lang="en-US" sz="1400" b="1" dirty="0"/>
              <a:t>Technical Demand:</a:t>
            </a:r>
            <a:r>
              <a:rPr lang="en-US" sz="1400" dirty="0"/>
              <a:t> Requires significant internal technical expertise to implement and maintain compared to "out-of-the-box" commercial solutions.</a:t>
            </a:r>
          </a:p>
          <a:p>
            <a:pPr marL="457200" indent="-457200">
              <a:spcBef>
                <a:spcPts val="1200"/>
              </a:spcBef>
              <a:spcAft>
                <a:spcPts val="1200"/>
              </a:spcAft>
              <a:buSzPct val="100000"/>
              <a:buFont typeface="+mj-lt"/>
              <a:buAutoNum type="arabicPeriod" startAt="5"/>
            </a:pPr>
            <a:r>
              <a:rPr lang="en-US" sz="1400" b="1" dirty="0"/>
              <a:t>Small Business ERP</a:t>
            </a:r>
          </a:p>
          <a:p>
            <a:pPr marL="446088" indent="-273050">
              <a:buSzPct val="100000"/>
            </a:pPr>
            <a:r>
              <a:rPr lang="en-US" sz="1400" b="1" dirty="0"/>
              <a:t>Essential Focus:</a:t>
            </a:r>
            <a:r>
              <a:rPr lang="en-US" sz="1400" dirty="0"/>
              <a:t> Designed for small and medium-sized businesses (SMBs) by offering core functionalities at a more affordable price point.</a:t>
            </a:r>
          </a:p>
          <a:p>
            <a:pPr marL="446088" indent="-273050">
              <a:buSzPct val="100000"/>
            </a:pPr>
            <a:r>
              <a:rPr lang="en-US" sz="1400" b="1" dirty="0"/>
              <a:t>Ease of Use:</a:t>
            </a:r>
            <a:r>
              <a:rPr lang="en-US" sz="1400" dirty="0"/>
              <a:t> These systems are less complex and faster to implement, requiring minimal customization to get started.</a:t>
            </a:r>
          </a:p>
          <a:p>
            <a:pPr marL="457200" indent="-457200">
              <a:spcBef>
                <a:spcPts val="1200"/>
              </a:spcBef>
              <a:spcAft>
                <a:spcPts val="1200"/>
              </a:spcAft>
              <a:buSzPct val="100000"/>
              <a:buFont typeface="+mj-lt"/>
              <a:buAutoNum type="arabicPeriod" startAt="6"/>
            </a:pPr>
            <a:r>
              <a:rPr lang="en-US" sz="1400" b="1" dirty="0"/>
              <a:t>Tiered ERP</a:t>
            </a:r>
          </a:p>
          <a:p>
            <a:pPr marL="446088" indent="-273050">
              <a:buSzPct val="100000"/>
            </a:pPr>
            <a:r>
              <a:rPr lang="en-US" sz="1400" b="1" dirty="0"/>
              <a:t>Scalable Levels:</a:t>
            </a:r>
            <a:r>
              <a:rPr lang="en-US" sz="1400" dirty="0"/>
              <a:t> Offers different tiers of functionality so companies can choose a version that matches their current budget and size.</a:t>
            </a:r>
          </a:p>
          <a:p>
            <a:pPr marL="446088" indent="-273050">
              <a:buSzPct val="100000"/>
            </a:pPr>
            <a:r>
              <a:rPr lang="en-US" sz="1400" b="1" dirty="0"/>
              <a:t>Modular Growth:</a:t>
            </a:r>
            <a:r>
              <a:rPr lang="en-US" sz="1400" dirty="0"/>
              <a:t> Allows businesses to add more advanced modules (like foreign currency or international logistics) only when they become necessary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7467600" cy="493563"/>
          </a:xfrm>
        </p:spPr>
        <p:txBody>
          <a:bodyPr>
            <a:normAutofit/>
          </a:bodyPr>
          <a:lstStyle/>
          <a:p>
            <a:r>
              <a:rPr lang="en-US" sz="2600" b="1" dirty="0">
                <a:solidFill>
                  <a:schemeClr val="accent1">
                    <a:lumMod val="75000"/>
                  </a:schemeClr>
                </a:solidFill>
              </a:rPr>
              <a:t>Benefits of ERP</a:t>
            </a:r>
            <a:endParaRPr lang="en-US" sz="2600" dirty="0">
              <a:solidFill>
                <a:schemeClr val="accent1">
                  <a:lumMod val="75000"/>
                </a:schemeClr>
              </a:solidFill>
            </a:endParaRPr>
          </a:p>
        </p:txBody>
      </p:sp>
      <p:sp>
        <p:nvSpPr>
          <p:cNvPr id="3" name="Content Placeholder 2"/>
          <p:cNvSpPr>
            <a:spLocks noGrp="1"/>
          </p:cNvSpPr>
          <p:nvPr>
            <p:ph sz="quarter" idx="1"/>
          </p:nvPr>
        </p:nvSpPr>
        <p:spPr>
          <a:xfrm>
            <a:off x="457200" y="792092"/>
            <a:ext cx="7467600" cy="4155922"/>
          </a:xfrm>
        </p:spPr>
        <p:txBody>
          <a:bodyPr>
            <a:normAutofit/>
          </a:bodyPr>
          <a:lstStyle/>
          <a:p>
            <a:pPr>
              <a:spcAft>
                <a:spcPts val="600"/>
              </a:spcAft>
              <a:buSzPct val="100000"/>
            </a:pPr>
            <a:r>
              <a:rPr lang="en-US" sz="1400" b="1" dirty="0"/>
              <a:t>Accuracy and Productivity:</a:t>
            </a:r>
            <a:r>
              <a:rPr lang="en-US" sz="1400" dirty="0"/>
              <a:t> Eliminates redundancies and synchronizes interconnected departments for faster, error-free outcomes.</a:t>
            </a:r>
          </a:p>
          <a:p>
            <a:pPr>
              <a:spcAft>
                <a:spcPts val="600"/>
              </a:spcAft>
              <a:buSzPct val="100000"/>
            </a:pPr>
            <a:r>
              <a:rPr lang="en-US" sz="1400" b="1" dirty="0"/>
              <a:t>Real-Time Reporting:</a:t>
            </a:r>
            <a:r>
              <a:rPr lang="en-US" sz="1400" dirty="0"/>
              <a:t> Provides a single source of truth for accurate budgeting, forecasting, and transparent communication with stakeholders.</a:t>
            </a:r>
          </a:p>
          <a:p>
            <a:pPr>
              <a:spcAft>
                <a:spcPts val="600"/>
              </a:spcAft>
              <a:buSzPct val="100000"/>
            </a:pPr>
            <a:r>
              <a:rPr lang="en-US" sz="1400" b="1" dirty="0"/>
              <a:t>Operational Efficiency:</a:t>
            </a:r>
            <a:r>
              <a:rPr lang="en-US" sz="1400" dirty="0"/>
              <a:t> Enables instant access to data for partners and clients, leading to quicker response rates and reduced operational costs.</a:t>
            </a:r>
          </a:p>
          <a:p>
            <a:pPr>
              <a:spcAft>
                <a:spcPts val="600"/>
              </a:spcAft>
              <a:buSzPct val="100000"/>
            </a:pPr>
            <a:r>
              <a:rPr lang="en-US" sz="1400" b="1" dirty="0"/>
              <a:t>Customer and Employee Satisfaction:</a:t>
            </a:r>
            <a:r>
              <a:rPr lang="en-US" sz="1400" dirty="0"/>
              <a:t> Improves service speed and workplace morale by streamlining daily interactions and workflows.</a:t>
            </a:r>
          </a:p>
          <a:p>
            <a:pPr>
              <a:spcAft>
                <a:spcPts val="600"/>
              </a:spcAft>
              <a:buSzPct val="100000"/>
            </a:pPr>
            <a:r>
              <a:rPr lang="en-US" sz="1400" b="1" dirty="0"/>
              <a:t>Enhanced Collaboration:</a:t>
            </a:r>
            <a:r>
              <a:rPr lang="en-US" sz="1400" dirty="0"/>
              <a:t> Breaks down departmental silos, allowing the workforce to share knowledge and align with the company’s vision.</a:t>
            </a:r>
          </a:p>
          <a:p>
            <a:pPr>
              <a:spcAft>
                <a:spcPts val="600"/>
              </a:spcAft>
              <a:buSzPct val="100000"/>
            </a:pPr>
            <a:r>
              <a:rPr lang="en-US" sz="1400" b="1" dirty="0"/>
              <a:t>Task Optimization:</a:t>
            </a:r>
            <a:r>
              <a:rPr lang="en-US" sz="1400" dirty="0"/>
              <a:t> Eliminates menial and manual data entry, freeing employees to focus on more meaningful, strategic work.</a:t>
            </a:r>
          </a:p>
          <a:p>
            <a:pPr>
              <a:spcAft>
                <a:spcPts val="600"/>
              </a:spcAft>
              <a:buSzPct val="100000"/>
            </a:pPr>
            <a:r>
              <a:rPr lang="en-US" sz="1400" b="1" dirty="0"/>
              <a:t>Synergized Workforce:</a:t>
            </a:r>
            <a:r>
              <a:rPr lang="en-US" sz="1400" dirty="0"/>
              <a:t> Helps every functional group understand their specific contribution to the organization’s overall mission.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9995"/>
            <a:ext cx="7467600" cy="493563"/>
          </a:xfrm>
        </p:spPr>
        <p:txBody>
          <a:bodyPr>
            <a:normAutofit/>
          </a:bodyPr>
          <a:lstStyle/>
          <a:p>
            <a:r>
              <a:rPr lang="en-US" sz="2600" b="1" dirty="0">
                <a:solidFill>
                  <a:schemeClr val="accent1">
                    <a:lumMod val="75000"/>
                  </a:schemeClr>
                </a:solidFill>
              </a:rPr>
              <a:t>Weaknesses  of ERP</a:t>
            </a:r>
            <a:endParaRPr lang="en-US" sz="2600" dirty="0">
              <a:solidFill>
                <a:schemeClr val="accent1">
                  <a:lumMod val="75000"/>
                </a:schemeClr>
              </a:solidFill>
            </a:endParaRPr>
          </a:p>
        </p:txBody>
      </p:sp>
      <p:sp>
        <p:nvSpPr>
          <p:cNvPr id="3" name="Content Placeholder 2"/>
          <p:cNvSpPr>
            <a:spLocks noGrp="1"/>
          </p:cNvSpPr>
          <p:nvPr>
            <p:ph sz="quarter" idx="1"/>
          </p:nvPr>
        </p:nvSpPr>
        <p:spPr>
          <a:xfrm>
            <a:off x="457200" y="971550"/>
            <a:ext cx="7620000" cy="3655314"/>
          </a:xfrm>
        </p:spPr>
        <p:txBody>
          <a:bodyPr>
            <a:noAutofit/>
          </a:bodyPr>
          <a:lstStyle/>
          <a:p>
            <a:pPr>
              <a:spcAft>
                <a:spcPts val="600"/>
              </a:spcAft>
              <a:buSzPct val="100000"/>
            </a:pPr>
            <a:r>
              <a:rPr lang="en-US" sz="1400" b="1" dirty="0"/>
              <a:t>Failure to Address Inefficiency:</a:t>
            </a:r>
            <a:r>
              <a:rPr lang="en-US" sz="1400" dirty="0"/>
              <a:t> An ERP system alone does not eliminate pre-existing business inefficiencies; companies must often rethink their organizational structure before the technology can be effective.</a:t>
            </a:r>
          </a:p>
          <a:p>
            <a:pPr>
              <a:spcAft>
                <a:spcPts val="600"/>
              </a:spcAft>
              <a:buSzPct val="100000"/>
            </a:pPr>
            <a:r>
              <a:rPr lang="en-US" sz="1400" b="1" dirty="0"/>
              <a:t>Resistance to Change:</a:t>
            </a:r>
            <a:r>
              <a:rPr lang="en-US" sz="1400" dirty="0"/>
              <a:t> Systems often fail to meet objectives because employees or management are reluctant to abandon familiar, old working processes in favor of new workflows.</a:t>
            </a:r>
          </a:p>
          <a:p>
            <a:pPr>
              <a:spcAft>
                <a:spcPts val="600"/>
              </a:spcAft>
              <a:buSzPct val="100000"/>
            </a:pPr>
            <a:r>
              <a:rPr lang="en-US" sz="1400" b="1" dirty="0"/>
              <a:t>Legacy Software Dependency:</a:t>
            </a:r>
            <a:r>
              <a:rPr lang="en-US" sz="1400" dirty="0"/>
              <a:t> A company’s attachment to outdated "legacy" software can create compatibility issues, preventing the ERP from becoming a truly integrated platform.</a:t>
            </a:r>
          </a:p>
          <a:p>
            <a:pPr>
              <a:spcAft>
                <a:spcPts val="600"/>
              </a:spcAft>
              <a:buSzPct val="100000"/>
            </a:pPr>
            <a:r>
              <a:rPr lang="en-US" sz="1400" b="1" dirty="0"/>
              <a:t>Implementation Complexity:</a:t>
            </a:r>
            <a:r>
              <a:rPr lang="en-US" sz="1400" dirty="0"/>
              <a:t> Poorly planned implementation can lead to a fragmented project, where the ERP is split into smaller, disconnected parts that fail to communicate.</a:t>
            </a:r>
          </a:p>
          <a:p>
            <a:pPr>
              <a:spcAft>
                <a:spcPts val="600"/>
              </a:spcAft>
              <a:buSzPct val="100000"/>
            </a:pPr>
            <a:r>
              <a:rPr lang="en-US" sz="1400" b="1" dirty="0"/>
              <a:t>Cost Overruns:</a:t>
            </a:r>
            <a:r>
              <a:rPr lang="en-US" sz="1400" dirty="0"/>
              <a:t> Due to the complexity of data migration and training, ERP projects are notorious for exceeding their initial budgets if not strictly managed.</a:t>
            </a:r>
          </a:p>
          <a:p>
            <a:pPr>
              <a:spcAft>
                <a:spcPts val="600"/>
              </a:spcAft>
              <a:buSzPct val="100000"/>
            </a:pPr>
            <a:r>
              <a:rPr lang="en-US" sz="1400" b="1" dirty="0"/>
              <a:t>Technological Incompatibility:</a:t>
            </a:r>
            <a:r>
              <a:rPr lang="en-US" sz="1400" dirty="0"/>
              <a:t> If a company doesn't modernize its hardware or existing digital infrastructure, the new ERP may end up being incompatible with current technology.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7467600" cy="613171"/>
          </a:xfrm>
        </p:spPr>
        <p:txBody>
          <a:bodyPr>
            <a:normAutofit/>
          </a:bodyPr>
          <a:lstStyle/>
          <a:p>
            <a:r>
              <a:rPr lang="en-US" sz="2600" b="1" dirty="0">
                <a:solidFill>
                  <a:schemeClr val="accent1">
                    <a:lumMod val="75000"/>
                  </a:schemeClr>
                </a:solidFill>
              </a:rPr>
              <a:t>ERP vs. CRM</a:t>
            </a:r>
            <a:endParaRPr lang="en-US" sz="2600" dirty="0">
              <a:solidFill>
                <a:schemeClr val="accent1">
                  <a:lumMod val="75000"/>
                </a:schemeClr>
              </a:solidFill>
            </a:endParaRPr>
          </a:p>
        </p:txBody>
      </p:sp>
      <p:sp>
        <p:nvSpPr>
          <p:cNvPr id="3" name="Content Placeholder 2"/>
          <p:cNvSpPr>
            <a:spLocks noGrp="1"/>
          </p:cNvSpPr>
          <p:nvPr>
            <p:ph sz="quarter" idx="1"/>
          </p:nvPr>
        </p:nvSpPr>
        <p:spPr>
          <a:xfrm>
            <a:off x="457200" y="932660"/>
            <a:ext cx="7467600" cy="3655314"/>
          </a:xfrm>
        </p:spPr>
        <p:txBody>
          <a:bodyPr>
            <a:noAutofit/>
          </a:bodyPr>
          <a:lstStyle/>
          <a:p>
            <a:pPr>
              <a:spcAft>
                <a:spcPts val="600"/>
              </a:spcAft>
              <a:buSzPct val="100000"/>
            </a:pPr>
            <a:r>
              <a:rPr lang="en-US" sz="1400" b="1" dirty="0"/>
              <a:t>Primary Focus:</a:t>
            </a:r>
            <a:r>
              <a:rPr lang="en-US" sz="1400" dirty="0"/>
              <a:t> ERP systems center on internal business operations and backend processes, whereas CRM platforms are dedicated to managing external interactions with customers and prospects.</a:t>
            </a:r>
          </a:p>
          <a:p>
            <a:pPr>
              <a:spcAft>
                <a:spcPts val="600"/>
              </a:spcAft>
              <a:buSzPct val="100000"/>
            </a:pPr>
            <a:r>
              <a:rPr lang="en-US" sz="1400" b="1" dirty="0"/>
              <a:t>Core Objectives:</a:t>
            </a:r>
            <a:r>
              <a:rPr lang="en-US" sz="1400" dirty="0"/>
              <a:t> The goal of an ERP is to streamline and automate core business functions, while the goal of a CRM is to enhance customer engagement, satisfaction, and long-term loyalty.</a:t>
            </a:r>
          </a:p>
          <a:p>
            <a:pPr>
              <a:spcAft>
                <a:spcPts val="600"/>
              </a:spcAft>
              <a:buSzPct val="100000"/>
            </a:pPr>
            <a:r>
              <a:rPr lang="en-US" sz="1400" b="1" dirty="0"/>
              <a:t>Functional Scope:</a:t>
            </a:r>
            <a:r>
              <a:rPr lang="en-US" sz="1400" dirty="0"/>
              <a:t> ERP handles wide-ranging tasks like finance, HR, and inventory; in contrast, CRM focuses on sales leads, marketing campaigns, and customer service inquiries.</a:t>
            </a:r>
          </a:p>
          <a:p>
            <a:pPr>
              <a:spcAft>
                <a:spcPts val="600"/>
              </a:spcAft>
              <a:buSzPct val="100000"/>
            </a:pPr>
            <a:r>
              <a:rPr lang="en-US" sz="1400" b="1" dirty="0"/>
              <a:t>Operational Synergy:</a:t>
            </a:r>
            <a:r>
              <a:rPr lang="en-US" sz="1400" dirty="0"/>
              <a:t> Modern systems often overlap, with many ERPs including built-in CRM modules to synchronize contact details, purchase history, and communication logs in one place.</a:t>
            </a:r>
          </a:p>
          <a:p>
            <a:pPr>
              <a:spcAft>
                <a:spcPts val="600"/>
              </a:spcAft>
              <a:buSzPct val="100000"/>
            </a:pPr>
            <a:r>
              <a:rPr lang="en-US" sz="1400" b="1" dirty="0"/>
              <a:t>Predictive Power:</a:t>
            </a:r>
            <a:r>
              <a:rPr lang="en-US" sz="1400" dirty="0"/>
              <a:t> Integrating CRM data into an ERP allows companies to use customer purchase history to predict re-order dates and manage supply chain requirements accordingly.</a:t>
            </a:r>
          </a:p>
          <a:p>
            <a:pPr>
              <a:spcAft>
                <a:spcPts val="600"/>
              </a:spcAft>
              <a:buSzPct val="100000"/>
            </a:pPr>
            <a:r>
              <a:rPr lang="en-US" sz="1400" b="1" dirty="0"/>
              <a:t>Resource Alignment:</a:t>
            </a:r>
            <a:r>
              <a:rPr lang="en-US" sz="1400" dirty="0"/>
              <a:t> By linking customer demand (from CRM) with internal operations (from ERP), businesses can ensure they have sufficient inventory and personnel on hand to fulfill potential orders.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7467600" cy="536971"/>
          </a:xfrm>
        </p:spPr>
        <p:txBody>
          <a:bodyPr>
            <a:normAutofit/>
          </a:bodyPr>
          <a:lstStyle/>
          <a:p>
            <a:r>
              <a:rPr lang="en-US" sz="2600" b="1" dirty="0">
                <a:solidFill>
                  <a:schemeClr val="accent1">
                    <a:lumMod val="75000"/>
                  </a:schemeClr>
                </a:solidFill>
              </a:rPr>
              <a:t>Business, IT, and Alignment Capability</a:t>
            </a:r>
          </a:p>
        </p:txBody>
      </p:sp>
      <p:sp>
        <p:nvSpPr>
          <p:cNvPr id="3" name="Content Placeholder 2"/>
          <p:cNvSpPr>
            <a:spLocks noGrp="1"/>
          </p:cNvSpPr>
          <p:nvPr>
            <p:ph sz="quarter" idx="1"/>
          </p:nvPr>
        </p:nvSpPr>
        <p:spPr>
          <a:xfrm>
            <a:off x="457200" y="862504"/>
            <a:ext cx="7467600" cy="4229526"/>
          </a:xfrm>
        </p:spPr>
        <p:txBody>
          <a:bodyPr>
            <a:noAutofit/>
          </a:bodyPr>
          <a:lstStyle/>
          <a:p>
            <a:pPr>
              <a:spcAft>
                <a:spcPts val="600"/>
              </a:spcAft>
              <a:buSzPct val="100000"/>
            </a:pPr>
            <a:r>
              <a:rPr lang="en-US" sz="1400" b="1" dirty="0"/>
              <a:t>Strategic Alignment:</a:t>
            </a:r>
            <a:r>
              <a:rPr lang="en-US" sz="1400" dirty="0"/>
              <a:t> This is the continuous process of ensuring IT objectives directly support and advance the core mission and business plans of the organization.</a:t>
            </a:r>
          </a:p>
          <a:p>
            <a:pPr>
              <a:spcAft>
                <a:spcPts val="600"/>
              </a:spcAft>
              <a:buSzPct val="100000"/>
            </a:pPr>
            <a:r>
              <a:rPr lang="en-US" sz="1400" b="1" dirty="0"/>
              <a:t>Alignment as a "Capability":</a:t>
            </a:r>
            <a:r>
              <a:rPr lang="en-US" sz="1400" dirty="0"/>
              <a:t> Rather than a one-time setup, alignment is a measurable organizational </a:t>
            </a:r>
            <a:r>
              <a:rPr lang="en-US" sz="1400" b="1" dirty="0"/>
              <a:t>skill</a:t>
            </a:r>
            <a:r>
              <a:rPr lang="en-US" sz="1400" dirty="0"/>
              <a:t> or maturity level that determines how effectively a company responds to change.</a:t>
            </a:r>
          </a:p>
          <a:p>
            <a:pPr>
              <a:spcAft>
                <a:spcPts val="600"/>
              </a:spcAft>
              <a:buSzPct val="100000"/>
            </a:pPr>
            <a:r>
              <a:rPr lang="en-US" sz="1400" b="1" dirty="0"/>
              <a:t>The "Innovative" Advantage:</a:t>
            </a:r>
            <a:r>
              <a:rPr lang="en-US" sz="1400" dirty="0"/>
              <a:t> Companies that treat IT as a </a:t>
            </a:r>
            <a:r>
              <a:rPr lang="en-US" sz="1400" b="1" dirty="0"/>
              <a:t>driver of innovation</a:t>
            </a:r>
            <a:r>
              <a:rPr lang="en-US" sz="1400" dirty="0"/>
              <a:t> demonstrate significantly higher alignment maturity than those that view IT as a basic "essential" utility.</a:t>
            </a:r>
          </a:p>
          <a:p>
            <a:pPr>
              <a:spcAft>
                <a:spcPts val="600"/>
              </a:spcAft>
              <a:buSzPct val="100000"/>
            </a:pPr>
            <a:r>
              <a:rPr lang="en-US" sz="1400" b="1" dirty="0"/>
              <a:t>Strategy Matching:</a:t>
            </a:r>
            <a:r>
              <a:rPr lang="en-US" sz="1400" dirty="0"/>
              <a:t> While various business strategies exist, research shows that "progressive" technology roadmaps create the most effective strategic "fit" for market success.</a:t>
            </a:r>
          </a:p>
          <a:p>
            <a:pPr>
              <a:spcAft>
                <a:spcPts val="600"/>
              </a:spcAft>
              <a:buSzPct val="100000"/>
            </a:pPr>
            <a:r>
              <a:rPr lang="en-US" sz="1400" b="1" dirty="0"/>
              <a:t>Moving Beyond Support:</a:t>
            </a:r>
            <a:r>
              <a:rPr lang="en-US" sz="1400" dirty="0"/>
              <a:t> To stay competitive, IT must transition from a "back-office enabler" (focused on cost) to a "strategic partner" (focused on value creation and transformation).</a:t>
            </a:r>
          </a:p>
          <a:p>
            <a:pPr>
              <a:spcAft>
                <a:spcPts val="600"/>
              </a:spcAft>
              <a:buSzPct val="100000"/>
            </a:pPr>
            <a:r>
              <a:rPr lang="en-US" sz="1400" b="1" dirty="0"/>
              <a:t>The Human Connection:</a:t>
            </a:r>
            <a:r>
              <a:rPr lang="en-US" sz="1400" dirty="0"/>
              <a:t> High alignment capability depends on frequent communication and a shared vision between business executives and IT leadership to bridge the "IT-Business gap."</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DB073DD-7680-E602-9214-B830FDFC1C8D}"/>
              </a:ext>
            </a:extLst>
          </p:cNvPr>
          <p:cNvSpPr>
            <a:spLocks noGrp="1"/>
          </p:cNvSpPr>
          <p:nvPr>
            <p:ph type="ctrTitle"/>
          </p:nvPr>
        </p:nvSpPr>
        <p:spPr>
          <a:xfrm>
            <a:off x="2627784" y="627534"/>
            <a:ext cx="6408712" cy="3136388"/>
          </a:xfrm>
        </p:spPr>
        <p:txBody>
          <a:bodyPr/>
          <a:lstStyle/>
          <a:p>
            <a:r>
              <a:rPr kumimoji="0" lang="en-US" sz="5400" b="1" i="0" u="none" strike="noStrike" kern="1200" cap="small" spc="0" normalizeH="0" baseline="0" noProof="0" dirty="0">
                <a:ln>
                  <a:noFill/>
                </a:ln>
                <a:solidFill>
                  <a:schemeClr val="tx1"/>
                </a:solidFill>
                <a:effectLst/>
                <a:uLnTx/>
                <a:uFillTx/>
                <a:latin typeface="Times New Roman" panose="02020603050405020304" pitchFamily="18" charset="0"/>
                <a:ea typeface="+mj-ea"/>
                <a:cs typeface="Times New Roman" panose="02020603050405020304" pitchFamily="18" charset="0"/>
              </a:rPr>
              <a:t>Data Types, Sources, and Lifecycle</a:t>
            </a:r>
            <a:endParaRPr lang="en-IN" dirty="0">
              <a:solidFill>
                <a:schemeClr val="tx1"/>
              </a:solidFill>
            </a:endParaRPr>
          </a:p>
        </p:txBody>
      </p:sp>
    </p:spTree>
    <p:extLst>
      <p:ext uri="{BB962C8B-B14F-4D97-AF65-F5344CB8AC3E}">
        <p14:creationId xmlns:p14="http://schemas.microsoft.com/office/powerpoint/2010/main" val="35634584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9057"/>
            <a:ext cx="8219256" cy="565571"/>
          </a:xfrm>
        </p:spPr>
        <p:txBody>
          <a:bodyPr>
            <a:noAutofit/>
          </a:bodyPr>
          <a:lstStyle/>
          <a:p>
            <a:r>
              <a:rPr lang="en-US" sz="2600" b="1" dirty="0">
                <a:solidFill>
                  <a:schemeClr val="accent1">
                    <a:lumMod val="75000"/>
                  </a:schemeClr>
                </a:solidFill>
              </a:rPr>
              <a:t>Data Types</a:t>
            </a:r>
            <a:endParaRPr lang="en-US" sz="2600" dirty="0">
              <a:solidFill>
                <a:schemeClr val="accent1">
                  <a:lumMod val="75000"/>
                </a:schemeClr>
              </a:solidFill>
            </a:endParaRPr>
          </a:p>
        </p:txBody>
      </p:sp>
      <p:sp>
        <p:nvSpPr>
          <p:cNvPr id="3" name="Content Placeholder 2"/>
          <p:cNvSpPr>
            <a:spLocks noGrp="1"/>
          </p:cNvSpPr>
          <p:nvPr>
            <p:ph sz="quarter" idx="1"/>
          </p:nvPr>
        </p:nvSpPr>
        <p:spPr>
          <a:xfrm>
            <a:off x="457200" y="716636"/>
            <a:ext cx="7643192" cy="3655314"/>
          </a:xfrm>
        </p:spPr>
        <p:txBody>
          <a:bodyPr>
            <a:normAutofit fontScale="25000" lnSpcReduction="20000"/>
          </a:bodyPr>
          <a:lstStyle/>
          <a:p>
            <a:pPr marL="342900" indent="-342900">
              <a:lnSpc>
                <a:spcPct val="120000"/>
              </a:lnSpc>
              <a:spcBef>
                <a:spcPts val="0"/>
              </a:spcBef>
              <a:spcAft>
                <a:spcPts val="600"/>
              </a:spcAft>
              <a:buSzPct val="100000"/>
              <a:buFont typeface="+mj-lt"/>
              <a:buAutoNum type="arabicPeriod"/>
            </a:pPr>
            <a:r>
              <a:rPr lang="en-US" sz="5600" b="1" dirty="0">
                <a:cs typeface="Times New Roman" panose="02020603050405020304" pitchFamily="18" charset="0"/>
              </a:rPr>
              <a:t>Structured Data</a:t>
            </a:r>
          </a:p>
          <a:p>
            <a:pPr marL="363538" marR="0" lvl="0" indent="-273050" algn="l" defTabSz="914400" rtl="0" eaLnBrk="0" fontAlgn="base" latinLnBrk="0" hangingPunct="0">
              <a:lnSpc>
                <a:spcPct val="120000"/>
              </a:lnSpc>
              <a:spcBef>
                <a:spcPts val="0"/>
              </a:spcBef>
              <a:spcAft>
                <a:spcPts val="600"/>
              </a:spcAft>
              <a:buSzTx/>
              <a:buFont typeface="Wingdings" panose="05000000000000000000" pitchFamily="2" charset="2"/>
              <a:buChar char="¢"/>
              <a:tabLst/>
            </a:pPr>
            <a:r>
              <a:rPr kumimoji="0" lang="en-US" altLang="en-US" sz="5600" b="1" i="0" u="none" strike="noStrike" cap="none" normalizeH="0" baseline="0" dirty="0">
                <a:ln>
                  <a:noFill/>
                </a:ln>
                <a:solidFill>
                  <a:schemeClr val="tx1"/>
                </a:solidFill>
                <a:effectLst/>
                <a:cs typeface="Times New Roman" panose="02020603050405020304" pitchFamily="18" charset="0"/>
              </a:rPr>
              <a:t>Strict Organization:</a:t>
            </a:r>
            <a:r>
              <a:rPr kumimoji="0" lang="en-US" altLang="en-US" sz="5600" b="0" i="0" u="none" strike="noStrike" cap="none" normalizeH="0" baseline="0" dirty="0">
                <a:ln>
                  <a:noFill/>
                </a:ln>
                <a:solidFill>
                  <a:schemeClr val="tx1"/>
                </a:solidFill>
                <a:effectLst/>
                <a:cs typeface="Times New Roman" panose="02020603050405020304" pitchFamily="18" charset="0"/>
              </a:rPr>
              <a:t> Data is highly organized and formatted into a predefined schema, typically residing in relational databases (SQL).</a:t>
            </a:r>
          </a:p>
          <a:p>
            <a:pPr marL="363538" marR="0" lvl="0" indent="-273050" algn="l" defTabSz="914400" rtl="0" eaLnBrk="0" fontAlgn="base" latinLnBrk="0" hangingPunct="0">
              <a:lnSpc>
                <a:spcPct val="120000"/>
              </a:lnSpc>
              <a:spcBef>
                <a:spcPts val="0"/>
              </a:spcBef>
              <a:spcAft>
                <a:spcPts val="600"/>
              </a:spcAft>
              <a:buSzTx/>
              <a:buFont typeface="Wingdings" panose="05000000000000000000" pitchFamily="2" charset="2"/>
              <a:buChar char="¢"/>
              <a:tabLst/>
            </a:pPr>
            <a:r>
              <a:rPr kumimoji="0" lang="en-US" altLang="en-US" sz="5600" b="1" i="0" u="none" strike="noStrike" cap="none" normalizeH="0" baseline="0" dirty="0">
                <a:ln>
                  <a:noFill/>
                </a:ln>
                <a:solidFill>
                  <a:schemeClr val="tx1"/>
                </a:solidFill>
                <a:effectLst/>
                <a:cs typeface="Times New Roman" panose="02020603050405020304" pitchFamily="18" charset="0"/>
              </a:rPr>
              <a:t>Table Format:</a:t>
            </a:r>
            <a:r>
              <a:rPr kumimoji="0" lang="en-US" altLang="en-US" sz="5600" b="0" i="0" u="none" strike="noStrike" cap="none" normalizeH="0" baseline="0" dirty="0">
                <a:ln>
                  <a:noFill/>
                </a:ln>
                <a:solidFill>
                  <a:schemeClr val="tx1"/>
                </a:solidFill>
                <a:effectLst/>
                <a:cs typeface="Times New Roman" panose="02020603050405020304" pitchFamily="18" charset="0"/>
              </a:rPr>
              <a:t> Information is stored in rows and columns with relational keys, making it easily searchable and addressable.</a:t>
            </a:r>
          </a:p>
          <a:p>
            <a:pPr marL="363538" marR="0" lvl="0" indent="-273050" algn="l" defTabSz="914400" rtl="0" eaLnBrk="0" fontAlgn="base" latinLnBrk="0" hangingPunct="0">
              <a:lnSpc>
                <a:spcPct val="120000"/>
              </a:lnSpc>
              <a:spcBef>
                <a:spcPts val="0"/>
              </a:spcBef>
              <a:spcAft>
                <a:spcPts val="600"/>
              </a:spcAft>
              <a:buSzTx/>
              <a:buFont typeface="Wingdings" panose="05000000000000000000" pitchFamily="2" charset="2"/>
              <a:buChar char="¢"/>
              <a:tabLst/>
            </a:pPr>
            <a:r>
              <a:rPr kumimoji="0" lang="en-US" altLang="en-US" sz="5600" b="1" i="0" u="none" strike="noStrike" cap="none" normalizeH="0" baseline="0" dirty="0">
                <a:ln>
                  <a:noFill/>
                </a:ln>
                <a:solidFill>
                  <a:schemeClr val="tx1"/>
                </a:solidFill>
                <a:effectLst/>
                <a:cs typeface="Times New Roman" panose="02020603050405020304" pitchFamily="18" charset="0"/>
              </a:rPr>
              <a:t>Efficiency:</a:t>
            </a:r>
            <a:r>
              <a:rPr kumimoji="0" lang="en-US" altLang="en-US" sz="5600" b="0" i="0" u="none" strike="noStrike" cap="none" normalizeH="0" baseline="0" dirty="0">
                <a:ln>
                  <a:noFill/>
                </a:ln>
                <a:solidFill>
                  <a:schemeClr val="tx1"/>
                </a:solidFill>
                <a:effectLst/>
                <a:cs typeface="Times New Roman" panose="02020603050405020304" pitchFamily="18" charset="0"/>
              </a:rPr>
              <a:t> This is the most traditional and simplest way to manage information for effective analysis.</a:t>
            </a:r>
          </a:p>
          <a:p>
            <a:pPr marL="363538" marR="0" lvl="0" indent="-273050" algn="l" defTabSz="914400" rtl="0" eaLnBrk="0" fontAlgn="base" latinLnBrk="0" hangingPunct="0">
              <a:lnSpc>
                <a:spcPct val="120000"/>
              </a:lnSpc>
              <a:spcBef>
                <a:spcPts val="0"/>
              </a:spcBef>
              <a:spcAft>
                <a:spcPts val="600"/>
              </a:spcAft>
              <a:buSzTx/>
              <a:buFont typeface="Wingdings" panose="05000000000000000000" pitchFamily="2" charset="2"/>
              <a:buChar char="¢"/>
              <a:tabLst/>
            </a:pPr>
            <a:r>
              <a:rPr kumimoji="0" lang="en-US" altLang="en-US" sz="5600" b="1" i="0" u="none" strike="noStrike" cap="none" normalizeH="0" baseline="0" dirty="0">
                <a:ln>
                  <a:noFill/>
                </a:ln>
                <a:solidFill>
                  <a:schemeClr val="tx1"/>
                </a:solidFill>
                <a:effectLst/>
                <a:cs typeface="Times New Roman" panose="02020603050405020304" pitchFamily="18" charset="0"/>
              </a:rPr>
              <a:t>Example:</a:t>
            </a:r>
            <a:r>
              <a:rPr kumimoji="0" lang="en-US" altLang="en-US" sz="5600" b="0" i="0" u="none" strike="noStrike" cap="none" normalizeH="0" baseline="0" dirty="0">
                <a:ln>
                  <a:noFill/>
                </a:ln>
                <a:solidFill>
                  <a:schemeClr val="tx1"/>
                </a:solidFill>
                <a:effectLst/>
                <a:cs typeface="Times New Roman" panose="02020603050405020304" pitchFamily="18" charset="0"/>
              </a:rPr>
              <a:t> Excel files or SQL databases containing customer names and transaction IDs.</a:t>
            </a:r>
          </a:p>
          <a:p>
            <a:pPr marL="342900" indent="-342900">
              <a:lnSpc>
                <a:spcPct val="120000"/>
              </a:lnSpc>
              <a:spcBef>
                <a:spcPts val="0"/>
              </a:spcBef>
              <a:spcAft>
                <a:spcPts val="600"/>
              </a:spcAft>
              <a:buSzPct val="100000"/>
              <a:buFont typeface="+mj-lt"/>
              <a:buAutoNum type="arabicPeriod" startAt="2"/>
            </a:pPr>
            <a:r>
              <a:rPr lang="en-US" sz="5600" b="1" dirty="0"/>
              <a:t>Semi-Structured Data</a:t>
            </a:r>
          </a:p>
          <a:p>
            <a:pPr marL="363538" indent="-273050">
              <a:lnSpc>
                <a:spcPct val="120000"/>
              </a:lnSpc>
              <a:spcBef>
                <a:spcPts val="0"/>
              </a:spcBef>
              <a:spcAft>
                <a:spcPts val="600"/>
              </a:spcAft>
              <a:buSzPct val="100000"/>
              <a:buFont typeface="Wingdings" panose="05000000000000000000" pitchFamily="2" charset="2"/>
              <a:buChar char="¢"/>
            </a:pPr>
            <a:r>
              <a:rPr lang="en-US" sz="5600" b="1" dirty="0"/>
              <a:t>Self-Describing:</a:t>
            </a:r>
            <a:r>
              <a:rPr lang="en-US" sz="5600" dirty="0"/>
              <a:t> Does not reside in a relational database but uses tags, markers, or hierarchies to separate data elements.</a:t>
            </a:r>
          </a:p>
          <a:p>
            <a:pPr marL="363538" indent="-273050">
              <a:lnSpc>
                <a:spcPct val="120000"/>
              </a:lnSpc>
              <a:spcBef>
                <a:spcPts val="0"/>
              </a:spcBef>
              <a:spcAft>
                <a:spcPts val="600"/>
              </a:spcAft>
              <a:buSzPct val="100000"/>
              <a:buFont typeface="Wingdings" panose="05000000000000000000" pitchFamily="2" charset="2"/>
              <a:buChar char="¢"/>
            </a:pPr>
            <a:r>
              <a:rPr lang="en-US" sz="5600" b="1" dirty="0"/>
              <a:t>Flexible Storage:</a:t>
            </a:r>
            <a:r>
              <a:rPr lang="en-US" sz="5600" dirty="0"/>
              <a:t> While it has organizational properties that make analysis easier, it is designed to save space and handle more variety than rigid tables.</a:t>
            </a:r>
          </a:p>
          <a:p>
            <a:pPr marL="363538" indent="-273050">
              <a:lnSpc>
                <a:spcPct val="120000"/>
              </a:lnSpc>
              <a:spcBef>
                <a:spcPts val="0"/>
              </a:spcBef>
              <a:spcAft>
                <a:spcPts val="600"/>
              </a:spcAft>
              <a:buSzPct val="100000"/>
              <a:buFont typeface="Wingdings" panose="05000000000000000000" pitchFamily="2" charset="2"/>
              <a:buChar char="¢"/>
            </a:pPr>
            <a:r>
              <a:rPr lang="en-US" sz="5600" b="1" dirty="0"/>
              <a:t>Conversion Potential:</a:t>
            </a:r>
            <a:r>
              <a:rPr lang="en-US" sz="5600" dirty="0"/>
              <a:t> It can be mapped into relational databases through specific processing, though this can be technically difficult.</a:t>
            </a:r>
          </a:p>
          <a:p>
            <a:pPr marL="363538" indent="-273050">
              <a:lnSpc>
                <a:spcPct val="120000"/>
              </a:lnSpc>
              <a:spcBef>
                <a:spcPts val="0"/>
              </a:spcBef>
              <a:spcAft>
                <a:spcPts val="600"/>
              </a:spcAft>
              <a:buSzPct val="100000"/>
              <a:buFont typeface="Wingdings" panose="05000000000000000000" pitchFamily="2" charset="2"/>
              <a:buChar char="¢"/>
            </a:pPr>
            <a:r>
              <a:rPr lang="en-US" sz="5600" b="1" dirty="0"/>
              <a:t>Example:</a:t>
            </a:r>
            <a:r>
              <a:rPr lang="en-US" sz="5600" dirty="0"/>
              <a:t> JSON, XML, or HTML files.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95536" y="591693"/>
            <a:ext cx="7715200" cy="3960114"/>
          </a:xfrm>
        </p:spPr>
        <p:txBody>
          <a:bodyPr>
            <a:noAutofit/>
          </a:bodyPr>
          <a:lstStyle/>
          <a:p>
            <a:pPr marL="342900" indent="-342900">
              <a:spcAft>
                <a:spcPts val="600"/>
              </a:spcAft>
              <a:buSzPct val="100000"/>
              <a:buFont typeface="+mj-lt"/>
              <a:buAutoNum type="arabicPeriod" startAt="3"/>
            </a:pPr>
            <a:r>
              <a:rPr lang="en-US" sz="1400" b="1" dirty="0"/>
              <a:t>Unstructured Data</a:t>
            </a:r>
          </a:p>
          <a:p>
            <a:pPr marL="363538" indent="-273050">
              <a:spcAft>
                <a:spcPts val="600"/>
              </a:spcAft>
              <a:buSzPct val="100000"/>
              <a:buFont typeface="Wingdings" panose="05000000000000000000" pitchFamily="2" charset="2"/>
              <a:buChar char="¢"/>
            </a:pPr>
            <a:r>
              <a:rPr lang="en-US" sz="1400" b="1" dirty="0"/>
              <a:t>No Predefined Model:</a:t>
            </a:r>
            <a:r>
              <a:rPr lang="en-US" sz="1400" dirty="0"/>
              <a:t> Data that does not have a recognizable structure or a predefined data model, making it a poor fit for standard databases.</a:t>
            </a:r>
          </a:p>
          <a:p>
            <a:pPr marL="363538" indent="-273050">
              <a:spcAft>
                <a:spcPts val="600"/>
              </a:spcAft>
              <a:buSzPct val="100000"/>
              <a:buFont typeface="Wingdings" panose="05000000000000000000" pitchFamily="2" charset="2"/>
              <a:buChar char="¢"/>
            </a:pPr>
            <a:r>
              <a:rPr lang="en-US" sz="1400" b="1" dirty="0"/>
              <a:t>Diverse Formats:</a:t>
            </a:r>
            <a:r>
              <a:rPr lang="en-US" sz="1400" dirty="0"/>
              <a:t> Usually consists of heavy files like text documents, images, video, and audio logs.</a:t>
            </a:r>
          </a:p>
          <a:p>
            <a:pPr marL="363538" indent="-273050">
              <a:spcAft>
                <a:spcPts val="600"/>
              </a:spcAft>
              <a:buSzPct val="100000"/>
              <a:buFont typeface="Wingdings" panose="05000000000000000000" pitchFamily="2" charset="2"/>
              <a:buChar char="¢"/>
            </a:pPr>
            <a:r>
              <a:rPr lang="en-US" sz="1400" b="1" dirty="0"/>
              <a:t>Alternative Management:</a:t>
            </a:r>
            <a:r>
              <a:rPr lang="en-US" sz="1400" dirty="0"/>
              <a:t> Requires specialized platforms (like NoSQL or Data Lakes) for storage and is increasingly used for modern business intelligence.</a:t>
            </a:r>
          </a:p>
          <a:p>
            <a:pPr marL="363538" indent="-273050">
              <a:spcAft>
                <a:spcPts val="600"/>
              </a:spcAft>
              <a:buSzPct val="100000"/>
              <a:buFont typeface="Wingdings" panose="05000000000000000000" pitchFamily="2" charset="2"/>
              <a:buChar char="¢"/>
            </a:pPr>
            <a:r>
              <a:rPr lang="en-US" sz="1400" b="1" dirty="0"/>
              <a:t>Example:</a:t>
            </a:r>
            <a:r>
              <a:rPr lang="en-US" sz="1400" dirty="0"/>
              <a:t> PDFs, Word documents, videos, and social media posts.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5798"/>
            <a:ext cx="7467600" cy="613171"/>
          </a:xfrm>
        </p:spPr>
        <p:txBody>
          <a:bodyPr>
            <a:normAutofit/>
          </a:bodyPr>
          <a:lstStyle/>
          <a:p>
            <a:r>
              <a:rPr lang="en-US" sz="2600" b="1" dirty="0">
                <a:solidFill>
                  <a:schemeClr val="accent1">
                    <a:lumMod val="75000"/>
                  </a:schemeClr>
                </a:solidFill>
              </a:rPr>
              <a:t>Common Data Sources</a:t>
            </a:r>
            <a:endParaRPr lang="en-US" sz="2600" dirty="0">
              <a:solidFill>
                <a:schemeClr val="accent1">
                  <a:lumMod val="75000"/>
                </a:schemeClr>
              </a:solidFill>
            </a:endParaRPr>
          </a:p>
        </p:txBody>
      </p:sp>
      <p:sp>
        <p:nvSpPr>
          <p:cNvPr id="3" name="Content Placeholder 2"/>
          <p:cNvSpPr>
            <a:spLocks noGrp="1"/>
          </p:cNvSpPr>
          <p:nvPr>
            <p:ph sz="quarter" idx="1"/>
          </p:nvPr>
        </p:nvSpPr>
        <p:spPr>
          <a:xfrm>
            <a:off x="457200" y="843884"/>
            <a:ext cx="7467600" cy="3960114"/>
          </a:xfrm>
        </p:spPr>
        <p:txBody>
          <a:bodyPr>
            <a:noAutofit/>
          </a:bodyPr>
          <a:lstStyle/>
          <a:p>
            <a:pPr marL="457200" indent="-457200">
              <a:spcBef>
                <a:spcPts val="0"/>
              </a:spcBef>
              <a:spcAft>
                <a:spcPts val="1200"/>
              </a:spcAft>
              <a:buSzPct val="100000"/>
              <a:buFont typeface="+mj-lt"/>
              <a:buAutoNum type="arabicPeriod"/>
            </a:pPr>
            <a:r>
              <a:rPr lang="en-US" sz="1400" b="1" dirty="0"/>
              <a:t>Internal Data: Management and Advantages</a:t>
            </a:r>
          </a:p>
          <a:p>
            <a:pPr marL="446088" indent="-446088">
              <a:spcBef>
                <a:spcPts val="0"/>
              </a:spcBef>
              <a:spcAft>
                <a:spcPts val="1200"/>
              </a:spcAft>
              <a:buSzPct val="100000"/>
            </a:pPr>
            <a:r>
              <a:rPr lang="en-US" sz="1400" b="1" dirty="0"/>
              <a:t>Diverse Data Sources:</a:t>
            </a:r>
            <a:r>
              <a:rPr lang="en-US" sz="1400" dirty="0"/>
              <a:t> It is captured through organizational processes, including transactional records, machine-generated sensor data from </a:t>
            </a:r>
            <a:r>
              <a:rPr lang="en-US" sz="1400" dirty="0" err="1"/>
              <a:t>IoT</a:t>
            </a:r>
            <a:r>
              <a:rPr lang="en-US" sz="1400" dirty="0"/>
              <a:t> devices, and customer engagement metrics.</a:t>
            </a:r>
          </a:p>
          <a:p>
            <a:pPr marL="446088" indent="-446088">
              <a:spcBef>
                <a:spcPts val="0"/>
              </a:spcBef>
              <a:spcAft>
                <a:spcPts val="1200"/>
              </a:spcAft>
              <a:buSzPct val="100000"/>
            </a:pPr>
            <a:r>
              <a:rPr lang="en-US" sz="1400" b="1" dirty="0"/>
              <a:t>Engagement Tracking:</a:t>
            </a:r>
            <a:r>
              <a:rPr lang="en-US" sz="1400" dirty="0"/>
              <a:t> Organizations gather valuable insights from customer profiles, email marketing analytics (opens/clicks), and records of support interactions or online shopping activity.</a:t>
            </a:r>
          </a:p>
          <a:p>
            <a:pPr marL="446088" indent="-446088">
              <a:spcBef>
                <a:spcPts val="0"/>
              </a:spcBef>
              <a:spcAft>
                <a:spcPts val="1200"/>
              </a:spcAft>
              <a:buSzPct val="100000"/>
            </a:pPr>
            <a:r>
              <a:rPr lang="en-US" sz="1400" b="1" dirty="0"/>
              <a:t>Centralized Storage:</a:t>
            </a:r>
            <a:r>
              <a:rPr lang="en-US" sz="1400" dirty="0"/>
              <a:t> This information is typically housed in core operational systems like </a:t>
            </a:r>
            <a:r>
              <a:rPr lang="en-US" sz="1400" b="1" dirty="0"/>
              <a:t>ERP</a:t>
            </a:r>
            <a:r>
              <a:rPr lang="en-US" sz="1400" dirty="0"/>
              <a:t> and </a:t>
            </a:r>
            <a:r>
              <a:rPr lang="en-US" sz="1400" b="1" dirty="0"/>
              <a:t>CRM</a:t>
            </a:r>
            <a:r>
              <a:rPr lang="en-US" sz="1400" dirty="0"/>
              <a:t> platforms, or within technical system log files.</a:t>
            </a:r>
          </a:p>
          <a:p>
            <a:pPr marL="446088" indent="-446088">
              <a:spcBef>
                <a:spcPts val="0"/>
              </a:spcBef>
              <a:spcAft>
                <a:spcPts val="1200"/>
              </a:spcAft>
              <a:buSzPct val="100000"/>
            </a:pPr>
            <a:r>
              <a:rPr lang="en-US" sz="1400" b="1" dirty="0"/>
              <a:t>Immediate Accessibility:</a:t>
            </a:r>
            <a:r>
              <a:rPr lang="en-US" sz="1400" dirty="0"/>
              <a:t> A primary advantage is that the data is already collected and stored, allowing teams to begin analysis immediately without external sourcing.</a:t>
            </a:r>
          </a:p>
          <a:p>
            <a:pPr marL="446088" indent="-446088">
              <a:spcBef>
                <a:spcPts val="0"/>
              </a:spcBef>
              <a:spcAft>
                <a:spcPts val="1200"/>
              </a:spcAft>
              <a:buSzPct val="100000"/>
            </a:pPr>
            <a:r>
              <a:rPr lang="en-US" sz="1400" b="1" dirty="0"/>
              <a:t>Simplified Usage:</a:t>
            </a:r>
            <a:r>
              <a:rPr lang="en-US" sz="1400" dirty="0"/>
              <a:t> Internal data usually has fewer usage restrictions within the organization, and you can directly consult the specific team that gathered the information.</a:t>
            </a:r>
          </a:p>
          <a:p>
            <a:pPr marL="446088" indent="-446088">
              <a:spcBef>
                <a:spcPts val="0"/>
              </a:spcBef>
              <a:spcAft>
                <a:spcPts val="1200"/>
              </a:spcAft>
              <a:buSzPct val="100000"/>
            </a:pPr>
            <a:r>
              <a:rPr lang="en-US" sz="1400" b="1" dirty="0"/>
              <a:t>Standardized Formats:</a:t>
            </a:r>
            <a:r>
              <a:rPr lang="en-US" sz="1400" dirty="0"/>
              <a:t> Because it is generated using the company’s own software and standards, the data often requires less cleaning and formatting, saving significant time.</a:t>
            </a:r>
            <a:endParaRPr lang="en-US" sz="1400" b="1" dirty="0"/>
          </a:p>
          <a:p>
            <a:pPr marL="457200" indent="-457200">
              <a:spcBef>
                <a:spcPts val="0"/>
              </a:spcBef>
              <a:spcAft>
                <a:spcPts val="1200"/>
              </a:spcAft>
              <a:buSzPct val="100000"/>
              <a:buFont typeface="+mj-lt"/>
              <a:buAutoNum type="arabicPeriod"/>
            </a:pPr>
            <a:endParaRPr lang="en-US" sz="1400" b="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23478"/>
            <a:ext cx="7467600" cy="4569714"/>
          </a:xfrm>
        </p:spPr>
        <p:txBody>
          <a:bodyPr>
            <a:noAutofit/>
          </a:bodyPr>
          <a:lstStyle/>
          <a:p>
            <a:pPr marL="342900" indent="-342900">
              <a:spcAft>
                <a:spcPts val="1200"/>
              </a:spcAft>
              <a:buSzPct val="100000"/>
              <a:buFont typeface="+mj-lt"/>
              <a:buAutoNum type="arabicPeriod" startAt="2"/>
            </a:pPr>
            <a:r>
              <a:rPr lang="en-US" sz="1400" b="1" dirty="0"/>
              <a:t>Third-Party Analytics:</a:t>
            </a:r>
          </a:p>
          <a:p>
            <a:pPr marL="363538" indent="-273050">
              <a:spcBef>
                <a:spcPts val="0"/>
              </a:spcBef>
              <a:spcAft>
                <a:spcPts val="600"/>
              </a:spcAft>
              <a:buSzPct val="100000"/>
            </a:pPr>
            <a:r>
              <a:rPr lang="en-US" sz="1400" b="1" dirty="0"/>
              <a:t>Capacity Supplement:</a:t>
            </a:r>
            <a:r>
              <a:rPr lang="en-US" sz="1400" dirty="0"/>
              <a:t> Essential for organizations that lack the internal infrastructure to capture and process their own complex data streams.</a:t>
            </a:r>
          </a:p>
          <a:p>
            <a:pPr marL="363538" indent="-273050">
              <a:spcBef>
                <a:spcPts val="0"/>
              </a:spcBef>
              <a:spcAft>
                <a:spcPts val="600"/>
              </a:spcAft>
              <a:buSzPct val="100000"/>
            </a:pPr>
            <a:r>
              <a:rPr lang="en-US" sz="1400" b="1" dirty="0"/>
              <a:t>Comparative Performance:</a:t>
            </a:r>
            <a:r>
              <a:rPr lang="en-US" sz="1400" dirty="0"/>
              <a:t> Allows businesses to evaluate their performance over time or benchmark against industry averages provided by the service.</a:t>
            </a:r>
          </a:p>
          <a:p>
            <a:pPr marL="363538" indent="-273050">
              <a:spcBef>
                <a:spcPts val="0"/>
              </a:spcBef>
              <a:spcAft>
                <a:spcPts val="600"/>
              </a:spcAft>
              <a:buSzPct val="100000"/>
            </a:pPr>
            <a:r>
              <a:rPr lang="en-US" sz="1400" b="1" dirty="0"/>
              <a:t>Specialized Insights:</a:t>
            </a:r>
            <a:r>
              <a:rPr lang="en-US" sz="1400" dirty="0"/>
              <a:t> Popular tools like Google Analytics enable companies to deeply understand user behavior, acquisition channels, and application usage.</a:t>
            </a:r>
          </a:p>
          <a:p>
            <a:pPr marL="363538" indent="-273050">
              <a:spcBef>
                <a:spcPts val="0"/>
              </a:spcBef>
              <a:spcAft>
                <a:spcPts val="600"/>
              </a:spcAft>
              <a:buSzPct val="100000"/>
            </a:pPr>
            <a:r>
              <a:rPr lang="en-US" sz="1400" b="1" dirty="0"/>
              <a:t>Cost-Effectiveness:</a:t>
            </a:r>
            <a:r>
              <a:rPr lang="en-US" sz="1400" dirty="0"/>
              <a:t> Provides a budget-friendly way to access high-level analysis and data visualization without building custom software.</a:t>
            </a:r>
          </a:p>
          <a:p>
            <a:pPr marL="342900" indent="-342900">
              <a:spcAft>
                <a:spcPts val="1200"/>
              </a:spcAft>
              <a:buSzPct val="100000"/>
              <a:buFont typeface="+mj-lt"/>
              <a:buAutoNum type="arabicPeriod" startAt="3"/>
            </a:pPr>
            <a:r>
              <a:rPr lang="en-US" sz="1400" b="1" dirty="0"/>
              <a:t>External Data:</a:t>
            </a:r>
          </a:p>
          <a:p>
            <a:pPr marL="363538" indent="-273050">
              <a:spcBef>
                <a:spcPts val="0"/>
              </a:spcBef>
              <a:spcAft>
                <a:spcPts val="600"/>
              </a:spcAft>
              <a:buSzPct val="100000"/>
            </a:pPr>
            <a:r>
              <a:rPr lang="en-US" sz="1400" b="1" dirty="0"/>
              <a:t>Broad Scope:</a:t>
            </a:r>
            <a:r>
              <a:rPr lang="en-US" sz="1400" dirty="0"/>
              <a:t> Includes a vast range of information from outside the organization, such as demographic data, market prices, weather conditions, and social trends.</a:t>
            </a:r>
          </a:p>
          <a:p>
            <a:pPr marL="363538" indent="-273050">
              <a:spcBef>
                <a:spcPts val="0"/>
              </a:spcBef>
              <a:spcAft>
                <a:spcPts val="600"/>
              </a:spcAft>
              <a:buSzPct val="100000"/>
            </a:pPr>
            <a:r>
              <a:rPr lang="en-US" sz="1400" b="1" dirty="0"/>
              <a:t>Strategic Modeling:</a:t>
            </a:r>
            <a:r>
              <a:rPr lang="en-US" sz="1400" dirty="0"/>
              <a:t> Organizations use this data to model economic, political, and environmental factors that might influence their business strategy.</a:t>
            </a:r>
          </a:p>
          <a:p>
            <a:pPr marL="363538" indent="-273050">
              <a:spcBef>
                <a:spcPts val="0"/>
              </a:spcBef>
              <a:spcAft>
                <a:spcPts val="600"/>
              </a:spcAft>
              <a:buSzPct val="100000"/>
            </a:pPr>
            <a:r>
              <a:rPr lang="en-US" sz="1400" b="1" dirty="0"/>
              <a:t>Diverse Sourcing:</a:t>
            </a:r>
            <a:r>
              <a:rPr lang="en-US" sz="1400" dirty="0"/>
              <a:t> Data can be obtained through open-government initiatives, social media platforms (LinkedIn/X), or specialized paid subscription services.</a:t>
            </a:r>
          </a:p>
          <a:p>
            <a:pPr marL="363538" indent="-273050">
              <a:spcBef>
                <a:spcPts val="0"/>
              </a:spcBef>
              <a:spcAft>
                <a:spcPts val="600"/>
              </a:spcAft>
              <a:buSzPct val="100000"/>
            </a:pPr>
            <a:r>
              <a:rPr lang="en-US" sz="1400" b="1" dirty="0"/>
              <a:t>Contextual Awareness:</a:t>
            </a:r>
            <a:r>
              <a:rPr lang="en-US" sz="1400" dirty="0"/>
              <a:t> Helps businesses look beyond their own operations to understand the larger market landscape and global shifts.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374108"/>
            <a:ext cx="7696200" cy="4645914"/>
          </a:xfrm>
        </p:spPr>
        <p:txBody>
          <a:bodyPr>
            <a:noAutofit/>
          </a:bodyPr>
          <a:lstStyle/>
          <a:p>
            <a:pPr marL="342900" indent="-342900">
              <a:spcAft>
                <a:spcPts val="1200"/>
              </a:spcAft>
              <a:buSzPct val="100000"/>
              <a:buFont typeface="+mj-lt"/>
              <a:buAutoNum type="arabicPeriod" startAt="4"/>
            </a:pPr>
            <a:r>
              <a:rPr lang="en-US" sz="1400" b="1" dirty="0"/>
              <a:t>Open Data:</a:t>
            </a:r>
          </a:p>
          <a:p>
            <a:pPr marL="363538" indent="-273050">
              <a:spcBef>
                <a:spcPts val="0"/>
              </a:spcBef>
              <a:spcAft>
                <a:spcPts val="600"/>
              </a:spcAft>
              <a:buSzPct val="100000"/>
            </a:pPr>
            <a:r>
              <a:rPr lang="en-US" sz="1400" b="1" dirty="0"/>
              <a:t>Public Accessibility:</a:t>
            </a:r>
            <a:r>
              <a:rPr lang="en-US" sz="1400" dirty="0"/>
              <a:t> This data is free and available to everyone, though high-level or heavily aggregated summaries may lack the specific detail needed for certain analyses.</a:t>
            </a:r>
          </a:p>
          <a:p>
            <a:pPr marL="363538" indent="-273050">
              <a:spcBef>
                <a:spcPts val="0"/>
              </a:spcBef>
              <a:spcAft>
                <a:spcPts val="600"/>
              </a:spcAft>
              <a:buSzPct val="100000"/>
            </a:pPr>
            <a:r>
              <a:rPr lang="en-US" sz="1400" b="1" dirty="0"/>
              <a:t>Preparation Challenges:</a:t>
            </a:r>
            <a:r>
              <a:rPr lang="en-US" sz="1400" dirty="0"/>
              <a:t> Raw open data often requires significant time to clean, reformat, or interpret before it becomes usable for business decision-making.</a:t>
            </a:r>
          </a:p>
          <a:p>
            <a:pPr marL="363538" indent="-273050">
              <a:spcBef>
                <a:spcPts val="0"/>
              </a:spcBef>
              <a:spcAft>
                <a:spcPts val="600"/>
              </a:spcAft>
              <a:buSzPct val="100000"/>
            </a:pPr>
            <a:r>
              <a:rPr lang="en-US" sz="1400" b="1" dirty="0"/>
              <a:t>Global Repositories:</a:t>
            </a:r>
            <a:r>
              <a:rPr lang="en-US" sz="1400" dirty="0"/>
              <a:t> Key sources include government portals (data.gov), health organizations (WHO), and scientific databases like the Open Science Data Cloud.</a:t>
            </a:r>
          </a:p>
          <a:p>
            <a:pPr marL="363538" indent="-273050">
              <a:spcBef>
                <a:spcPts val="0"/>
              </a:spcBef>
              <a:spcAft>
                <a:spcPts val="600"/>
              </a:spcAft>
              <a:buSzPct val="100000"/>
            </a:pPr>
            <a:r>
              <a:rPr lang="en-US" sz="1400" b="1" dirty="0"/>
              <a:t>Trend Tracking:</a:t>
            </a:r>
            <a:r>
              <a:rPr lang="en-US" sz="1400" dirty="0"/>
              <a:t> Platforms like Google Trends and Yahoo Finance provide accessible national search trends and stock market information for public use.</a:t>
            </a:r>
          </a:p>
          <a:p>
            <a:pPr marL="342900" indent="-342900">
              <a:spcAft>
                <a:spcPts val="1200"/>
              </a:spcAft>
              <a:buSzPct val="100000"/>
              <a:buFont typeface="+mj-lt"/>
              <a:buAutoNum type="arabicPeriod" startAt="5"/>
            </a:pPr>
            <a:r>
              <a:rPr lang="en-US" sz="1400" b="1" dirty="0"/>
              <a:t>Accessing Data via APIs:</a:t>
            </a:r>
          </a:p>
          <a:p>
            <a:pPr marL="363538" indent="-273050">
              <a:spcBef>
                <a:spcPts val="0"/>
              </a:spcBef>
              <a:spcAft>
                <a:spcPts val="600"/>
              </a:spcAft>
              <a:buSzPct val="100000"/>
            </a:pPr>
            <a:r>
              <a:rPr lang="en-US" sz="1400" b="1" dirty="0"/>
              <a:t>Functional Bridge:</a:t>
            </a:r>
            <a:r>
              <a:rPr lang="en-US" sz="1400" dirty="0"/>
              <a:t> Application Programming Interfaces (APIs) act as a delivery mechanism rather than a data source, allowing data to be shared and translated between different applications.</a:t>
            </a:r>
          </a:p>
          <a:p>
            <a:pPr marL="363538" indent="-273050">
              <a:spcBef>
                <a:spcPts val="0"/>
              </a:spcBef>
              <a:spcAft>
                <a:spcPts val="600"/>
              </a:spcAft>
              <a:buSzPct val="100000"/>
            </a:pPr>
            <a:r>
              <a:rPr lang="en-US" sz="1400" b="1" dirty="0"/>
              <a:t>Versatile Integration:</a:t>
            </a:r>
            <a:r>
              <a:rPr lang="en-US" sz="1400" dirty="0"/>
              <a:t> APIs enable businesses to pull data from diverse sectors, including social media (X/</a:t>
            </a:r>
            <a:r>
              <a:rPr lang="en-US" sz="1400" dirty="0" err="1"/>
              <a:t>Facebook</a:t>
            </a:r>
            <a:r>
              <a:rPr lang="en-US" sz="1400" dirty="0"/>
              <a:t>), utilities (</a:t>
            </a:r>
            <a:r>
              <a:rPr lang="en-US" sz="1400" dirty="0" err="1"/>
              <a:t>Dropbox</a:t>
            </a:r>
            <a:r>
              <a:rPr lang="en-US" sz="1400" dirty="0"/>
              <a:t>), and commerce tools (</a:t>
            </a:r>
            <a:r>
              <a:rPr lang="en-US" sz="1400" dirty="0" err="1"/>
              <a:t>Mailchimp</a:t>
            </a:r>
            <a:r>
              <a:rPr lang="en-US" sz="1400" dirty="0"/>
              <a:t>/Slack).</a:t>
            </a:r>
          </a:p>
          <a:p>
            <a:pPr marL="363538" indent="-273050">
              <a:spcBef>
                <a:spcPts val="0"/>
              </a:spcBef>
              <a:spcAft>
                <a:spcPts val="600"/>
              </a:spcAft>
              <a:buSzPct val="100000"/>
            </a:pPr>
            <a:r>
              <a:rPr lang="en-US" sz="1400" b="1" dirty="0"/>
              <a:t>Expert Guidance:</a:t>
            </a:r>
            <a:r>
              <a:rPr lang="en-US" sz="1400" dirty="0"/>
              <a:t> While data is abundant, successful problem-solving relies on an analyst’s intuition and subject matter expertise to select the right data from the right sources.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3478"/>
            <a:ext cx="7467600" cy="536971"/>
          </a:xfrm>
        </p:spPr>
        <p:txBody>
          <a:bodyPr>
            <a:normAutofit/>
          </a:bodyPr>
          <a:lstStyle/>
          <a:p>
            <a:r>
              <a:rPr lang="en-US" sz="2600" b="1" dirty="0">
                <a:solidFill>
                  <a:schemeClr val="accent1">
                    <a:lumMod val="75000"/>
                  </a:schemeClr>
                </a:solidFill>
              </a:rPr>
              <a:t>Understanding Data Collection</a:t>
            </a:r>
            <a:endParaRPr lang="en-US" sz="2600" dirty="0">
              <a:solidFill>
                <a:schemeClr val="accent1">
                  <a:lumMod val="75000"/>
                </a:schemeClr>
              </a:solidFill>
            </a:endParaRPr>
          </a:p>
        </p:txBody>
      </p:sp>
      <p:sp>
        <p:nvSpPr>
          <p:cNvPr id="3" name="Content Placeholder 2"/>
          <p:cNvSpPr>
            <a:spLocks noGrp="1"/>
          </p:cNvSpPr>
          <p:nvPr>
            <p:ph sz="quarter" idx="1"/>
          </p:nvPr>
        </p:nvSpPr>
        <p:spPr>
          <a:xfrm>
            <a:off x="457200" y="788644"/>
            <a:ext cx="7467600" cy="3655314"/>
          </a:xfrm>
        </p:spPr>
        <p:txBody>
          <a:bodyPr>
            <a:noAutofit/>
          </a:bodyPr>
          <a:lstStyle/>
          <a:p>
            <a:pPr>
              <a:spcBef>
                <a:spcPts val="0"/>
              </a:spcBef>
              <a:spcAft>
                <a:spcPts val="600"/>
              </a:spcAft>
              <a:buSzPct val="100000"/>
            </a:pPr>
            <a:r>
              <a:rPr lang="en-US" sz="1400" b="1" dirty="0"/>
              <a:t>Planned and Purposeful Gathering:</a:t>
            </a:r>
            <a:r>
              <a:rPr lang="en-US" sz="1400" dirty="0"/>
              <a:t> Data collection is not a random act; it is a structured process designed to obtain specific information needed for analysis, comparison, or high-level decision support.</a:t>
            </a:r>
          </a:p>
          <a:p>
            <a:pPr>
              <a:spcBef>
                <a:spcPts val="0"/>
              </a:spcBef>
              <a:spcAft>
                <a:spcPts val="600"/>
              </a:spcAft>
              <a:buSzPct val="100000"/>
            </a:pPr>
            <a:r>
              <a:rPr lang="en-US" sz="1400" b="1" dirty="0"/>
              <a:t>Strategic Selectivity:</a:t>
            </a:r>
            <a:r>
              <a:rPr lang="en-US" sz="1400" dirty="0"/>
              <a:t> Rather than attempting to collect every available data point, this process focuses on capturing the "right" data from the most relevant and reliable sources to ensure accuracy.</a:t>
            </a:r>
          </a:p>
          <a:p>
            <a:pPr>
              <a:spcBef>
                <a:spcPts val="0"/>
              </a:spcBef>
              <a:spcAft>
                <a:spcPts val="600"/>
              </a:spcAft>
              <a:buSzPct val="100000"/>
            </a:pPr>
            <a:r>
              <a:rPr lang="en-US" sz="1400" b="1" dirty="0"/>
              <a:t>Format Optimization:</a:t>
            </a:r>
            <a:r>
              <a:rPr lang="en-US" sz="1400" dirty="0"/>
              <a:t> It involves gathering information in a specific, standardized format that ensures it can be seamlessly processed and interpreted by analytical software and stakeholders.</a:t>
            </a:r>
          </a:p>
          <a:p>
            <a:pPr>
              <a:spcBef>
                <a:spcPts val="0"/>
              </a:spcBef>
              <a:spcAft>
                <a:spcPts val="600"/>
              </a:spcAft>
              <a:buSzPct val="100000"/>
            </a:pPr>
            <a:r>
              <a:rPr lang="en-US" sz="1400" b="1" dirty="0"/>
              <a:t>Bridge Between Questions and Inputs:</a:t>
            </a:r>
            <a:r>
              <a:rPr lang="en-US" sz="1400" dirty="0"/>
              <a:t> In a business context, data collection acts as the critical link that translates abstract business problems into measurable, concrete inputs that can be tracked.</a:t>
            </a:r>
          </a:p>
          <a:p>
            <a:pPr>
              <a:spcBef>
                <a:spcPts val="0"/>
              </a:spcBef>
              <a:spcAft>
                <a:spcPts val="600"/>
              </a:spcAft>
              <a:buSzPct val="100000"/>
            </a:pPr>
            <a:r>
              <a:rPr lang="en-US" sz="1400" b="1" dirty="0"/>
              <a:t>Foundation for Reporting:</a:t>
            </a:r>
            <a:r>
              <a:rPr lang="en-US" sz="1400" dirty="0"/>
              <a:t> By ensuring the information is captured correctly at the source, the process guarantees that subsequent data analysis and reporting are built on a dependable and trustworthy foundation.</a:t>
            </a:r>
          </a:p>
          <a:p>
            <a:pPr>
              <a:spcBef>
                <a:spcPts val="0"/>
              </a:spcBef>
              <a:spcAft>
                <a:spcPts val="600"/>
              </a:spcAft>
              <a:buSzPct val="100000"/>
            </a:pPr>
            <a:r>
              <a:rPr lang="en-US" sz="1400" b="1" dirty="0"/>
              <a:t>Efficiency in Analysis:</a:t>
            </a:r>
            <a:r>
              <a:rPr lang="en-US" sz="1400" dirty="0"/>
              <a:t> Proper collection techniques reduce the need for extensive data cleaning later, as the information gathered is already aligned with the specific requirements of the intended study or project.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9550"/>
            <a:ext cx="8077200" cy="457199"/>
          </a:xfrm>
        </p:spPr>
        <p:txBody>
          <a:bodyPr>
            <a:noAutofit/>
          </a:bodyPr>
          <a:lstStyle/>
          <a:p>
            <a:r>
              <a:rPr lang="en-US" sz="2600" b="1" dirty="0">
                <a:solidFill>
                  <a:schemeClr val="accent1">
                    <a:lumMod val="75000"/>
                  </a:schemeClr>
                </a:solidFill>
              </a:rPr>
              <a:t>The Step-by-Step Data Collection Process</a:t>
            </a:r>
          </a:p>
        </p:txBody>
      </p:sp>
      <p:sp>
        <p:nvSpPr>
          <p:cNvPr id="3" name="Content Placeholder 2"/>
          <p:cNvSpPr>
            <a:spLocks noGrp="1"/>
          </p:cNvSpPr>
          <p:nvPr>
            <p:ph sz="quarter" idx="1"/>
          </p:nvPr>
        </p:nvSpPr>
        <p:spPr>
          <a:xfrm>
            <a:off x="457200" y="819150"/>
            <a:ext cx="7467600" cy="4036314"/>
          </a:xfrm>
        </p:spPr>
        <p:txBody>
          <a:bodyPr>
            <a:noAutofit/>
          </a:bodyPr>
          <a:lstStyle/>
          <a:p>
            <a:pPr marL="400050" indent="-400050">
              <a:spcAft>
                <a:spcPts val="600"/>
              </a:spcAft>
              <a:buSzPct val="100000"/>
              <a:buFont typeface="+mj-lt"/>
              <a:buAutoNum type="romanLcPeriod"/>
            </a:pPr>
            <a:r>
              <a:rPr lang="en-US" sz="1400" b="1" dirty="0"/>
              <a:t>Define Objectives and Scope:</a:t>
            </a:r>
            <a:r>
              <a:rPr lang="en-US" sz="1400" dirty="0"/>
              <a:t> Establish clear goals by identifying exactly what questions the data must answer, ensuring the collection remains focused and avoids gathering irrelevant information.</a:t>
            </a:r>
          </a:p>
          <a:p>
            <a:pPr marL="400050" indent="-400050">
              <a:spcAft>
                <a:spcPts val="600"/>
              </a:spcAft>
              <a:buSzPct val="100000"/>
              <a:buFont typeface="+mj-lt"/>
              <a:buAutoNum type="romanLcPeriod"/>
            </a:pPr>
            <a:r>
              <a:rPr lang="en-US" sz="1400" b="1" dirty="0"/>
              <a:t>Identify Data Types and Formats:</a:t>
            </a:r>
            <a:r>
              <a:rPr lang="en-US" sz="1400" dirty="0"/>
              <a:t> Categorize whether the project requires quantitative data (hard numbers and statistics) or qualitative data (descriptions and behaviors) to align with your analytical tools.</a:t>
            </a:r>
          </a:p>
          <a:p>
            <a:pPr marL="400050" indent="-400050">
              <a:spcAft>
                <a:spcPts val="600"/>
              </a:spcAft>
              <a:buSzPct val="100000"/>
              <a:buFont typeface="+mj-lt"/>
              <a:buAutoNum type="romanLcPeriod"/>
            </a:pPr>
            <a:r>
              <a:rPr lang="en-US" sz="1400" b="1" dirty="0"/>
              <a:t>Select Data Sources:</a:t>
            </a:r>
            <a:r>
              <a:rPr lang="en-US" sz="1400" dirty="0"/>
              <a:t> Determine where the information will originate—such as internal ERP systems, external public records, or </a:t>
            </a:r>
            <a:r>
              <a:rPr lang="en-US" sz="1400" dirty="0" err="1"/>
              <a:t>IoT</a:t>
            </a:r>
            <a:r>
              <a:rPr lang="en-US" sz="1400" dirty="0"/>
              <a:t> devices—to ensure the insights are grounded in trustworthy and authorized data.</a:t>
            </a:r>
          </a:p>
          <a:p>
            <a:pPr marL="400050" indent="-400050">
              <a:spcAft>
                <a:spcPts val="600"/>
              </a:spcAft>
              <a:buSzPct val="100000"/>
              <a:buFont typeface="+mj-lt"/>
              <a:buAutoNum type="romanLcPeriod"/>
            </a:pPr>
            <a:r>
              <a:rPr lang="en-US" sz="1400" b="1" dirty="0"/>
              <a:t>Plan the Collection Approach:</a:t>
            </a:r>
            <a:r>
              <a:rPr lang="en-US" sz="1400" dirty="0"/>
              <a:t> Outline a high-level strategy that determines whether data will be gathered manually or through automated workflows, establishing a consistent methodology for the entire team.</a:t>
            </a:r>
          </a:p>
          <a:p>
            <a:pPr marL="400050" indent="-400050">
              <a:spcAft>
                <a:spcPts val="600"/>
              </a:spcAft>
              <a:buSzPct val="100000"/>
              <a:buFont typeface="+mj-lt"/>
              <a:buAutoNum type="romanLcPeriod"/>
            </a:pPr>
            <a:r>
              <a:rPr lang="en-US" sz="1400" b="1" dirty="0"/>
              <a:t>Design and Test Instruments:</a:t>
            </a:r>
            <a:r>
              <a:rPr lang="en-US" sz="1400" dirty="0"/>
              <a:t> Develop the actual tools, such as surveys or data logs, and perform small-scale pilot tests to identify and fix errors before launching the full-scale collection process.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602708"/>
            <a:ext cx="7467600" cy="4417314"/>
          </a:xfrm>
        </p:spPr>
        <p:txBody>
          <a:bodyPr>
            <a:normAutofit/>
          </a:bodyPr>
          <a:lstStyle/>
          <a:p>
            <a:pPr marL="514350" indent="-514350">
              <a:spcAft>
                <a:spcPts val="600"/>
              </a:spcAft>
              <a:buSzPct val="100000"/>
              <a:buFont typeface="+mj-lt"/>
              <a:buAutoNum type="romanLcPeriod" startAt="6"/>
            </a:pPr>
            <a:r>
              <a:rPr lang="en-US" sz="1400" b="1" dirty="0"/>
              <a:t>Create a Sampling Plan:</a:t>
            </a:r>
            <a:r>
              <a:rPr lang="en-US" sz="1400" dirty="0"/>
              <a:t> Define the specific criteria and sample size needed to represent the whole population accurately, making the project more manageable without sacrificing the validity of the results.</a:t>
            </a:r>
          </a:p>
          <a:p>
            <a:pPr marL="457200" indent="-457200">
              <a:spcAft>
                <a:spcPts val="600"/>
              </a:spcAft>
              <a:buSzPct val="100000"/>
              <a:buFont typeface="+mj-lt"/>
              <a:buAutoNum type="romanLcPeriod" startAt="6"/>
            </a:pPr>
            <a:r>
              <a:rPr lang="en-US" sz="1400" b="1" dirty="0"/>
              <a:t>Collect the Data:</a:t>
            </a:r>
            <a:r>
              <a:rPr lang="en-US" sz="1400" dirty="0"/>
              <a:t> Execute the plan methodically while capturing critical metadata like timestamps and source origins to ensure the data is organized and traceable for future reference.</a:t>
            </a:r>
          </a:p>
          <a:p>
            <a:pPr marL="457200" indent="-457200">
              <a:spcAft>
                <a:spcPts val="600"/>
              </a:spcAft>
              <a:buSzPct val="100000"/>
              <a:buFont typeface="+mj-lt"/>
              <a:buAutoNum type="romanLcPeriod" startAt="6"/>
            </a:pPr>
            <a:r>
              <a:rPr lang="en-US" sz="1400" b="1" dirty="0"/>
              <a:t>Validate and Monitor Quality:</a:t>
            </a:r>
            <a:r>
              <a:rPr lang="en-US" sz="1400" dirty="0"/>
              <a:t> Perform continuous checks as data arrives to catch missing values or formatting errors immediately, preventing low-quality information from reaching the final analysis.</a:t>
            </a:r>
          </a:p>
          <a:p>
            <a:pPr marL="457200" indent="-457200">
              <a:spcAft>
                <a:spcPts val="600"/>
              </a:spcAft>
              <a:buSzPct val="100000"/>
              <a:buFont typeface="+mj-lt"/>
              <a:buAutoNum type="romanLcPeriod" startAt="6"/>
            </a:pPr>
            <a:r>
              <a:rPr lang="en-US" sz="1400" b="1" dirty="0"/>
              <a:t>Organize and Store Securely:</a:t>
            </a:r>
            <a:r>
              <a:rPr lang="en-US" sz="1400" dirty="0"/>
              <a:t> Arrange the data in structured databases or secure cloud platforms using encryption and access controls to maintain both organization and data privacy.</a:t>
            </a:r>
          </a:p>
          <a:p>
            <a:pPr marL="457200" indent="-457200">
              <a:spcAft>
                <a:spcPts val="600"/>
              </a:spcAft>
              <a:buSzPct val="100000"/>
              <a:buFont typeface="+mj-lt"/>
              <a:buAutoNum type="romanLcPeriod" startAt="6"/>
            </a:pPr>
            <a:r>
              <a:rPr lang="en-US" sz="1400" b="1" dirty="0"/>
              <a:t>Document the Process:</a:t>
            </a:r>
            <a:r>
              <a:rPr lang="en-US" sz="1400" dirty="0"/>
              <a:t> Maintain a detailed record of every methodology, instrument, and challenge encountered, which allows other teams to replicate the results or conduct professional audits.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7467600" cy="613171"/>
          </a:xfrm>
        </p:spPr>
        <p:txBody>
          <a:bodyPr>
            <a:normAutofit/>
          </a:bodyPr>
          <a:lstStyle/>
          <a:p>
            <a:r>
              <a:rPr lang="en-US" sz="2600" b="1" dirty="0">
                <a:solidFill>
                  <a:schemeClr val="accent1">
                    <a:lumMod val="75000"/>
                  </a:schemeClr>
                </a:solidFill>
              </a:rPr>
              <a:t>Common Data Collection Methods</a:t>
            </a:r>
          </a:p>
        </p:txBody>
      </p:sp>
      <p:sp>
        <p:nvSpPr>
          <p:cNvPr id="3" name="Content Placeholder 2"/>
          <p:cNvSpPr>
            <a:spLocks noGrp="1"/>
          </p:cNvSpPr>
          <p:nvPr>
            <p:ph sz="quarter" idx="1"/>
          </p:nvPr>
        </p:nvSpPr>
        <p:spPr>
          <a:xfrm>
            <a:off x="457200" y="971550"/>
            <a:ext cx="7620000" cy="3883914"/>
          </a:xfrm>
        </p:spPr>
        <p:txBody>
          <a:bodyPr>
            <a:normAutofit/>
          </a:bodyPr>
          <a:lstStyle/>
          <a:p>
            <a:pPr>
              <a:spcAft>
                <a:spcPts val="600"/>
              </a:spcAft>
              <a:buSzPct val="100000"/>
            </a:pPr>
            <a:r>
              <a:rPr lang="en-US" sz="1400" b="1" dirty="0"/>
              <a:t>Surveys and Questionnaires:</a:t>
            </a:r>
            <a:r>
              <a:rPr lang="en-US" sz="1400" dirty="0"/>
              <a:t> Uses pre-designed digital or printed questions to gather quantifiable numerical and categorical data from large groups.</a:t>
            </a:r>
          </a:p>
          <a:p>
            <a:pPr>
              <a:spcAft>
                <a:spcPts val="600"/>
              </a:spcAft>
              <a:buSzPct val="100000"/>
            </a:pPr>
            <a:r>
              <a:rPr lang="en-US" sz="1400" b="1" dirty="0"/>
              <a:t>Structured and Unstructured Interviews:</a:t>
            </a:r>
            <a:r>
              <a:rPr lang="en-US" sz="1400" dirty="0"/>
              <a:t> Gathers deep qualitative insights through either fixed, consistent questioning or open-ended, conversational dialogue.</a:t>
            </a:r>
          </a:p>
          <a:p>
            <a:pPr>
              <a:spcAft>
                <a:spcPts val="600"/>
              </a:spcAft>
              <a:buSzPct val="100000"/>
            </a:pPr>
            <a:r>
              <a:rPr lang="en-US" sz="1400" b="1" dirty="0"/>
              <a:t>Focus Group Discussions:</a:t>
            </a:r>
            <a:r>
              <a:rPr lang="en-US" sz="1400" dirty="0"/>
              <a:t> Collects varied perspectives by moderating a small group conversation to uncover the underlying reasons for specific behaviors.</a:t>
            </a:r>
          </a:p>
          <a:p>
            <a:pPr>
              <a:spcAft>
                <a:spcPts val="600"/>
              </a:spcAft>
              <a:buSzPct val="100000"/>
            </a:pPr>
            <a:r>
              <a:rPr lang="en-US" sz="1400" b="1" dirty="0"/>
              <a:t>Observational Techniques:</a:t>
            </a:r>
            <a:r>
              <a:rPr lang="en-US" sz="1400" dirty="0"/>
              <a:t> Records behaviors naturally through either active participation in an environment or by watching subjects from a distance.</a:t>
            </a:r>
          </a:p>
          <a:p>
            <a:pPr>
              <a:spcAft>
                <a:spcPts val="600"/>
              </a:spcAft>
              <a:buSzPct val="100000"/>
            </a:pPr>
            <a:r>
              <a:rPr lang="en-US" sz="1400" b="1" dirty="0"/>
              <a:t>Electronic Data Capture Systems:</a:t>
            </a:r>
            <a:r>
              <a:rPr lang="en-US" sz="1400" dirty="0"/>
              <a:t> Replaces paper forms in technical fields like healthcare to ensure faster data entry and real-time validation.</a:t>
            </a:r>
          </a:p>
          <a:p>
            <a:pPr>
              <a:spcAft>
                <a:spcPts val="600"/>
              </a:spcAft>
              <a:buSzPct val="100000"/>
            </a:pPr>
            <a:r>
              <a:rPr lang="en-US" sz="1400" b="1" dirty="0" err="1"/>
              <a:t>Crowdsensing</a:t>
            </a:r>
            <a:r>
              <a:rPr lang="en-US" sz="1400" b="1" dirty="0"/>
              <a:t> and Sensor-Based Data:</a:t>
            </a:r>
            <a:r>
              <a:rPr lang="en-US" sz="1400" dirty="0"/>
              <a:t> Aggregates real-time information from mobile and wearable sensors, such as GPS, to track environmental or movement trends.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5486"/>
            <a:ext cx="7467600" cy="531114"/>
          </a:xfrm>
        </p:spPr>
        <p:txBody>
          <a:bodyPr>
            <a:normAutofit/>
          </a:bodyPr>
          <a:lstStyle/>
          <a:p>
            <a:r>
              <a:rPr lang="en-US" sz="2600" b="1" dirty="0">
                <a:solidFill>
                  <a:schemeClr val="accent1">
                    <a:lumMod val="75000"/>
                  </a:schemeClr>
                </a:solidFill>
              </a:rPr>
              <a:t>Key Terms in Data Collection</a:t>
            </a:r>
          </a:p>
        </p:txBody>
      </p:sp>
      <p:sp>
        <p:nvSpPr>
          <p:cNvPr id="3" name="Content Placeholder 2"/>
          <p:cNvSpPr>
            <a:spLocks noGrp="1"/>
          </p:cNvSpPr>
          <p:nvPr>
            <p:ph sz="quarter" idx="1"/>
          </p:nvPr>
        </p:nvSpPr>
        <p:spPr>
          <a:xfrm>
            <a:off x="457200" y="895350"/>
            <a:ext cx="7696200" cy="3960114"/>
          </a:xfrm>
        </p:spPr>
        <p:txBody>
          <a:bodyPr>
            <a:noAutofit/>
          </a:bodyPr>
          <a:lstStyle/>
          <a:p>
            <a:pPr>
              <a:spcAft>
                <a:spcPts val="600"/>
              </a:spcAft>
              <a:buSzPct val="100000"/>
            </a:pPr>
            <a:r>
              <a:rPr lang="en-US" sz="1400" b="1" dirty="0"/>
              <a:t>Population:</a:t>
            </a:r>
            <a:r>
              <a:rPr lang="en-US" sz="1400" dirty="0"/>
              <a:t> Represents the entire group of individuals, objects, or events that you intend to study, such as every customer currently using a specific software.</a:t>
            </a:r>
          </a:p>
          <a:p>
            <a:pPr>
              <a:spcAft>
                <a:spcPts val="600"/>
              </a:spcAft>
              <a:buSzPct val="100000"/>
            </a:pPr>
            <a:r>
              <a:rPr lang="en-US" sz="1400" b="1" dirty="0"/>
              <a:t>Sample:</a:t>
            </a:r>
            <a:r>
              <a:rPr lang="en-US" sz="1400" dirty="0"/>
              <a:t> A manageable subset of the population chosen for study to make statistical inferences about the whole group without the need to contact everyone.</a:t>
            </a:r>
          </a:p>
          <a:p>
            <a:pPr>
              <a:spcAft>
                <a:spcPts val="600"/>
              </a:spcAft>
              <a:buSzPct val="100000"/>
            </a:pPr>
            <a:r>
              <a:rPr lang="en-US" sz="1400" b="1" dirty="0"/>
              <a:t>Sampling Frame:</a:t>
            </a:r>
            <a:r>
              <a:rPr lang="en-US" sz="1400" dirty="0"/>
              <a:t> The specific list or source, such as a membership directory or a CRM database, from which the sample members are actually selected.</a:t>
            </a:r>
          </a:p>
          <a:p>
            <a:pPr>
              <a:spcAft>
                <a:spcPts val="600"/>
              </a:spcAft>
              <a:buSzPct val="100000"/>
            </a:pPr>
            <a:r>
              <a:rPr lang="en-US" sz="1400" b="1" dirty="0"/>
              <a:t>Primary Data:</a:t>
            </a:r>
            <a:r>
              <a:rPr lang="en-US" sz="1400" dirty="0"/>
              <a:t> Original information that you collect directly for your specific research project, ensuring it is highly relevant and tailored to your goals.</a:t>
            </a:r>
          </a:p>
          <a:p>
            <a:pPr>
              <a:spcAft>
                <a:spcPts val="600"/>
              </a:spcAft>
              <a:buSzPct val="100000"/>
            </a:pPr>
            <a:r>
              <a:rPr lang="en-US" sz="1400" b="1" dirty="0"/>
              <a:t>Secondary Data:</a:t>
            </a:r>
            <a:r>
              <a:rPr lang="en-US" sz="1400" dirty="0"/>
              <a:t> Information that already exists in the form of government records, published reports, or historical company files, which saves time but may require reformatting.</a:t>
            </a:r>
          </a:p>
          <a:p>
            <a:pPr>
              <a:spcAft>
                <a:spcPts val="600"/>
              </a:spcAft>
              <a:buSzPct val="100000"/>
            </a:pPr>
            <a:r>
              <a:rPr lang="en-US" sz="1400" b="1" dirty="0"/>
              <a:t>Census:</a:t>
            </a:r>
            <a:r>
              <a:rPr lang="en-US" sz="1400" dirty="0"/>
              <a:t> A data collection method where every single member of the population is accounted for, providing total accuracy at the cost of high time and resource investment.</a:t>
            </a:r>
          </a:p>
          <a:p>
            <a:pPr>
              <a:spcAft>
                <a:spcPts val="600"/>
              </a:spcAft>
              <a:buSzPct val="100000"/>
            </a:pPr>
            <a:r>
              <a:rPr lang="en-US" sz="1400" b="1" dirty="0"/>
              <a:t>Sampling Bias:</a:t>
            </a:r>
            <a:r>
              <a:rPr lang="en-US" sz="1400" dirty="0"/>
              <a:t> A systemic error where certain members of a population are unintentionally favored or excluded, leading to results that do not reflect reality.</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514350"/>
            <a:ext cx="7467600" cy="4341114"/>
          </a:xfrm>
        </p:spPr>
        <p:txBody>
          <a:bodyPr>
            <a:normAutofit/>
          </a:bodyPr>
          <a:lstStyle/>
          <a:p>
            <a:pPr>
              <a:spcAft>
                <a:spcPts val="600"/>
              </a:spcAft>
              <a:buSzPct val="100000"/>
            </a:pPr>
            <a:r>
              <a:rPr lang="en-US" sz="1400" b="1" dirty="0"/>
              <a:t>Non-response Error:</a:t>
            </a:r>
            <a:r>
              <a:rPr lang="en-US" sz="1400" dirty="0"/>
              <a:t> A quality issue that occurs when the people who choose not to participate in a study have different characteristics than those who do respond.</a:t>
            </a:r>
          </a:p>
          <a:p>
            <a:pPr>
              <a:spcAft>
                <a:spcPts val="600"/>
              </a:spcAft>
              <a:buSzPct val="100000"/>
            </a:pPr>
            <a:r>
              <a:rPr lang="en-US" sz="1400" b="1" dirty="0"/>
              <a:t>Measurement Validity:</a:t>
            </a:r>
            <a:r>
              <a:rPr lang="en-US" sz="1400" dirty="0"/>
              <a:t> The extent to which your collection tools—like survey questions—actually measure the concept they were designed to capture accurately.</a:t>
            </a:r>
          </a:p>
          <a:p>
            <a:pPr>
              <a:spcAft>
                <a:spcPts val="600"/>
              </a:spcAft>
              <a:buSzPct val="100000"/>
            </a:pPr>
            <a:r>
              <a:rPr lang="en-US" sz="1400" b="1" dirty="0"/>
              <a:t>Cross-sectional vs. Longitudinal:</a:t>
            </a:r>
            <a:r>
              <a:rPr lang="en-US" sz="1400" dirty="0"/>
              <a:t> Cross-sectional data provides a "snapshot" of a single moment, while longitudinal data tracks the same subjects over time to identify trends.</a:t>
            </a:r>
          </a:p>
          <a:p>
            <a:pPr>
              <a:spcAft>
                <a:spcPts val="600"/>
              </a:spcAft>
              <a:buSzPct val="100000"/>
            </a:pPr>
            <a:r>
              <a:rPr lang="en-US" sz="1400" b="1" dirty="0"/>
              <a:t>Total Survey Error:</a:t>
            </a:r>
            <a:r>
              <a:rPr lang="en-US" sz="1400" dirty="0"/>
              <a:t> An all-encompassing metric that accounts for every possible mistake in the process, including sampling, participation, and measurement flaws.</a:t>
            </a:r>
          </a:p>
          <a:p>
            <a:pPr>
              <a:spcAft>
                <a:spcPts val="600"/>
              </a:spcAft>
              <a:buSzPct val="100000"/>
            </a:pPr>
            <a:r>
              <a:rPr lang="en-US" sz="1400" b="1" dirty="0" err="1"/>
              <a:t>Paradata</a:t>
            </a:r>
            <a:r>
              <a:rPr lang="en-US" sz="1400" b="1" dirty="0"/>
              <a:t>:</a:t>
            </a:r>
            <a:r>
              <a:rPr lang="en-US" sz="1400" dirty="0"/>
              <a:t> Technical data about the collection process itself, such as how long a user spent on a specific question or the device they used to respond.</a:t>
            </a:r>
          </a:p>
          <a:p>
            <a:pPr>
              <a:spcAft>
                <a:spcPts val="600"/>
              </a:spcAft>
              <a:buSzPct val="100000"/>
            </a:pPr>
            <a:r>
              <a:rPr lang="en-US" sz="1400" b="1" dirty="0"/>
              <a:t>Metadata:</a:t>
            </a:r>
            <a:r>
              <a:rPr lang="en-US" sz="1400" dirty="0"/>
              <a:t> Essential background information that describes the data’s origin, creation date, format, and ownership, making it easier for others to use the dataset later.</a:t>
            </a:r>
          </a:p>
          <a:p>
            <a:pPr>
              <a:spcAft>
                <a:spcPts val="600"/>
              </a:spcAft>
              <a:buSzPct val="100000"/>
            </a:pPr>
            <a:r>
              <a:rPr lang="en-US" sz="1400" b="1" dirty="0"/>
              <a:t>Triangulation:</a:t>
            </a:r>
            <a:r>
              <a:rPr lang="en-US" sz="1400" dirty="0"/>
              <a:t> The strategy of using multiple data sources or collection methods to cross-verify findings, which significantly strengthens the reliability of your conclusions.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5486"/>
            <a:ext cx="7467600" cy="531114"/>
          </a:xfrm>
        </p:spPr>
        <p:txBody>
          <a:bodyPr>
            <a:normAutofit/>
          </a:bodyPr>
          <a:lstStyle/>
          <a:p>
            <a:r>
              <a:rPr lang="en-US" sz="2600" b="1" dirty="0">
                <a:solidFill>
                  <a:schemeClr val="accent1">
                    <a:lumMod val="75000"/>
                  </a:schemeClr>
                </a:solidFill>
              </a:rPr>
              <a:t>Essential Data Collection Tools</a:t>
            </a:r>
          </a:p>
        </p:txBody>
      </p:sp>
      <p:sp>
        <p:nvSpPr>
          <p:cNvPr id="3" name="Content Placeholder 2"/>
          <p:cNvSpPr>
            <a:spLocks noGrp="1"/>
          </p:cNvSpPr>
          <p:nvPr>
            <p:ph sz="quarter" idx="1"/>
          </p:nvPr>
        </p:nvSpPr>
        <p:spPr>
          <a:xfrm>
            <a:off x="457200" y="843558"/>
            <a:ext cx="7467600" cy="3960114"/>
          </a:xfrm>
        </p:spPr>
        <p:txBody>
          <a:bodyPr>
            <a:normAutofit/>
          </a:bodyPr>
          <a:lstStyle/>
          <a:p>
            <a:pPr>
              <a:spcAft>
                <a:spcPts val="600"/>
              </a:spcAft>
              <a:buSzPct val="100000"/>
            </a:pPr>
            <a:r>
              <a:rPr lang="en-US" sz="1400" b="1" dirty="0"/>
              <a:t>Survey Platforms:</a:t>
            </a:r>
            <a:r>
              <a:rPr lang="en-US" sz="1400" dirty="0"/>
              <a:t> Tools like Google Forms, SurveyMonkey, and </a:t>
            </a:r>
            <a:r>
              <a:rPr lang="en-US" sz="1400" dirty="0" err="1"/>
              <a:t>Typeform</a:t>
            </a:r>
            <a:r>
              <a:rPr lang="en-US" sz="1400" dirty="0"/>
              <a:t> allow for the rapid creation of digital questionnaires, with responses automatically compiled into organized dashboards for easy review.</a:t>
            </a:r>
          </a:p>
          <a:p>
            <a:pPr>
              <a:spcAft>
                <a:spcPts val="600"/>
              </a:spcAft>
              <a:buSzPct val="100000"/>
            </a:pPr>
            <a:r>
              <a:rPr lang="en-US" sz="1400" b="1" dirty="0"/>
              <a:t>Field Collection Kits:</a:t>
            </a:r>
            <a:r>
              <a:rPr lang="en-US" sz="1400" dirty="0"/>
              <a:t> Open-source tools like ODK (Open Data Kit) and </a:t>
            </a:r>
            <a:r>
              <a:rPr lang="en-US" sz="1400" dirty="0" err="1"/>
              <a:t>KoBoToolbox</a:t>
            </a:r>
            <a:r>
              <a:rPr lang="en-US" sz="1400" dirty="0"/>
              <a:t> are designed for on-site work; they support offline data entry and can capture GPS coordinates in remote locations.</a:t>
            </a:r>
          </a:p>
          <a:p>
            <a:pPr>
              <a:spcAft>
                <a:spcPts val="600"/>
              </a:spcAft>
              <a:buSzPct val="100000"/>
            </a:pPr>
            <a:r>
              <a:rPr lang="en-US" sz="1400" b="1" dirty="0"/>
              <a:t>Enterprise-Grade Platforms:</a:t>
            </a:r>
            <a:r>
              <a:rPr lang="en-US" sz="1400" dirty="0"/>
              <a:t> For large-scale projects, </a:t>
            </a:r>
            <a:r>
              <a:rPr lang="en-US" sz="1400" dirty="0" err="1"/>
              <a:t>Qualtrics</a:t>
            </a:r>
            <a:r>
              <a:rPr lang="en-US" sz="1400" dirty="0"/>
              <a:t>, Fulcrum, and </a:t>
            </a:r>
            <a:r>
              <a:rPr lang="en-US" sz="1400" dirty="0" err="1"/>
              <a:t>SafetyCulture</a:t>
            </a:r>
            <a:r>
              <a:rPr lang="en-US" sz="1400" dirty="0"/>
              <a:t> </a:t>
            </a:r>
            <a:r>
              <a:rPr lang="en-US" sz="1400" dirty="0" err="1"/>
              <a:t>iAuditor</a:t>
            </a:r>
            <a:r>
              <a:rPr lang="en-US" sz="1400" dirty="0"/>
              <a:t> offer advanced features like real-time validation, multimedia attachments, and seamless integration with corporate analytics.</a:t>
            </a:r>
          </a:p>
          <a:p>
            <a:pPr>
              <a:spcAft>
                <a:spcPts val="600"/>
              </a:spcAft>
              <a:buSzPct val="100000"/>
            </a:pPr>
            <a:r>
              <a:rPr lang="en-US" sz="1400" b="1" dirty="0"/>
              <a:t>Database and Management Tools:</a:t>
            </a:r>
            <a:r>
              <a:rPr lang="en-US" sz="1400" dirty="0"/>
              <a:t> </a:t>
            </a:r>
            <a:r>
              <a:rPr lang="en-US" sz="1400" dirty="0" err="1"/>
              <a:t>Airtable</a:t>
            </a:r>
            <a:r>
              <a:rPr lang="en-US" sz="1400" dirty="0"/>
              <a:t> and </a:t>
            </a:r>
            <a:r>
              <a:rPr lang="en-US" sz="1400" dirty="0" err="1"/>
              <a:t>Smartsheet</a:t>
            </a:r>
            <a:r>
              <a:rPr lang="en-US" sz="1400" dirty="0"/>
              <a:t> act as flexible hybrid databases that help teams organize complex information and distribute it across different departments without the limitations of traditional spreadsheets.</a:t>
            </a:r>
          </a:p>
          <a:p>
            <a:pPr>
              <a:spcAft>
                <a:spcPts val="600"/>
              </a:spcAft>
              <a:buSzPct val="100000"/>
            </a:pPr>
            <a:r>
              <a:rPr lang="en-US" sz="1400" b="1" dirty="0"/>
              <a:t>Storage and Visualization:</a:t>
            </a:r>
            <a:r>
              <a:rPr lang="en-US" sz="1400" dirty="0"/>
              <a:t> Microsoft Excel and Power BI are industry standards for housing collected data and transforming raw entries into visual insights, ensuring the information remains understandable and actionable.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91264" cy="565571"/>
          </a:xfrm>
        </p:spPr>
        <p:txBody>
          <a:bodyPr>
            <a:noAutofit/>
          </a:bodyPr>
          <a:lstStyle/>
          <a:p>
            <a:r>
              <a:rPr lang="en-US" sz="2600" b="1" dirty="0">
                <a:solidFill>
                  <a:schemeClr val="accent1">
                    <a:lumMod val="75000"/>
                  </a:schemeClr>
                </a:solidFill>
              </a:rPr>
              <a:t>Understanding Data Lifecycle Management (DLM)</a:t>
            </a:r>
            <a:endParaRPr lang="en-US" sz="2600" dirty="0">
              <a:solidFill>
                <a:schemeClr val="accent1">
                  <a:lumMod val="75000"/>
                </a:schemeClr>
              </a:solidFill>
            </a:endParaRPr>
          </a:p>
        </p:txBody>
      </p:sp>
      <p:sp>
        <p:nvSpPr>
          <p:cNvPr id="3" name="Content Placeholder 2"/>
          <p:cNvSpPr>
            <a:spLocks noGrp="1"/>
          </p:cNvSpPr>
          <p:nvPr>
            <p:ph sz="quarter" idx="1"/>
          </p:nvPr>
        </p:nvSpPr>
        <p:spPr>
          <a:xfrm>
            <a:off x="457200" y="1059582"/>
            <a:ext cx="7467600" cy="3655314"/>
          </a:xfrm>
        </p:spPr>
        <p:txBody>
          <a:bodyPr>
            <a:noAutofit/>
          </a:bodyPr>
          <a:lstStyle/>
          <a:p>
            <a:pPr>
              <a:spcAft>
                <a:spcPts val="600"/>
              </a:spcAft>
              <a:buSzPct val="100000"/>
            </a:pPr>
            <a:r>
              <a:rPr lang="en-US" sz="1400" b="1" dirty="0"/>
              <a:t>Policy-Based Framework:</a:t>
            </a:r>
            <a:r>
              <a:rPr lang="en-US" sz="1400" dirty="0"/>
              <a:t> DLM is a strategic, policy-driven approach that establishes best practices for overseeing the movement of data throughout its entire existence within an information system.</a:t>
            </a:r>
          </a:p>
          <a:p>
            <a:pPr>
              <a:spcAft>
                <a:spcPts val="600"/>
              </a:spcAft>
              <a:buSzPct val="100000"/>
            </a:pPr>
            <a:r>
              <a:rPr lang="en-US" sz="1400" b="1" dirty="0"/>
              <a:t>End-to-End Oversight:</a:t>
            </a:r>
            <a:r>
              <a:rPr lang="en-US" sz="1400" dirty="0"/>
              <a:t> It tracks the complete flow of information, managing every phase from the initial moment of </a:t>
            </a:r>
            <a:r>
              <a:rPr lang="en-US" sz="1400" b="1" dirty="0"/>
              <a:t>data creation</a:t>
            </a:r>
            <a:r>
              <a:rPr lang="en-US" sz="1400" dirty="0"/>
              <a:t> to its final, permanent </a:t>
            </a:r>
            <a:r>
              <a:rPr lang="en-US" sz="1400" b="1" dirty="0"/>
              <a:t>deletion</a:t>
            </a:r>
            <a:r>
              <a:rPr lang="en-US" sz="1400" dirty="0"/>
              <a:t>.</a:t>
            </a:r>
          </a:p>
          <a:p>
            <a:pPr>
              <a:spcAft>
                <a:spcPts val="600"/>
              </a:spcAft>
              <a:buSzPct val="100000"/>
            </a:pPr>
            <a:r>
              <a:rPr lang="en-US" sz="1400" b="1" dirty="0"/>
              <a:t>Key Operational Stages:</a:t>
            </a:r>
            <a:r>
              <a:rPr lang="en-US" sz="1400" dirty="0"/>
              <a:t> The lifecycle includes critical management phases such as efficient storage, regular backup for recovery, long-term archiving, and secure disposal.</a:t>
            </a:r>
          </a:p>
          <a:p>
            <a:pPr>
              <a:spcAft>
                <a:spcPts val="600"/>
              </a:spcAft>
              <a:buSzPct val="100000"/>
            </a:pPr>
            <a:r>
              <a:rPr lang="en-US" sz="1400" b="1" dirty="0"/>
              <a:t>Regulatory Compliance:</a:t>
            </a:r>
            <a:r>
              <a:rPr lang="en-US" sz="1400" dirty="0"/>
              <a:t> DLM is essential for organizations handling sensitive or private information, ensuring they meet strict legal and industry-specific data protection regulations.</a:t>
            </a:r>
          </a:p>
          <a:p>
            <a:pPr>
              <a:spcAft>
                <a:spcPts val="600"/>
              </a:spcAft>
              <a:buSzPct val="100000"/>
            </a:pPr>
            <a:r>
              <a:rPr lang="en-US" sz="1400" b="1" dirty="0"/>
              <a:t>Optimized Accessibility:</a:t>
            </a:r>
            <a:r>
              <a:rPr lang="en-US" sz="1400" dirty="0"/>
              <a:t> A primary goal is to guarantee that data is consistently available to authorized users exactly when they need it for business operations.</a:t>
            </a:r>
          </a:p>
          <a:p>
            <a:pPr>
              <a:spcAft>
                <a:spcPts val="600"/>
              </a:spcAft>
              <a:buSzPct val="100000"/>
            </a:pPr>
            <a:r>
              <a:rPr lang="en-US" sz="1400" b="1" dirty="0"/>
              <a:t>Resource Management:</a:t>
            </a:r>
            <a:r>
              <a:rPr lang="en-US" sz="1400" dirty="0"/>
              <a:t> By moving older data to cheaper storage or archiving it, DLM helps organizations balance data availability with infrastructure costs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55526"/>
            <a:ext cx="7787208" cy="432048"/>
          </a:xfrm>
        </p:spPr>
        <p:txBody>
          <a:bodyPr>
            <a:noAutofit/>
          </a:bodyPr>
          <a:lstStyle/>
          <a:p>
            <a:r>
              <a:rPr lang="en-US" sz="2600" b="1" dirty="0">
                <a:solidFill>
                  <a:schemeClr val="accent1">
                    <a:lumMod val="75000"/>
                  </a:schemeClr>
                </a:solidFill>
              </a:rPr>
              <a:t>Primary Goals of Data Lifecycle Management</a:t>
            </a:r>
          </a:p>
        </p:txBody>
      </p:sp>
      <p:sp>
        <p:nvSpPr>
          <p:cNvPr id="3" name="Content Placeholder 2"/>
          <p:cNvSpPr>
            <a:spLocks noGrp="1"/>
          </p:cNvSpPr>
          <p:nvPr>
            <p:ph sz="quarter" idx="1"/>
          </p:nvPr>
        </p:nvSpPr>
        <p:spPr/>
        <p:txBody>
          <a:bodyPr>
            <a:normAutofit/>
          </a:bodyPr>
          <a:lstStyle/>
          <a:p>
            <a:pPr marL="0" indent="0">
              <a:spcBef>
                <a:spcPts val="1200"/>
              </a:spcBef>
              <a:spcAft>
                <a:spcPts val="1200"/>
              </a:spcAft>
              <a:buNone/>
            </a:pPr>
            <a:r>
              <a:rPr lang="en-US" sz="1400" dirty="0"/>
              <a:t>The core objective of DLM is to maintain the </a:t>
            </a:r>
            <a:r>
              <a:rPr lang="en-US" sz="1400" b="1" dirty="0"/>
              <a:t>CIA Triad</a:t>
            </a:r>
            <a:r>
              <a:rPr lang="en-US" sz="1400" dirty="0"/>
              <a:t> (Confidentiality, Integrity, and Availability) to ensure data remains a secure and reliable asset.</a:t>
            </a:r>
          </a:p>
          <a:p>
            <a:pPr>
              <a:spcBef>
                <a:spcPts val="1200"/>
              </a:spcBef>
              <a:spcAft>
                <a:spcPts val="1200"/>
              </a:spcAft>
              <a:buSzPct val="100000"/>
            </a:pPr>
            <a:r>
              <a:rPr lang="en-US" sz="1400" b="1" dirty="0"/>
              <a:t>Protecting Confidentiality:</a:t>
            </a:r>
            <a:r>
              <a:rPr lang="en-US" sz="1400" dirty="0"/>
              <a:t> This goal ensures that sensitive information is shielded from unauthorized access or disclosure through strict access controls and encryption throughout the data’s life.</a:t>
            </a:r>
          </a:p>
          <a:p>
            <a:pPr>
              <a:spcBef>
                <a:spcPts val="1200"/>
              </a:spcBef>
              <a:spcAft>
                <a:spcPts val="1200"/>
              </a:spcAft>
              <a:buSzPct val="100000"/>
            </a:pPr>
            <a:r>
              <a:rPr lang="en-US" sz="1400" b="1" dirty="0"/>
              <a:t>Ensuring Data Integrity:</a:t>
            </a:r>
            <a:r>
              <a:rPr lang="en-US" sz="1400" dirty="0"/>
              <a:t> DLM focuses on maintaining the accuracy, consistency, and reliability of data, preventing it from being altered or corrupted during processing, storage, or transmission.</a:t>
            </a:r>
          </a:p>
          <a:p>
            <a:pPr>
              <a:spcBef>
                <a:spcPts val="1200"/>
              </a:spcBef>
              <a:spcAft>
                <a:spcPts val="1200"/>
              </a:spcAft>
              <a:buSzPct val="100000"/>
            </a:pPr>
            <a:r>
              <a:rPr lang="en-US" sz="1400" b="1" dirty="0"/>
              <a:t>Guaranteeing Availability:</a:t>
            </a:r>
            <a:r>
              <a:rPr lang="en-US" sz="1400" dirty="0"/>
              <a:t> This objective ensures that data is readily accessible to authorized users whenever it is needed for business operations, minimizing downtime and retrieval delays.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19256" cy="637579"/>
          </a:xfrm>
        </p:spPr>
        <p:txBody>
          <a:bodyPr>
            <a:noAutofit/>
          </a:bodyPr>
          <a:lstStyle/>
          <a:p>
            <a:r>
              <a:rPr lang="en-US" sz="2600" b="1" dirty="0">
                <a:solidFill>
                  <a:schemeClr val="accent1">
                    <a:lumMod val="75000"/>
                  </a:schemeClr>
                </a:solidFill>
              </a:rPr>
              <a:t>Importance of Data Lifecycle Management (DLM)</a:t>
            </a:r>
          </a:p>
        </p:txBody>
      </p:sp>
      <p:sp>
        <p:nvSpPr>
          <p:cNvPr id="3" name="Content Placeholder 2"/>
          <p:cNvSpPr>
            <a:spLocks noGrp="1"/>
          </p:cNvSpPr>
          <p:nvPr>
            <p:ph sz="quarter" idx="1"/>
          </p:nvPr>
        </p:nvSpPr>
        <p:spPr>
          <a:xfrm>
            <a:off x="457200" y="1004668"/>
            <a:ext cx="7467600" cy="3655314"/>
          </a:xfrm>
        </p:spPr>
        <p:txBody>
          <a:bodyPr>
            <a:noAutofit/>
          </a:bodyPr>
          <a:lstStyle/>
          <a:p>
            <a:pPr>
              <a:spcAft>
                <a:spcPts val="600"/>
              </a:spcAft>
              <a:buSzPct val="100000"/>
            </a:pPr>
            <a:r>
              <a:rPr lang="en-US" sz="1400" b="1" dirty="0"/>
              <a:t>Standardized Data Protocols:</a:t>
            </a:r>
            <a:r>
              <a:rPr lang="en-US" sz="1400" dirty="0"/>
              <a:t> Establishes formal rules for every stage of the data journey, defining exactly how information is acquired, accessed, and used.</a:t>
            </a:r>
          </a:p>
          <a:p>
            <a:pPr>
              <a:spcAft>
                <a:spcPts val="600"/>
              </a:spcAft>
              <a:buSzPct val="100000"/>
            </a:pPr>
            <a:r>
              <a:rPr lang="en-US" sz="1400" b="1" dirty="0"/>
              <a:t>Enhanced Information Safeguarding:</a:t>
            </a:r>
            <a:r>
              <a:rPr lang="en-US" sz="1400" dirty="0"/>
              <a:t> Provides a structured strategy to protect sensitive corporate assets and customer privacy from unauthorized external threats.</a:t>
            </a:r>
          </a:p>
          <a:p>
            <a:pPr>
              <a:spcAft>
                <a:spcPts val="600"/>
              </a:spcAft>
              <a:buSzPct val="100000"/>
            </a:pPr>
            <a:r>
              <a:rPr lang="en-US" sz="1400" b="1" dirty="0"/>
              <a:t>Ensuring Regulatory Compliance:</a:t>
            </a:r>
            <a:r>
              <a:rPr lang="en-US" sz="1400" dirty="0"/>
              <a:t> Helps organizations stay in line with evolving data protection laws, reducing the risk of legal fines and compliance violations.</a:t>
            </a:r>
          </a:p>
          <a:p>
            <a:pPr>
              <a:spcAft>
                <a:spcPts val="600"/>
              </a:spcAft>
              <a:buSzPct val="100000"/>
            </a:pPr>
            <a:r>
              <a:rPr lang="en-US" sz="1400" b="1" dirty="0"/>
              <a:t>Managing Rapid Data Growth:</a:t>
            </a:r>
            <a:r>
              <a:rPr lang="en-US" sz="1400" dirty="0"/>
              <a:t> Offers a scalable framework to organize and control the massive volume of data generated by modern business operations.</a:t>
            </a:r>
          </a:p>
          <a:p>
            <a:pPr>
              <a:spcAft>
                <a:spcPts val="600"/>
              </a:spcAft>
              <a:buSzPct val="100000"/>
            </a:pPr>
            <a:r>
              <a:rPr lang="en-US" sz="1400" b="1" dirty="0"/>
              <a:t>Proactive Risk Mitigation:</a:t>
            </a:r>
            <a:r>
              <a:rPr lang="en-US" sz="1400" dirty="0"/>
              <a:t> Significantly reduces the chances of data breaches and prevents file corruption caused by malware or other cyber infections.</a:t>
            </a:r>
          </a:p>
          <a:p>
            <a:pPr>
              <a:spcAft>
                <a:spcPts val="600"/>
              </a:spcAft>
              <a:buSzPct val="100000"/>
            </a:pPr>
            <a:r>
              <a:rPr lang="en-US" sz="1400" b="1" dirty="0"/>
              <a:t>Improved Operational Efficiency:</a:t>
            </a:r>
            <a:r>
              <a:rPr lang="en-US" sz="1400" dirty="0"/>
              <a:t> Streamlines storage costs and speeds up data retrieval by systematically identifying and removing outdated or redundant records.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6860"/>
            <a:ext cx="7467600" cy="613171"/>
          </a:xfrm>
        </p:spPr>
        <p:txBody>
          <a:bodyPr>
            <a:normAutofit/>
          </a:bodyPr>
          <a:lstStyle/>
          <a:p>
            <a:r>
              <a:rPr lang="en-US" sz="2600" b="1" dirty="0">
                <a:solidFill>
                  <a:schemeClr val="accent1">
                    <a:lumMod val="75000"/>
                  </a:schemeClr>
                </a:solidFill>
              </a:rPr>
              <a:t>Key Stages of DLM</a:t>
            </a:r>
          </a:p>
        </p:txBody>
      </p:sp>
      <p:sp>
        <p:nvSpPr>
          <p:cNvPr id="3" name="Content Placeholder 2"/>
          <p:cNvSpPr>
            <a:spLocks noGrp="1"/>
          </p:cNvSpPr>
          <p:nvPr>
            <p:ph sz="quarter" idx="1"/>
          </p:nvPr>
        </p:nvSpPr>
        <p:spPr>
          <a:xfrm>
            <a:off x="457200" y="932660"/>
            <a:ext cx="7696200" cy="3655314"/>
          </a:xfrm>
        </p:spPr>
        <p:txBody>
          <a:bodyPr>
            <a:noAutofit/>
          </a:bodyPr>
          <a:lstStyle/>
          <a:p>
            <a:pPr marL="400050" indent="-400050">
              <a:spcAft>
                <a:spcPts val="600"/>
              </a:spcAft>
              <a:buSzPct val="100000"/>
              <a:buFont typeface="+mj-lt"/>
              <a:buAutoNum type="romanLcPeriod"/>
            </a:pPr>
            <a:r>
              <a:rPr lang="en-US" sz="1400" b="1" dirty="0"/>
              <a:t>Data Collection:</a:t>
            </a:r>
            <a:r>
              <a:rPr lang="en-US" sz="1400" dirty="0"/>
              <a:t> Focuses on capturing high-quality information by establishing standardized formats and strict privacy policies to lay a reliable foundation for all subsequent stages.</a:t>
            </a:r>
          </a:p>
          <a:p>
            <a:pPr marL="400050" indent="-400050">
              <a:spcAft>
                <a:spcPts val="600"/>
              </a:spcAft>
              <a:buSzPct val="100000"/>
              <a:buFont typeface="+mj-lt"/>
              <a:buAutoNum type="romanLcPeriod"/>
            </a:pPr>
            <a:r>
              <a:rPr lang="en-US" sz="1400" b="1" dirty="0"/>
              <a:t>Data Storage and Maintenance:</a:t>
            </a:r>
            <a:r>
              <a:rPr lang="en-US" sz="1400" dirty="0"/>
              <a:t> Involves securing data in systems like RDBMS (SQL) or </a:t>
            </a:r>
            <a:r>
              <a:rPr lang="en-US" sz="1400" dirty="0" err="1"/>
              <a:t>NoSQL</a:t>
            </a:r>
            <a:r>
              <a:rPr lang="en-US" sz="1400" dirty="0"/>
              <a:t> databases, while implementing critical protocols for backups, archiving, and encryption to ensure accuracy.</a:t>
            </a:r>
          </a:p>
          <a:p>
            <a:pPr marL="400050" indent="-400050">
              <a:spcAft>
                <a:spcPts val="600"/>
              </a:spcAft>
              <a:buSzPct val="100000"/>
              <a:buFont typeface="+mj-lt"/>
              <a:buAutoNum type="romanLcPeriod"/>
            </a:pPr>
            <a:r>
              <a:rPr lang="en-US" sz="1400" b="1" dirty="0"/>
              <a:t>Data Processing:</a:t>
            </a:r>
            <a:r>
              <a:rPr lang="en-US" sz="1400" dirty="0"/>
              <a:t> Transforms raw data into actionable insights using tools like Python or Spark; this stage must strictly adhere to global regulations such as </a:t>
            </a:r>
            <a:r>
              <a:rPr lang="en-US" sz="1400" b="1" dirty="0"/>
              <a:t>GDPR</a:t>
            </a:r>
            <a:r>
              <a:rPr lang="en-US" sz="1400" dirty="0"/>
              <a:t>, </a:t>
            </a:r>
            <a:r>
              <a:rPr lang="en-US" sz="1400" b="1" dirty="0"/>
              <a:t>HIPAA</a:t>
            </a:r>
            <a:r>
              <a:rPr lang="en-US" sz="1400" dirty="0"/>
              <a:t>, or </a:t>
            </a:r>
            <a:r>
              <a:rPr lang="en-US" sz="1400" b="1" dirty="0"/>
              <a:t>CCPA</a:t>
            </a:r>
            <a:r>
              <a:rPr lang="en-US" sz="1400" dirty="0"/>
              <a:t>.</a:t>
            </a:r>
          </a:p>
          <a:p>
            <a:pPr marL="400050" indent="-400050">
              <a:spcAft>
                <a:spcPts val="600"/>
              </a:spcAft>
              <a:buSzPct val="100000"/>
              <a:buFont typeface="+mj-lt"/>
              <a:buAutoNum type="romanLcPeriod"/>
            </a:pPr>
            <a:r>
              <a:rPr lang="en-US" sz="1400" b="1" dirty="0"/>
              <a:t>Data Sharing and Usage:</a:t>
            </a:r>
            <a:r>
              <a:rPr lang="en-US" sz="1400" dirty="0"/>
              <a:t> Facilitates the exchange of operational and master data across departments to boost productivity, balanced by strong governance to maintain security and privacy.</a:t>
            </a:r>
          </a:p>
          <a:p>
            <a:pPr marL="400050" indent="-400050">
              <a:spcAft>
                <a:spcPts val="600"/>
              </a:spcAft>
              <a:buSzPct val="100000"/>
              <a:buFont typeface="+mj-lt"/>
              <a:buAutoNum type="romanLcPeriod"/>
            </a:pPr>
            <a:r>
              <a:rPr lang="en-US" sz="1400" b="1" dirty="0"/>
              <a:t>Data Archiving:</a:t>
            </a:r>
            <a:r>
              <a:rPr lang="en-US" sz="1400" dirty="0"/>
              <a:t> Ensures long-term preservation of information by moving inactive data to secondary storage, which reduces costs while keeping records available for future audits or legal needs.</a:t>
            </a:r>
          </a:p>
          <a:p>
            <a:pPr marL="400050" indent="-400050">
              <a:spcAft>
                <a:spcPts val="600"/>
              </a:spcAft>
              <a:buSzPct val="100000"/>
              <a:buFont typeface="+mj-lt"/>
              <a:buAutoNum type="romanLcPeriod"/>
            </a:pPr>
            <a:r>
              <a:rPr lang="en-US" sz="1400" b="1" dirty="0"/>
              <a:t>Data Deletion:</a:t>
            </a:r>
            <a:r>
              <a:rPr lang="en-US" sz="1400" dirty="0"/>
              <a:t> The final phase involves the secure and systematic removal of redundant or obsolete data according to retention policies to optimize storage and mitigate legal risks.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153400" cy="536971"/>
          </a:xfrm>
        </p:spPr>
        <p:txBody>
          <a:bodyPr>
            <a:normAutofit/>
          </a:bodyPr>
          <a:lstStyle/>
          <a:p>
            <a:r>
              <a:rPr lang="en-US" sz="2600" b="1" dirty="0">
                <a:solidFill>
                  <a:schemeClr val="accent1">
                    <a:lumMod val="75000"/>
                  </a:schemeClr>
                </a:solidFill>
              </a:rPr>
              <a:t>Implementing an Effective DLM Strategy</a:t>
            </a:r>
          </a:p>
        </p:txBody>
      </p:sp>
      <p:sp>
        <p:nvSpPr>
          <p:cNvPr id="3" name="Content Placeholder 2"/>
          <p:cNvSpPr>
            <a:spLocks noGrp="1"/>
          </p:cNvSpPr>
          <p:nvPr>
            <p:ph sz="quarter" idx="1"/>
          </p:nvPr>
        </p:nvSpPr>
        <p:spPr>
          <a:xfrm>
            <a:off x="457200" y="971550"/>
            <a:ext cx="7467600" cy="3655314"/>
          </a:xfrm>
        </p:spPr>
        <p:txBody>
          <a:bodyPr>
            <a:normAutofit/>
          </a:bodyPr>
          <a:lstStyle/>
          <a:p>
            <a:pPr>
              <a:spcBef>
                <a:spcPts val="1200"/>
              </a:spcBef>
              <a:spcAft>
                <a:spcPts val="1200"/>
              </a:spcAft>
              <a:buSzPct val="100000"/>
            </a:pPr>
            <a:r>
              <a:rPr lang="en-US" sz="1400" b="1" dirty="0"/>
              <a:t>Comprehensive Data Governance Policies:</a:t>
            </a:r>
            <a:r>
              <a:rPr lang="en-US" sz="1400" dirty="0"/>
              <a:t> Establish formal documentation that outlines specific expectations, responsibilities, and procedures to create a standardized framework for protecting, verifying, and distributing data, ensuring all information used for decision-making is accurate and consistent.</a:t>
            </a:r>
          </a:p>
          <a:p>
            <a:pPr>
              <a:spcBef>
                <a:spcPts val="1200"/>
              </a:spcBef>
              <a:spcAft>
                <a:spcPts val="1200"/>
              </a:spcAft>
              <a:buSzPct val="100000"/>
            </a:pPr>
            <a:r>
              <a:rPr lang="en-US" sz="1400" b="1" dirty="0"/>
              <a:t>Layered Data Security Measures:</a:t>
            </a:r>
            <a:r>
              <a:rPr lang="en-US" sz="1400" dirty="0"/>
              <a:t> Protect sensitive business information from unauthorized access and potential breaches by implementing technical safeguards such as data encryption, strict access controls, data masking, and loss prevention protocols to safeguard assets throughout their lifecycle.</a:t>
            </a:r>
          </a:p>
          <a:p>
            <a:pPr>
              <a:spcBef>
                <a:spcPts val="1200"/>
              </a:spcBef>
              <a:spcAft>
                <a:spcPts val="1200"/>
              </a:spcAft>
              <a:buSzPct val="100000"/>
            </a:pPr>
            <a:r>
              <a:rPr lang="en-US" sz="1400" b="1" dirty="0"/>
              <a:t>Strict Regulatory Compliance and Monitoring:</a:t>
            </a:r>
            <a:r>
              <a:rPr lang="en-US" sz="1400" dirty="0"/>
              <a:t> Maintain adherence to legal and ethical standards through continuous auditing, regular security assessments, and the use of automated governance platforms, while providing staff training to ensure the organization meets the requirements of governing bodies and industry regulations.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7467600" cy="613171"/>
          </a:xfrm>
        </p:spPr>
        <p:txBody>
          <a:bodyPr>
            <a:normAutofit/>
          </a:bodyPr>
          <a:lstStyle/>
          <a:p>
            <a:r>
              <a:rPr lang="en-US" sz="2600" b="1" dirty="0">
                <a:solidFill>
                  <a:schemeClr val="accent1">
                    <a:lumMod val="75000"/>
                  </a:schemeClr>
                </a:solidFill>
              </a:rPr>
              <a:t>Benefits of DLM Implementation</a:t>
            </a:r>
          </a:p>
        </p:txBody>
      </p:sp>
      <p:sp>
        <p:nvSpPr>
          <p:cNvPr id="3" name="Content Placeholder 2"/>
          <p:cNvSpPr>
            <a:spLocks noGrp="1"/>
          </p:cNvSpPr>
          <p:nvPr>
            <p:ph sz="quarter" idx="1"/>
          </p:nvPr>
        </p:nvSpPr>
        <p:spPr>
          <a:xfrm>
            <a:off x="457200" y="971550"/>
            <a:ext cx="7467600" cy="3883914"/>
          </a:xfrm>
        </p:spPr>
        <p:txBody>
          <a:bodyPr>
            <a:normAutofit/>
          </a:bodyPr>
          <a:lstStyle/>
          <a:p>
            <a:pPr>
              <a:spcBef>
                <a:spcPts val="1200"/>
              </a:spcBef>
              <a:spcAft>
                <a:spcPts val="1200"/>
              </a:spcAft>
              <a:buSzPct val="100000"/>
            </a:pPr>
            <a:r>
              <a:rPr lang="en-US" sz="1400" b="1" dirty="0"/>
              <a:t>Improved and Streamlined Data Access:</a:t>
            </a:r>
            <a:r>
              <a:rPr lang="en-US" sz="1400" dirty="0"/>
              <a:t> Enhances the ability of organizations to make rapid, informed decisions by ensuring data is readily available, which boosts overall efficiency and productivity while helping businesses identify fresh opportunities and prevent potential data breaches.</a:t>
            </a:r>
          </a:p>
          <a:p>
            <a:pPr>
              <a:spcBef>
                <a:spcPts val="1200"/>
              </a:spcBef>
              <a:spcAft>
                <a:spcPts val="1200"/>
              </a:spcAft>
              <a:buSzPct val="100000"/>
            </a:pPr>
            <a:r>
              <a:rPr lang="en-US" sz="1400" b="1" dirty="0"/>
              <a:t>Structured Regulatory Compliance:</a:t>
            </a:r>
            <a:r>
              <a:rPr lang="en-US" sz="1400" dirty="0"/>
              <a:t> Provides a systematic and organized approach to the entire data lifecycle, guaranteeing that every piece of information is acquired, stored, and processed in strict alignment with applicable laws and industry-specific regulations to avoid legal repercussions.</a:t>
            </a:r>
          </a:p>
          <a:p>
            <a:pPr>
              <a:spcBef>
                <a:spcPts val="1200"/>
              </a:spcBef>
              <a:spcAft>
                <a:spcPts val="1200"/>
              </a:spcAft>
              <a:buSzPct val="100000"/>
            </a:pPr>
            <a:r>
              <a:rPr lang="en-US" sz="1400" b="1" dirty="0"/>
              <a:t>Controlled and Efficient Data Governance:</a:t>
            </a:r>
            <a:r>
              <a:rPr lang="en-US" sz="1400" dirty="0"/>
              <a:t> Establishes a rigorous governance framework that leads to superior data quality and consistency, effectively reducing long-term management costs while simultaneously increasing secure data accessibility for all relevant stakeholders.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7467600" cy="689371"/>
          </a:xfrm>
        </p:spPr>
        <p:txBody>
          <a:bodyPr>
            <a:normAutofit/>
          </a:bodyPr>
          <a:lstStyle/>
          <a:p>
            <a:r>
              <a:rPr lang="en-US" sz="2600" b="1" dirty="0">
                <a:solidFill>
                  <a:schemeClr val="accent1">
                    <a:lumMod val="75000"/>
                  </a:schemeClr>
                </a:solidFill>
              </a:rPr>
              <a:t>Tools and Technologies for DLM</a:t>
            </a:r>
          </a:p>
        </p:txBody>
      </p:sp>
      <p:sp>
        <p:nvSpPr>
          <p:cNvPr id="3" name="Content Placeholder 2"/>
          <p:cNvSpPr>
            <a:spLocks noGrp="1"/>
          </p:cNvSpPr>
          <p:nvPr>
            <p:ph sz="quarter" idx="1"/>
          </p:nvPr>
        </p:nvSpPr>
        <p:spPr/>
        <p:txBody>
          <a:bodyPr>
            <a:normAutofit/>
          </a:bodyPr>
          <a:lstStyle/>
          <a:p>
            <a:pPr>
              <a:spcBef>
                <a:spcPts val="1200"/>
              </a:spcBef>
              <a:spcAft>
                <a:spcPts val="1200"/>
              </a:spcAft>
              <a:buSzPct val="100000"/>
            </a:pPr>
            <a:r>
              <a:rPr lang="en-US" sz="1400" b="1" dirty="0"/>
              <a:t>Integrated Data Management Platforms (DMPs):</a:t>
            </a:r>
            <a:r>
              <a:rPr lang="en-US" sz="1400" dirty="0"/>
              <a:t> Utilize these software systems to collect and organize data from diverse online, offline, and mobile sources, enabling the creation of detailed profiles for targeted initiatives through features like data integration, audience building, and automated analytics.</a:t>
            </a:r>
          </a:p>
          <a:p>
            <a:pPr>
              <a:spcBef>
                <a:spcPts val="1200"/>
              </a:spcBef>
              <a:spcAft>
                <a:spcPts val="1200"/>
              </a:spcAft>
              <a:buSzPct val="100000"/>
            </a:pPr>
            <a:r>
              <a:rPr lang="en-US" sz="1400" b="1" dirty="0"/>
              <a:t>Specialized Data Classification Tools:</a:t>
            </a:r>
            <a:r>
              <a:rPr lang="en-US" sz="1400" dirty="0"/>
              <a:t> Deploy programs like IBM Watson Knowledge Catalog or Microsoft Purview to identify and categorize sensitive information by assigning specific attributes, which ensures data is appropriately safeguarded despite being resource-intensive and requiring specialized expertise.</a:t>
            </a:r>
          </a:p>
          <a:p>
            <a:pPr>
              <a:spcBef>
                <a:spcPts val="1200"/>
              </a:spcBef>
              <a:spcAft>
                <a:spcPts val="1200"/>
              </a:spcAft>
              <a:buSzPct val="100000"/>
            </a:pPr>
            <a:r>
              <a:rPr lang="en-US" sz="1400" b="1" dirty="0"/>
              <a:t>Proactive Data Monitoring and Analytics:</a:t>
            </a:r>
            <a:r>
              <a:rPr lang="en-US" sz="1400" dirty="0"/>
              <a:t> Implement tools such as </a:t>
            </a:r>
            <a:r>
              <a:rPr lang="en-US" sz="1400" dirty="0" err="1"/>
              <a:t>Splunk</a:t>
            </a:r>
            <a:r>
              <a:rPr lang="en-US" sz="1400" dirty="0"/>
              <a:t>, </a:t>
            </a:r>
            <a:r>
              <a:rPr lang="en-US" sz="1400" dirty="0" err="1"/>
              <a:t>Datadog</a:t>
            </a:r>
            <a:r>
              <a:rPr lang="en-US" sz="1400" dirty="0"/>
              <a:t>, or Logz.io to continuously evaluate data quality and verify compliance with standards, while transforming raw information into meaningful insights to support data-driven decision-making and operational growth.</a:t>
            </a:r>
          </a:p>
          <a:p>
            <a:pPr>
              <a:buSzPct val="100000"/>
            </a:pP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00" b="1" dirty="0">
                <a:solidFill>
                  <a:schemeClr val="accent1">
                    <a:lumMod val="75000"/>
                  </a:schemeClr>
                </a:solidFill>
              </a:rPr>
              <a:t>Common Challenges and Solutions in DLM</a:t>
            </a:r>
          </a:p>
        </p:txBody>
      </p:sp>
      <p:sp>
        <p:nvSpPr>
          <p:cNvPr id="3" name="Content Placeholder 2"/>
          <p:cNvSpPr>
            <a:spLocks noGrp="1"/>
          </p:cNvSpPr>
          <p:nvPr>
            <p:ph sz="quarter" idx="1"/>
          </p:nvPr>
        </p:nvSpPr>
        <p:spPr/>
        <p:txBody>
          <a:bodyPr>
            <a:normAutofit/>
          </a:bodyPr>
          <a:lstStyle/>
          <a:p>
            <a:pPr>
              <a:spcBef>
                <a:spcPts val="1200"/>
              </a:spcBef>
              <a:spcAft>
                <a:spcPts val="1200"/>
              </a:spcAft>
              <a:buSzPct val="100000"/>
            </a:pPr>
            <a:r>
              <a:rPr lang="en-US" sz="1400" b="1" dirty="0"/>
              <a:t>Implementation of Automated Solutions:</a:t>
            </a:r>
            <a:r>
              <a:rPr lang="en-US" sz="1400" dirty="0"/>
              <a:t> Address resource limitations and manual inaccuracies by automating critical processes such as data entry, verification, and archiving, which streamlines operations and ensures high levels of efficiency and accuracy throughout the lifecycle.</a:t>
            </a:r>
          </a:p>
          <a:p>
            <a:pPr>
              <a:spcBef>
                <a:spcPts val="1200"/>
              </a:spcBef>
              <a:spcAft>
                <a:spcPts val="1200"/>
              </a:spcAft>
              <a:buSzPct val="100000"/>
            </a:pPr>
            <a:r>
              <a:rPr lang="en-US" sz="1400" b="1" dirty="0"/>
              <a:t>Establishment of Proper Governance Protocols:</a:t>
            </a:r>
            <a:r>
              <a:rPr lang="en-US" sz="1400" dirty="0"/>
              <a:t> Overcome the difficulty of managing fragmented information by developing formal data governance rules and unified strategies, enabling organizations to maintain a consistent and standardized approach to data capture and management.</a:t>
            </a:r>
          </a:p>
          <a:p>
            <a:pPr>
              <a:spcBef>
                <a:spcPts val="1200"/>
              </a:spcBef>
              <a:spcAft>
                <a:spcPts val="1200"/>
              </a:spcAft>
              <a:buSzPct val="100000"/>
            </a:pPr>
            <a:r>
              <a:rPr lang="en-US" sz="1400" b="1" dirty="0"/>
              <a:t>Deployment of Strong Security Measures:</a:t>
            </a:r>
            <a:r>
              <a:rPr lang="en-US" sz="1400" dirty="0"/>
              <a:t> Neutralize threats to data privacy and integrity by utilizing advanced encryption techniques combined with robust system defenses like firewalls and antivirus software to protect sensitive business assets from unauthorized access and cyber threats.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00" b="1" dirty="0">
                <a:solidFill>
                  <a:schemeClr val="accent1">
                    <a:lumMod val="75000"/>
                  </a:schemeClr>
                </a:solidFill>
              </a:rPr>
              <a:t>DLM vs. ILM</a:t>
            </a:r>
          </a:p>
        </p:txBody>
      </p:sp>
      <p:sp>
        <p:nvSpPr>
          <p:cNvPr id="3" name="Content Placeholder 2"/>
          <p:cNvSpPr>
            <a:spLocks noGrp="1"/>
          </p:cNvSpPr>
          <p:nvPr>
            <p:ph sz="quarter" idx="1"/>
          </p:nvPr>
        </p:nvSpPr>
        <p:spPr/>
        <p:txBody>
          <a:bodyPr>
            <a:normAutofit/>
          </a:bodyPr>
          <a:lstStyle/>
          <a:p>
            <a:pPr>
              <a:spcBef>
                <a:spcPts val="1200"/>
              </a:spcBef>
              <a:spcAft>
                <a:spcPts val="1200"/>
              </a:spcAft>
              <a:buSzPct val="100000"/>
            </a:pPr>
            <a:r>
              <a:rPr lang="en-US" sz="1400" b="1" dirty="0"/>
              <a:t>Core Focus and Scope:</a:t>
            </a:r>
            <a:r>
              <a:rPr lang="en-US" sz="1400" dirty="0"/>
              <a:t> The primary distinction lies in their objective; </a:t>
            </a:r>
            <a:r>
              <a:rPr lang="en-US" sz="1400" b="1" dirty="0"/>
              <a:t>Data Lifecycle Management (DLM)</a:t>
            </a:r>
            <a:r>
              <a:rPr lang="en-US" sz="1400" dirty="0"/>
              <a:t> concentrates on managing entire files, records, or blocks of raw data, whereas </a:t>
            </a:r>
            <a:r>
              <a:rPr lang="en-US" sz="1400" b="1" dirty="0"/>
              <a:t>Information Lifecycle Management (ILM)</a:t>
            </a:r>
            <a:r>
              <a:rPr lang="en-US" sz="1400" dirty="0"/>
              <a:t> focuses on the specific value and context that information provides to the organization.</a:t>
            </a:r>
          </a:p>
          <a:p>
            <a:pPr>
              <a:spcBef>
                <a:spcPts val="1200"/>
              </a:spcBef>
              <a:spcAft>
                <a:spcPts val="1200"/>
              </a:spcAft>
              <a:buSzPct val="100000"/>
            </a:pPr>
            <a:r>
              <a:rPr lang="en-US" sz="1400" b="1" dirty="0"/>
              <a:t>Operational Approach:</a:t>
            </a:r>
            <a:r>
              <a:rPr lang="en-US" sz="1400" dirty="0"/>
              <a:t> DLM treats data as a physical asset to be moved through stages—determining exactly when raw data is no longer useful—while ILM takes a more holistic approach, regulating the accuracy, relevance, and storage of data based on its strategic importance.</a:t>
            </a:r>
          </a:p>
          <a:p>
            <a:pPr>
              <a:spcBef>
                <a:spcPts val="1200"/>
              </a:spcBef>
              <a:spcAft>
                <a:spcPts val="1200"/>
              </a:spcAft>
              <a:buSzPct val="100000"/>
            </a:pPr>
            <a:r>
              <a:rPr lang="en-US" sz="1400" b="1" dirty="0"/>
              <a:t>Management Goals:</a:t>
            </a:r>
            <a:r>
              <a:rPr lang="en-US" sz="1400" dirty="0"/>
              <a:t> While both are crucial for effective data management, DLM is primarily concerned with the mechanical lifecycle of raw files, whereas ILM evaluates the content within those files to align storage and protection strategies with the information's business value.</a:t>
            </a:r>
          </a:p>
          <a:p>
            <a:pPr>
              <a:buSzPct val="100000"/>
            </a:pP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0CA5D-6A8E-4DD9-9727-D053497A82BA}"/>
              </a:ext>
            </a:extLst>
          </p:cNvPr>
          <p:cNvSpPr>
            <a:spLocks noGrp="1"/>
          </p:cNvSpPr>
          <p:nvPr>
            <p:ph type="title"/>
          </p:nvPr>
        </p:nvSpPr>
        <p:spPr>
          <a:xfrm>
            <a:off x="457200" y="349995"/>
            <a:ext cx="7467600" cy="709587"/>
          </a:xfrm>
        </p:spPr>
        <p:txBody>
          <a:bodyPr>
            <a:normAutofit/>
          </a:bodyPr>
          <a:lstStyle/>
          <a:p>
            <a:r>
              <a:rPr lang="en-US" sz="2600" b="1" dirty="0">
                <a:solidFill>
                  <a:schemeClr val="accent1">
                    <a:lumMod val="75000"/>
                  </a:schemeClr>
                </a:solidFill>
              </a:rPr>
              <a:t>Understanding Data Integrity</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C2B60953-50ED-4C36-9221-71E32C466A74}"/>
              </a:ext>
            </a:extLst>
          </p:cNvPr>
          <p:cNvSpPr>
            <a:spLocks noGrp="1"/>
          </p:cNvSpPr>
          <p:nvPr>
            <p:ph sz="quarter" idx="1"/>
          </p:nvPr>
        </p:nvSpPr>
        <p:spPr/>
        <p:txBody>
          <a:bodyPr>
            <a:normAutofit/>
          </a:bodyPr>
          <a:lstStyle/>
          <a:p>
            <a:pPr>
              <a:spcBef>
                <a:spcPts val="1200"/>
              </a:spcBef>
              <a:spcAft>
                <a:spcPts val="1200"/>
              </a:spcAft>
              <a:buSzPct val="100000"/>
            </a:pPr>
            <a:r>
              <a:rPr lang="en-US" sz="1400" b="1" dirty="0"/>
              <a:t>Governance Framework:</a:t>
            </a:r>
            <a:r>
              <a:rPr lang="en-US" sz="1400" dirty="0"/>
              <a:t> Organizations establish high levels of integrity by implementing formal processes, rules, and standards that strictly control how data is gathered, stored, accessed, modified, and utilized throughout its lifecycle.</a:t>
            </a:r>
          </a:p>
          <a:p>
            <a:pPr>
              <a:spcBef>
                <a:spcPts val="1200"/>
              </a:spcBef>
              <a:spcAft>
                <a:spcPts val="1200"/>
              </a:spcAft>
              <a:buSzPct val="100000"/>
            </a:pPr>
            <a:r>
              <a:rPr lang="en-US" sz="1400" b="1" dirty="0"/>
              <a:t>Technological Preservation:</a:t>
            </a:r>
            <a:r>
              <a:rPr lang="en-US" sz="1400" dirty="0"/>
              <a:t> Teams leverage a range of technologies and cloud environments to maintain integrity, ensuring all actions align with established data governance principles and organizational goals.</a:t>
            </a:r>
          </a:p>
          <a:p>
            <a:pPr>
              <a:spcBef>
                <a:spcPts val="1200"/>
              </a:spcBef>
              <a:spcAft>
                <a:spcPts val="1200"/>
              </a:spcAft>
              <a:buSzPct val="100000"/>
            </a:pPr>
            <a:r>
              <a:rPr lang="en-US" sz="1400" b="1" dirty="0"/>
              <a:t>Policy Enforcement:</a:t>
            </a:r>
            <a:r>
              <a:rPr lang="en-US" sz="1400" dirty="0"/>
              <a:t> This involves the continuous development, updating, and enforcement of policies and regulations designed to prevent human mistakes, data loss, corruption, and the mistreatment of sensitive or regulated information.</a:t>
            </a:r>
          </a:p>
          <a:p>
            <a:pPr>
              <a:spcBef>
                <a:spcPts val="1200"/>
              </a:spcBef>
              <a:spcAft>
                <a:spcPts val="1200"/>
              </a:spcAft>
              <a:buSzPct val="100000"/>
            </a:pPr>
            <a:r>
              <a:rPr lang="en-US" sz="1400" b="1" dirty="0"/>
              <a:t>Risk Mitigation:</a:t>
            </a:r>
            <a:r>
              <a:rPr lang="en-US" sz="1400" dirty="0"/>
              <a:t> By adhering to these standards, organizations actively shield their data assets from potential data breaches and ensure that information remains reliable and secure.</a:t>
            </a:r>
          </a:p>
        </p:txBody>
      </p:sp>
    </p:spTree>
    <p:extLst>
      <p:ext uri="{BB962C8B-B14F-4D97-AF65-F5344CB8AC3E}">
        <p14:creationId xmlns:p14="http://schemas.microsoft.com/office/powerpoint/2010/main" val="23905741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A705A-95A7-425F-9B8A-6D5E01C39AF4}"/>
              </a:ext>
            </a:extLst>
          </p:cNvPr>
          <p:cNvSpPr>
            <a:spLocks noGrp="1"/>
          </p:cNvSpPr>
          <p:nvPr>
            <p:ph type="title"/>
          </p:nvPr>
        </p:nvSpPr>
        <p:spPr>
          <a:xfrm>
            <a:off x="457200" y="51470"/>
            <a:ext cx="7467600" cy="536971"/>
          </a:xfrm>
        </p:spPr>
        <p:txBody>
          <a:bodyPr>
            <a:normAutofit/>
          </a:bodyPr>
          <a:lstStyle/>
          <a:p>
            <a:r>
              <a:rPr lang="en-US" sz="2600" b="1" dirty="0">
                <a:solidFill>
                  <a:schemeClr val="accent1">
                    <a:lumMod val="75000"/>
                  </a:schemeClr>
                </a:solidFill>
              </a:rPr>
              <a:t>Classification of Data Integrity</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D08330A1-778A-4911-8B98-3346B34F358D}"/>
              </a:ext>
            </a:extLst>
          </p:cNvPr>
          <p:cNvSpPr>
            <a:spLocks noGrp="1"/>
          </p:cNvSpPr>
          <p:nvPr>
            <p:ph sz="quarter" idx="1"/>
          </p:nvPr>
        </p:nvSpPr>
        <p:spPr>
          <a:xfrm>
            <a:off x="457200" y="610467"/>
            <a:ext cx="7696200" cy="4625579"/>
          </a:xfrm>
        </p:spPr>
        <p:txBody>
          <a:bodyPr vert="horz">
            <a:noAutofit/>
          </a:bodyPr>
          <a:lstStyle/>
          <a:p>
            <a:pPr marL="342900" indent="-342900">
              <a:lnSpc>
                <a:spcPct val="110000"/>
              </a:lnSpc>
              <a:spcBef>
                <a:spcPts val="0"/>
              </a:spcBef>
              <a:spcAft>
                <a:spcPts val="600"/>
              </a:spcAft>
              <a:buSzPct val="100000"/>
              <a:buFont typeface="+mj-lt"/>
              <a:buAutoNum type="arabicPeriod"/>
            </a:pPr>
            <a:r>
              <a:rPr lang="en-US" sz="1400" b="1" dirty="0"/>
              <a:t>Physical Data Integrity</a:t>
            </a:r>
          </a:p>
          <a:p>
            <a:pPr marL="363538" indent="-273050">
              <a:lnSpc>
                <a:spcPct val="110000"/>
              </a:lnSpc>
              <a:spcBef>
                <a:spcPts val="0"/>
              </a:spcBef>
              <a:spcAft>
                <a:spcPts val="600"/>
              </a:spcAft>
              <a:buSzPct val="100000"/>
            </a:pPr>
            <a:r>
              <a:rPr lang="en-US" sz="1400" b="1" dirty="0"/>
              <a:t>Definition:</a:t>
            </a:r>
            <a:r>
              <a:rPr lang="en-US" sz="1400" dirty="0"/>
              <a:t> Focuses on the preservation of data completeness, accessibility, and correctness while information is either at rest or in transit. It is primarily threatened by external physical events such as natural disasters, power failures, human hardware errors, and cyberattacks.</a:t>
            </a:r>
          </a:p>
          <a:p>
            <a:pPr marL="342900" indent="-342900">
              <a:lnSpc>
                <a:spcPct val="110000"/>
              </a:lnSpc>
              <a:spcBef>
                <a:spcPts val="0"/>
              </a:spcBef>
              <a:spcAft>
                <a:spcPts val="600"/>
              </a:spcAft>
              <a:buSzPct val="100000"/>
              <a:buFont typeface="+mj-lt"/>
              <a:buAutoNum type="arabicPeriod" startAt="2"/>
            </a:pPr>
            <a:r>
              <a:rPr lang="en-US" sz="1400" b="1" dirty="0"/>
              <a:t>Logical Data Integrity</a:t>
            </a:r>
          </a:p>
          <a:p>
            <a:pPr marL="363538" indent="-273050">
              <a:lnSpc>
                <a:spcPct val="110000"/>
              </a:lnSpc>
              <a:spcBef>
                <a:spcPts val="0"/>
              </a:spcBef>
              <a:spcAft>
                <a:spcPts val="600"/>
              </a:spcAft>
              <a:buSzPct val="100000"/>
            </a:pPr>
            <a:r>
              <a:rPr lang="en-US" sz="1400" b="1" dirty="0"/>
              <a:t>Definition:</a:t>
            </a:r>
            <a:r>
              <a:rPr lang="en-US" sz="1400" dirty="0"/>
              <a:t> Focuses on maintaining data consistency and completeness as it is accessed and modified by multiple stakeholders and applications across different departments and locations.</a:t>
            </a:r>
            <a:r>
              <a:rPr lang="en-US" sz="1400" b="1" dirty="0"/>
              <a:t> </a:t>
            </a:r>
          </a:p>
          <a:p>
            <a:pPr marL="363538" indent="-273050">
              <a:lnSpc>
                <a:spcPct val="110000"/>
              </a:lnSpc>
              <a:spcBef>
                <a:spcPts val="0"/>
              </a:spcBef>
              <a:spcAft>
                <a:spcPts val="600"/>
              </a:spcAft>
              <a:buSzPct val="100000"/>
            </a:pPr>
            <a:r>
              <a:rPr lang="en-US" sz="1400" b="1" dirty="0"/>
              <a:t>Key Components of Logical Data Integrity:</a:t>
            </a:r>
            <a:endParaRPr lang="en-US" sz="1400" dirty="0"/>
          </a:p>
          <a:p>
            <a:pPr lvl="1">
              <a:lnSpc>
                <a:spcPct val="110000"/>
              </a:lnSpc>
              <a:spcBef>
                <a:spcPts val="0"/>
              </a:spcBef>
              <a:spcAft>
                <a:spcPts val="600"/>
              </a:spcAft>
              <a:buSzPct val="100000"/>
            </a:pPr>
            <a:r>
              <a:rPr lang="en-US" sz="1400" b="1" dirty="0"/>
              <a:t>Entity Integrity:</a:t>
            </a:r>
            <a:r>
              <a:rPr lang="en-US" sz="1400" dirty="0"/>
              <a:t> Ensuring each record is unique and identifiable by systematically removing data duplicates.</a:t>
            </a:r>
          </a:p>
          <a:p>
            <a:pPr lvl="1">
              <a:lnSpc>
                <a:spcPct val="110000"/>
              </a:lnSpc>
              <a:spcBef>
                <a:spcPts val="0"/>
              </a:spcBef>
              <a:spcAft>
                <a:spcPts val="600"/>
              </a:spcAft>
              <a:buSzPct val="100000"/>
            </a:pPr>
            <a:r>
              <a:rPr lang="en-US" sz="1400" b="1" dirty="0"/>
              <a:t>Referential Integrity:</a:t>
            </a:r>
            <a:r>
              <a:rPr lang="en-US" sz="1400" dirty="0"/>
              <a:t> Maintaining consistent relationships between different data sets by controlling how data is stored and linked.</a:t>
            </a:r>
          </a:p>
          <a:p>
            <a:pPr lvl="1">
              <a:lnSpc>
                <a:spcPct val="110000"/>
              </a:lnSpc>
              <a:spcBef>
                <a:spcPts val="0"/>
              </a:spcBef>
              <a:spcAft>
                <a:spcPts val="600"/>
              </a:spcAft>
              <a:buSzPct val="100000"/>
            </a:pPr>
            <a:r>
              <a:rPr lang="en-US" sz="1400" b="1" dirty="0"/>
              <a:t>Domain Integrity:</a:t>
            </a:r>
            <a:r>
              <a:rPr lang="en-US" sz="1400" dirty="0"/>
              <a:t> Preserving data in the appropriate format and ensuring it falls within defined, acceptable ranges.</a:t>
            </a:r>
          </a:p>
          <a:p>
            <a:pPr lvl="1">
              <a:lnSpc>
                <a:spcPct val="110000"/>
              </a:lnSpc>
              <a:spcBef>
                <a:spcPts val="0"/>
              </a:spcBef>
              <a:spcAft>
                <a:spcPts val="600"/>
              </a:spcAft>
              <a:buSzPct val="100000"/>
            </a:pPr>
            <a:r>
              <a:rPr lang="en-US" sz="1400" b="1" dirty="0"/>
              <a:t>User-Defined Integrity:</a:t>
            </a:r>
            <a:r>
              <a:rPr lang="en-US" sz="1400" dirty="0"/>
              <a:t> Ensuring that data adheres to the unique business rules or industry-specific criteria established by the organization.</a:t>
            </a:r>
          </a:p>
        </p:txBody>
      </p:sp>
    </p:spTree>
    <p:extLst>
      <p:ext uri="{BB962C8B-B14F-4D97-AF65-F5344CB8AC3E}">
        <p14:creationId xmlns:p14="http://schemas.microsoft.com/office/powerpoint/2010/main" val="30078714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334F3-EE0A-44E8-A033-A13207447ABC}"/>
              </a:ext>
            </a:extLst>
          </p:cNvPr>
          <p:cNvSpPr>
            <a:spLocks noGrp="1"/>
          </p:cNvSpPr>
          <p:nvPr>
            <p:ph type="title"/>
          </p:nvPr>
        </p:nvSpPr>
        <p:spPr/>
        <p:txBody>
          <a:bodyPr>
            <a:normAutofit/>
          </a:bodyPr>
          <a:lstStyle/>
          <a:p>
            <a:r>
              <a:rPr lang="en-IN" sz="2600" b="1" dirty="0">
                <a:solidFill>
                  <a:schemeClr val="accent1">
                    <a:lumMod val="75000"/>
                  </a:schemeClr>
                </a:solidFill>
              </a:rPr>
              <a:t>Understanding Data Quality</a:t>
            </a:r>
          </a:p>
        </p:txBody>
      </p:sp>
      <p:sp>
        <p:nvSpPr>
          <p:cNvPr id="3" name="Content Placeholder 2">
            <a:extLst>
              <a:ext uri="{FF2B5EF4-FFF2-40B4-BE49-F238E27FC236}">
                <a16:creationId xmlns:a16="http://schemas.microsoft.com/office/drawing/2014/main" id="{BFFDE908-C624-4C92-9B2D-7F8823A9272E}"/>
              </a:ext>
            </a:extLst>
          </p:cNvPr>
          <p:cNvSpPr>
            <a:spLocks noGrp="1"/>
          </p:cNvSpPr>
          <p:nvPr>
            <p:ph sz="quarter" idx="1"/>
          </p:nvPr>
        </p:nvSpPr>
        <p:spPr/>
        <p:txBody>
          <a:bodyPr>
            <a:normAutofit/>
          </a:bodyPr>
          <a:lstStyle/>
          <a:p>
            <a:pPr>
              <a:spcBef>
                <a:spcPts val="1200"/>
              </a:spcBef>
              <a:spcAft>
                <a:spcPts val="1200"/>
              </a:spcAft>
              <a:buSzPct val="100000"/>
            </a:pPr>
            <a:r>
              <a:rPr lang="en-US" sz="1400" b="1" dirty="0"/>
              <a:t>Utility and Efficacy: </a:t>
            </a:r>
            <a:r>
              <a:rPr lang="en-US" sz="1400" dirty="0"/>
              <a:t>Data quality parameters help organizations understand the utility of a dataset by measuring its correctness, completeness, and fitness for its intended purpose.</a:t>
            </a:r>
          </a:p>
          <a:p>
            <a:pPr>
              <a:spcBef>
                <a:spcPts val="1200"/>
              </a:spcBef>
              <a:spcAft>
                <a:spcPts val="1200"/>
              </a:spcAft>
              <a:buSzPct val="100000"/>
            </a:pPr>
            <a:r>
              <a:rPr lang="en-US" sz="1400" b="1" dirty="0"/>
              <a:t>Fitness for Use:</a:t>
            </a:r>
            <a:r>
              <a:rPr lang="en-US" sz="1400" dirty="0"/>
              <a:t> Data quality monitoring is essential for determining if data is appropriate to serve its role in business processes and data analytics, especially as decision-making becomes more data-driven.</a:t>
            </a:r>
          </a:p>
          <a:p>
            <a:pPr>
              <a:spcBef>
                <a:spcPts val="1200"/>
              </a:spcBef>
              <a:spcAft>
                <a:spcPts val="1200"/>
              </a:spcAft>
              <a:buSzPct val="100000"/>
            </a:pPr>
            <a:r>
              <a:rPr lang="en-US" sz="1400" b="1" dirty="0"/>
              <a:t>Management and Governance:</a:t>
            </a:r>
            <a:r>
              <a:rPr lang="en-US" sz="1400" dirty="0"/>
              <a:t> Data quality management is a critical component of the overall data lifecycle and master data management processes, often linked to governance initiatives to ensure consistent formatting across an organization.</a:t>
            </a:r>
          </a:p>
          <a:p>
            <a:pPr>
              <a:spcBef>
                <a:spcPts val="1200"/>
              </a:spcBef>
              <a:spcAft>
                <a:spcPts val="1200"/>
              </a:spcAft>
              <a:buSzPct val="100000"/>
            </a:pPr>
            <a:r>
              <a:rPr lang="en-US" sz="1400" b="1" dirty="0"/>
              <a:t>Trust and Efficacy: </a:t>
            </a:r>
            <a:r>
              <a:rPr lang="en-US" sz="1400" dirty="0"/>
              <a:t>By using specialized data quality tools, teams can achieve high scores across all quality metrics, proving a dataset is trustworthy and easy to use.</a:t>
            </a:r>
            <a:endParaRPr lang="en-IN" sz="1400" dirty="0"/>
          </a:p>
        </p:txBody>
      </p:sp>
    </p:spTree>
    <p:extLst>
      <p:ext uri="{BB962C8B-B14F-4D97-AF65-F5344CB8AC3E}">
        <p14:creationId xmlns:p14="http://schemas.microsoft.com/office/powerpoint/2010/main" val="8586394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F6E305-5E78-4FCB-8B69-4FE53E8A1727}"/>
              </a:ext>
            </a:extLst>
          </p:cNvPr>
          <p:cNvSpPr>
            <a:spLocks noGrp="1"/>
          </p:cNvSpPr>
          <p:nvPr>
            <p:ph sz="quarter" idx="1"/>
          </p:nvPr>
        </p:nvSpPr>
        <p:spPr>
          <a:xfrm>
            <a:off x="457200" y="514350"/>
            <a:ext cx="7467600" cy="4341114"/>
          </a:xfrm>
        </p:spPr>
        <p:txBody>
          <a:bodyPr>
            <a:normAutofit/>
          </a:bodyPr>
          <a:lstStyle/>
          <a:p>
            <a:pPr marL="0" indent="0">
              <a:spcAft>
                <a:spcPts val="600"/>
              </a:spcAft>
              <a:buNone/>
            </a:pPr>
            <a:r>
              <a:rPr lang="en-US" sz="1400" b="1" dirty="0"/>
              <a:t>The Six Dimensions of Data Quality</a:t>
            </a:r>
          </a:p>
          <a:p>
            <a:pPr>
              <a:spcAft>
                <a:spcPts val="600"/>
              </a:spcAft>
              <a:buSzPct val="100000"/>
            </a:pPr>
            <a:r>
              <a:rPr lang="en-US" sz="1400" b="1" dirty="0"/>
              <a:t>Accuracy:</a:t>
            </a:r>
            <a:r>
              <a:rPr lang="en-US" sz="1400" dirty="0"/>
              <a:t> Measures whether the data can be proven true and accurately represents real-world knowledge or events.</a:t>
            </a:r>
          </a:p>
          <a:p>
            <a:pPr>
              <a:spcAft>
                <a:spcPts val="600"/>
              </a:spcAft>
              <a:buSzPct val="100000"/>
            </a:pPr>
            <a:r>
              <a:rPr lang="en-US" sz="1400" b="1" dirty="0"/>
              <a:t>Completeness:</a:t>
            </a:r>
            <a:r>
              <a:rPr lang="en-US" sz="1400" dirty="0"/>
              <a:t> Evaluates if the dataset includes all relevant and accessible information, ensuring there are no missing data or blank fields.</a:t>
            </a:r>
          </a:p>
          <a:p>
            <a:pPr>
              <a:spcAft>
                <a:spcPts val="600"/>
              </a:spcAft>
              <a:buSzPct val="100000"/>
            </a:pPr>
            <a:r>
              <a:rPr lang="en-US" sz="1400" b="1" dirty="0"/>
              <a:t>Consistency:</a:t>
            </a:r>
            <a:r>
              <a:rPr lang="en-US" sz="1400" dirty="0"/>
              <a:t> Checks if related data values remain uniform and identical across different locations, systems, and environments.</a:t>
            </a:r>
          </a:p>
          <a:p>
            <a:pPr>
              <a:spcAft>
                <a:spcPts val="600"/>
              </a:spcAft>
              <a:buSzPct val="100000"/>
            </a:pPr>
            <a:r>
              <a:rPr lang="en-US" sz="1400" b="1" dirty="0"/>
              <a:t>Validity:</a:t>
            </a:r>
            <a:r>
              <a:rPr lang="en-US" sz="1400" dirty="0"/>
              <a:t> Ensures that the data is collected and stored in the proper format required for its specific intended use.</a:t>
            </a:r>
          </a:p>
          <a:p>
            <a:pPr>
              <a:spcAft>
                <a:spcPts val="600"/>
              </a:spcAft>
              <a:buSzPct val="100000"/>
            </a:pPr>
            <a:r>
              <a:rPr lang="en-US" sz="1400" b="1" dirty="0"/>
              <a:t>Uniqueness:</a:t>
            </a:r>
            <a:r>
              <a:rPr lang="en-US" sz="1400" dirty="0"/>
              <a:t> Identifies if the data is unique, ensuring there are no duplicate records or overlapping data points within the set.</a:t>
            </a:r>
          </a:p>
          <a:p>
            <a:pPr>
              <a:spcAft>
                <a:spcPts val="600"/>
              </a:spcAft>
              <a:buSzPct val="100000"/>
            </a:pPr>
            <a:r>
              <a:rPr lang="en-US" sz="1400" b="1" dirty="0"/>
              <a:t>Timeliness:</a:t>
            </a:r>
            <a:r>
              <a:rPr lang="en-US" sz="1400" dirty="0"/>
              <a:t> Assesses if the data is current, up-to-date, and easily accessible at the exact moment it is needed for processing.</a:t>
            </a:r>
          </a:p>
          <a:p>
            <a:pPr>
              <a:spcAft>
                <a:spcPts val="600"/>
              </a:spcAft>
            </a:pPr>
            <a:endParaRPr lang="en-IN" sz="1400" dirty="0"/>
          </a:p>
        </p:txBody>
      </p:sp>
    </p:spTree>
    <p:extLst>
      <p:ext uri="{BB962C8B-B14F-4D97-AF65-F5344CB8AC3E}">
        <p14:creationId xmlns:p14="http://schemas.microsoft.com/office/powerpoint/2010/main" val="13955356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6452615-5FEA-4E41-A219-05A910CFBCD2}"/>
              </a:ext>
            </a:extLst>
          </p:cNvPr>
          <p:cNvGraphicFramePr>
            <a:graphicFrameLocks noGrp="1"/>
          </p:cNvGraphicFramePr>
          <p:nvPr>
            <p:extLst>
              <p:ext uri="{D42A27DB-BD31-4B8C-83A1-F6EECF244321}">
                <p14:modId xmlns:p14="http://schemas.microsoft.com/office/powerpoint/2010/main" val="1978632562"/>
              </p:ext>
            </p:extLst>
          </p:nvPr>
        </p:nvGraphicFramePr>
        <p:xfrm>
          <a:off x="685800" y="758972"/>
          <a:ext cx="7391400" cy="4037818"/>
        </p:xfrm>
        <a:graphic>
          <a:graphicData uri="http://schemas.openxmlformats.org/drawingml/2006/table">
            <a:tbl>
              <a:tblPr firstRow="1" bandRow="1">
                <a:tableStyleId>{5C22544A-7EE6-4342-B048-85BDC9FD1C3A}</a:tableStyleId>
              </a:tblPr>
              <a:tblGrid>
                <a:gridCol w="2463800">
                  <a:extLst>
                    <a:ext uri="{9D8B030D-6E8A-4147-A177-3AD203B41FA5}">
                      <a16:colId xmlns:a16="http://schemas.microsoft.com/office/drawing/2014/main" val="3164339989"/>
                    </a:ext>
                  </a:extLst>
                </a:gridCol>
                <a:gridCol w="2463800">
                  <a:extLst>
                    <a:ext uri="{9D8B030D-6E8A-4147-A177-3AD203B41FA5}">
                      <a16:colId xmlns:a16="http://schemas.microsoft.com/office/drawing/2014/main" val="1518934260"/>
                    </a:ext>
                  </a:extLst>
                </a:gridCol>
                <a:gridCol w="2463800">
                  <a:extLst>
                    <a:ext uri="{9D8B030D-6E8A-4147-A177-3AD203B41FA5}">
                      <a16:colId xmlns:a16="http://schemas.microsoft.com/office/drawing/2014/main" val="3478607331"/>
                    </a:ext>
                  </a:extLst>
                </a:gridCol>
              </a:tblGrid>
              <a:tr h="312069">
                <a:tc>
                  <a:txBody>
                    <a:bodyPr/>
                    <a:lstStyle/>
                    <a:p>
                      <a:pPr algn="ctr"/>
                      <a:r>
                        <a:rPr lang="en-IN" sz="1400" b="1" dirty="0">
                          <a:solidFill>
                            <a:schemeClr val="tx1"/>
                          </a:solidFill>
                          <a:effectLst/>
                          <a:latin typeface="Times New Roman" panose="02020603050405020304" pitchFamily="18" charset="0"/>
                        </a:rPr>
                        <a:t>Feature</a:t>
                      </a:r>
                      <a:endParaRPr lang="en-IN" sz="1400" dirty="0">
                        <a:solidFill>
                          <a:schemeClr val="tx1"/>
                        </a:solidFill>
                        <a:effectLst/>
                        <a:latin typeface="Times New Roman" panose="02020603050405020304" pitchFamily="18" charset="0"/>
                      </a:endParaRPr>
                    </a:p>
                  </a:txBody>
                  <a:tcPr anchor="ctr"/>
                </a:tc>
                <a:tc>
                  <a:txBody>
                    <a:bodyPr/>
                    <a:lstStyle/>
                    <a:p>
                      <a:pPr algn="ctr"/>
                      <a:r>
                        <a:rPr lang="en-IN" sz="1400" b="1" dirty="0">
                          <a:solidFill>
                            <a:schemeClr val="tx1"/>
                          </a:solidFill>
                          <a:effectLst/>
                          <a:latin typeface="Times New Roman" panose="02020603050405020304" pitchFamily="18" charset="0"/>
                        </a:rPr>
                        <a:t>Data Quality</a:t>
                      </a:r>
                      <a:endParaRPr lang="en-IN" sz="1400" dirty="0">
                        <a:solidFill>
                          <a:schemeClr val="tx1"/>
                        </a:solidFill>
                        <a:effectLst/>
                        <a:latin typeface="Times New Roman" panose="02020603050405020304" pitchFamily="18" charset="0"/>
                      </a:endParaRPr>
                    </a:p>
                  </a:txBody>
                  <a:tcPr anchor="ctr"/>
                </a:tc>
                <a:tc>
                  <a:txBody>
                    <a:bodyPr/>
                    <a:lstStyle/>
                    <a:p>
                      <a:pPr algn="ctr"/>
                      <a:r>
                        <a:rPr lang="en-IN" sz="1400" b="1" dirty="0">
                          <a:solidFill>
                            <a:schemeClr val="tx1"/>
                          </a:solidFill>
                          <a:effectLst/>
                          <a:latin typeface="Times New Roman" panose="02020603050405020304" pitchFamily="18" charset="0"/>
                        </a:rPr>
                        <a:t>Data Integrity</a:t>
                      </a:r>
                      <a:endParaRPr lang="en-IN" sz="1400" dirty="0">
                        <a:solidFill>
                          <a:schemeClr val="tx1"/>
                        </a:solidFill>
                        <a:effectLst/>
                        <a:latin typeface="Times New Roman" panose="02020603050405020304" pitchFamily="18" charset="0"/>
                      </a:endParaRPr>
                    </a:p>
                  </a:txBody>
                  <a:tcPr anchor="ctr"/>
                </a:tc>
                <a:extLst>
                  <a:ext uri="{0D108BD9-81ED-4DB2-BD59-A6C34878D82A}">
                    <a16:rowId xmlns:a16="http://schemas.microsoft.com/office/drawing/2014/main" val="815864985"/>
                  </a:ext>
                </a:extLst>
              </a:tr>
              <a:tr h="1132851">
                <a:tc>
                  <a:txBody>
                    <a:bodyPr/>
                    <a:lstStyle/>
                    <a:p>
                      <a:pPr algn="ctr"/>
                      <a:r>
                        <a:rPr lang="en-IN" sz="1400" b="1" dirty="0">
                          <a:solidFill>
                            <a:schemeClr val="tx1"/>
                          </a:solidFill>
                          <a:effectLst/>
                          <a:latin typeface="Times New Roman" panose="02020603050405020304" pitchFamily="18" charset="0"/>
                        </a:rPr>
                        <a:t>Definition</a:t>
                      </a:r>
                      <a:endParaRPr lang="en-IN" sz="1400" dirty="0">
                        <a:solidFill>
                          <a:schemeClr val="tx1"/>
                        </a:solidFill>
                        <a:effectLst/>
                        <a:latin typeface="Times New Roman" panose="02020603050405020304" pitchFamily="18" charset="0"/>
                      </a:endParaRPr>
                    </a:p>
                  </a:txBody>
                  <a:tcPr anchor="ctr"/>
                </a:tc>
                <a:tc>
                  <a:txBody>
                    <a:bodyPr/>
                    <a:lstStyle/>
                    <a:p>
                      <a:r>
                        <a:rPr lang="en-US" sz="1400" dirty="0">
                          <a:solidFill>
                            <a:schemeClr val="tx1"/>
                          </a:solidFill>
                          <a:effectLst/>
                          <a:latin typeface="Times New Roman" panose="02020603050405020304" pitchFamily="18" charset="0"/>
                        </a:rPr>
                        <a:t>Measures dependability and "fitness for use" using specific metrics.</a:t>
                      </a:r>
                    </a:p>
                  </a:txBody>
                  <a:tcPr anchor="ctr"/>
                </a:tc>
                <a:tc>
                  <a:txBody>
                    <a:bodyPr/>
                    <a:lstStyle/>
                    <a:p>
                      <a:r>
                        <a:rPr lang="en-US" sz="1400" dirty="0">
                          <a:solidFill>
                            <a:schemeClr val="tx1"/>
                          </a:solidFill>
                          <a:effectLst/>
                          <a:latin typeface="Times New Roman" panose="02020603050405020304" pitchFamily="18" charset="0"/>
                        </a:rPr>
                        <a:t>Ensures overall completeness, correctness, and security of data.</a:t>
                      </a:r>
                    </a:p>
                  </a:txBody>
                  <a:tcPr anchor="ctr"/>
                </a:tc>
                <a:extLst>
                  <a:ext uri="{0D108BD9-81ED-4DB2-BD59-A6C34878D82A}">
                    <a16:rowId xmlns:a16="http://schemas.microsoft.com/office/drawing/2014/main" val="2254238881"/>
                  </a:ext>
                </a:extLst>
              </a:tr>
              <a:tr h="825058">
                <a:tc>
                  <a:txBody>
                    <a:bodyPr/>
                    <a:lstStyle/>
                    <a:p>
                      <a:pPr algn="ctr"/>
                      <a:r>
                        <a:rPr lang="en-IN" sz="1400" b="1" dirty="0">
                          <a:solidFill>
                            <a:schemeClr val="tx1"/>
                          </a:solidFill>
                          <a:effectLst/>
                          <a:latin typeface="Times New Roman" panose="02020603050405020304" pitchFamily="18" charset="0"/>
                        </a:rPr>
                        <a:t>Goal</a:t>
                      </a:r>
                      <a:endParaRPr lang="en-IN" sz="1400" dirty="0">
                        <a:solidFill>
                          <a:schemeClr val="tx1"/>
                        </a:solidFill>
                        <a:effectLst/>
                        <a:latin typeface="Times New Roman" panose="02020603050405020304" pitchFamily="18" charset="0"/>
                      </a:endParaRPr>
                    </a:p>
                  </a:txBody>
                  <a:tcPr anchor="ctr"/>
                </a:tc>
                <a:tc>
                  <a:txBody>
                    <a:bodyPr/>
                    <a:lstStyle/>
                    <a:p>
                      <a:r>
                        <a:rPr lang="en-US" sz="1400" dirty="0">
                          <a:solidFill>
                            <a:schemeClr val="tx1"/>
                          </a:solidFill>
                          <a:effectLst/>
                          <a:latin typeface="Times New Roman" panose="02020603050405020304" pitchFamily="18" charset="0"/>
                        </a:rPr>
                        <a:t>Focuses on accuracy and relevance to drive informed decision-making.</a:t>
                      </a:r>
                    </a:p>
                  </a:txBody>
                  <a:tcPr anchor="ctr"/>
                </a:tc>
                <a:tc>
                  <a:txBody>
                    <a:bodyPr/>
                    <a:lstStyle/>
                    <a:p>
                      <a:r>
                        <a:rPr lang="en-US" sz="1400" dirty="0">
                          <a:solidFill>
                            <a:schemeClr val="tx1"/>
                          </a:solidFill>
                          <a:effectLst/>
                          <a:latin typeface="Times New Roman" panose="02020603050405020304" pitchFamily="18" charset="0"/>
                        </a:rPr>
                        <a:t>Focuses on trustworthiness by preventing unauthorized changes.</a:t>
                      </a:r>
                    </a:p>
                  </a:txBody>
                  <a:tcPr anchor="ctr"/>
                </a:tc>
                <a:extLst>
                  <a:ext uri="{0D108BD9-81ED-4DB2-BD59-A6C34878D82A}">
                    <a16:rowId xmlns:a16="http://schemas.microsoft.com/office/drawing/2014/main" val="2113765030"/>
                  </a:ext>
                </a:extLst>
              </a:tr>
              <a:tr h="517264">
                <a:tc>
                  <a:txBody>
                    <a:bodyPr/>
                    <a:lstStyle/>
                    <a:p>
                      <a:pPr algn="ctr"/>
                      <a:r>
                        <a:rPr lang="en-IN" sz="1400" b="1" dirty="0">
                          <a:solidFill>
                            <a:schemeClr val="tx1"/>
                          </a:solidFill>
                          <a:effectLst/>
                          <a:latin typeface="Times New Roman" panose="02020603050405020304" pitchFamily="18" charset="0"/>
                        </a:rPr>
                        <a:t>Methods</a:t>
                      </a:r>
                      <a:endParaRPr lang="en-IN" sz="1400" dirty="0">
                        <a:solidFill>
                          <a:schemeClr val="tx1"/>
                        </a:solidFill>
                        <a:effectLst/>
                        <a:latin typeface="Times New Roman" panose="02020603050405020304" pitchFamily="18" charset="0"/>
                      </a:endParaRPr>
                    </a:p>
                  </a:txBody>
                  <a:tcPr anchor="ctr"/>
                </a:tc>
                <a:tc>
                  <a:txBody>
                    <a:bodyPr/>
                    <a:lstStyle/>
                    <a:p>
                      <a:r>
                        <a:rPr lang="en-US" sz="1400" dirty="0">
                          <a:solidFill>
                            <a:schemeClr val="tx1"/>
                          </a:solidFill>
                          <a:effectLst/>
                          <a:latin typeface="Times New Roman" panose="02020603050405020304" pitchFamily="18" charset="0"/>
                        </a:rPr>
                        <a:t>Includes data cleansing, profiling, and standardization.</a:t>
                      </a:r>
                    </a:p>
                  </a:txBody>
                  <a:tcPr anchor="ctr"/>
                </a:tc>
                <a:tc>
                  <a:txBody>
                    <a:bodyPr/>
                    <a:lstStyle/>
                    <a:p>
                      <a:r>
                        <a:rPr lang="en-US" sz="1400" dirty="0">
                          <a:solidFill>
                            <a:schemeClr val="tx1"/>
                          </a:solidFill>
                          <a:effectLst/>
                          <a:latin typeface="Times New Roman" panose="02020603050405020304" pitchFamily="18" charset="0"/>
                        </a:rPr>
                        <a:t>Includes encryption, checksums, and access restrictions.</a:t>
                      </a:r>
                    </a:p>
                  </a:txBody>
                  <a:tcPr anchor="ctr"/>
                </a:tc>
                <a:extLst>
                  <a:ext uri="{0D108BD9-81ED-4DB2-BD59-A6C34878D82A}">
                    <a16:rowId xmlns:a16="http://schemas.microsoft.com/office/drawing/2014/main" val="3535257578"/>
                  </a:ext>
                </a:extLst>
              </a:tr>
              <a:tr h="282122">
                <a:tc>
                  <a:txBody>
                    <a:bodyPr/>
                    <a:lstStyle/>
                    <a:p>
                      <a:pPr algn="ctr"/>
                      <a:r>
                        <a:rPr lang="en-IN" sz="1400" b="1" dirty="0">
                          <a:solidFill>
                            <a:schemeClr val="tx1"/>
                          </a:solidFill>
                          <a:effectLst/>
                          <a:latin typeface="Times New Roman" panose="02020603050405020304" pitchFamily="18" charset="0"/>
                        </a:rPr>
                        <a:t>Scope</a:t>
                      </a:r>
                      <a:endParaRPr lang="en-IN" sz="1400" dirty="0">
                        <a:solidFill>
                          <a:schemeClr val="tx1"/>
                        </a:solidFill>
                        <a:effectLst/>
                        <a:latin typeface="Times New Roman" panose="02020603050405020304" pitchFamily="18" charset="0"/>
                      </a:endParaRPr>
                    </a:p>
                  </a:txBody>
                  <a:tcPr anchor="ctr"/>
                </a:tc>
                <a:tc>
                  <a:txBody>
                    <a:bodyPr/>
                    <a:lstStyle/>
                    <a:p>
                      <a:r>
                        <a:rPr lang="en-US" sz="1400" dirty="0">
                          <a:solidFill>
                            <a:schemeClr val="tx1"/>
                          </a:solidFill>
                          <a:effectLst/>
                          <a:latin typeface="Times New Roman" panose="02020603050405020304" pitchFamily="18" charset="0"/>
                        </a:rPr>
                        <a:t>Covers the entire data lifecycle.</a:t>
                      </a:r>
                    </a:p>
                  </a:txBody>
                  <a:tcPr anchor="ctr"/>
                </a:tc>
                <a:tc>
                  <a:txBody>
                    <a:bodyPr/>
                    <a:lstStyle/>
                    <a:p>
                      <a:r>
                        <a:rPr lang="en-US" sz="1400" dirty="0">
                          <a:solidFill>
                            <a:schemeClr val="tx1"/>
                          </a:solidFill>
                          <a:effectLst/>
                          <a:latin typeface="Times New Roman" panose="02020603050405020304" pitchFamily="18" charset="0"/>
                        </a:rPr>
                        <a:t>Covers the entire data lifecycle.</a:t>
                      </a:r>
                    </a:p>
                  </a:txBody>
                  <a:tcPr anchor="ctr"/>
                </a:tc>
                <a:extLst>
                  <a:ext uri="{0D108BD9-81ED-4DB2-BD59-A6C34878D82A}">
                    <a16:rowId xmlns:a16="http://schemas.microsoft.com/office/drawing/2014/main" val="3157839676"/>
                  </a:ext>
                </a:extLst>
              </a:tr>
              <a:tr h="722460">
                <a:tc>
                  <a:txBody>
                    <a:bodyPr/>
                    <a:lstStyle/>
                    <a:p>
                      <a:pPr algn="ctr"/>
                      <a:r>
                        <a:rPr lang="en-IN" sz="1400" b="1" dirty="0">
                          <a:solidFill>
                            <a:schemeClr val="tx1"/>
                          </a:solidFill>
                          <a:effectLst/>
                          <a:latin typeface="Times New Roman" panose="02020603050405020304" pitchFamily="18" charset="0"/>
                        </a:rPr>
                        <a:t>Impact</a:t>
                      </a:r>
                      <a:endParaRPr lang="en-IN" sz="1400" dirty="0">
                        <a:solidFill>
                          <a:schemeClr val="tx1"/>
                        </a:solidFill>
                        <a:effectLst/>
                        <a:latin typeface="Times New Roman" panose="02020603050405020304" pitchFamily="18" charset="0"/>
                      </a:endParaRPr>
                    </a:p>
                  </a:txBody>
                  <a:tcPr anchor="ctr"/>
                </a:tc>
                <a:tc>
                  <a:txBody>
                    <a:bodyPr/>
                    <a:lstStyle/>
                    <a:p>
                      <a:r>
                        <a:rPr lang="en-US" sz="1400" dirty="0">
                          <a:solidFill>
                            <a:schemeClr val="tx1"/>
                          </a:solidFill>
                          <a:effectLst/>
                          <a:latin typeface="Times New Roman" panose="02020603050405020304" pitchFamily="18" charset="0"/>
                        </a:rPr>
                        <a:t>Poor quality leads to faulty insights and organizational inefficiency.</a:t>
                      </a:r>
                    </a:p>
                  </a:txBody>
                  <a:tcPr anchor="ctr"/>
                </a:tc>
                <a:tc>
                  <a:txBody>
                    <a:bodyPr/>
                    <a:lstStyle/>
                    <a:p>
                      <a:r>
                        <a:rPr lang="en-US" sz="1400" dirty="0">
                          <a:solidFill>
                            <a:schemeClr val="tx1"/>
                          </a:solidFill>
                          <a:effectLst/>
                          <a:latin typeface="Times New Roman" panose="02020603050405020304" pitchFamily="18" charset="0"/>
                        </a:rPr>
                        <a:t>Integrity failure leads to data corruption, loss, and security risks.</a:t>
                      </a:r>
                    </a:p>
                  </a:txBody>
                  <a:tcPr anchor="ctr"/>
                </a:tc>
                <a:extLst>
                  <a:ext uri="{0D108BD9-81ED-4DB2-BD59-A6C34878D82A}">
                    <a16:rowId xmlns:a16="http://schemas.microsoft.com/office/drawing/2014/main" val="3976675972"/>
                  </a:ext>
                </a:extLst>
              </a:tr>
            </a:tbl>
          </a:graphicData>
        </a:graphic>
      </p:graphicFrame>
      <p:sp>
        <p:nvSpPr>
          <p:cNvPr id="5" name="TextBox 4">
            <a:extLst>
              <a:ext uri="{FF2B5EF4-FFF2-40B4-BE49-F238E27FC236}">
                <a16:creationId xmlns:a16="http://schemas.microsoft.com/office/drawing/2014/main" id="{FDE89610-1193-4D35-8C0E-E0E3FAEA9500}"/>
              </a:ext>
            </a:extLst>
          </p:cNvPr>
          <p:cNvSpPr txBox="1"/>
          <p:nvPr/>
        </p:nvSpPr>
        <p:spPr>
          <a:xfrm>
            <a:off x="683568" y="133350"/>
            <a:ext cx="7010400" cy="492443"/>
          </a:xfrm>
          <a:prstGeom prst="rect">
            <a:avLst/>
          </a:prstGeom>
          <a:noFill/>
        </p:spPr>
        <p:txBody>
          <a:bodyPr wrap="square" rtlCol="0">
            <a:spAutoFit/>
          </a:bodyPr>
          <a:lstStyle/>
          <a:p>
            <a:r>
              <a:rPr lang="en-IN" sz="2600" b="1" dirty="0">
                <a:solidFill>
                  <a:schemeClr val="accent1">
                    <a:lumMod val="75000"/>
                  </a:schemeClr>
                </a:solidFill>
                <a:latin typeface="Times New Roman" panose="02020603050405020304" pitchFamily="18" charset="0"/>
              </a:rPr>
              <a:t>Data Quality vs. Data Integrity</a:t>
            </a:r>
          </a:p>
        </p:txBody>
      </p:sp>
    </p:spTree>
    <p:extLst>
      <p:ext uri="{BB962C8B-B14F-4D97-AF65-F5344CB8AC3E}">
        <p14:creationId xmlns:p14="http://schemas.microsoft.com/office/powerpoint/2010/main" val="10162599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814BA-E698-4A9D-AA2C-E2785FFEBD32}"/>
              </a:ext>
            </a:extLst>
          </p:cNvPr>
          <p:cNvSpPr>
            <a:spLocks noGrp="1"/>
          </p:cNvSpPr>
          <p:nvPr>
            <p:ph type="title"/>
          </p:nvPr>
        </p:nvSpPr>
        <p:spPr>
          <a:xfrm>
            <a:off x="457200" y="205979"/>
            <a:ext cx="7467600" cy="613171"/>
          </a:xfrm>
        </p:spPr>
        <p:txBody>
          <a:bodyPr>
            <a:normAutofit/>
          </a:bodyPr>
          <a:lstStyle/>
          <a:p>
            <a:r>
              <a:rPr lang="en-US" sz="2600" b="1" dirty="0">
                <a:solidFill>
                  <a:schemeClr val="accent1">
                    <a:lumMod val="75000"/>
                  </a:schemeClr>
                </a:solidFill>
              </a:rPr>
              <a:t>Benefits of Good Data Integrity</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DF1E387F-5952-4689-BE3F-89B78EF3BAF6}"/>
              </a:ext>
            </a:extLst>
          </p:cNvPr>
          <p:cNvSpPr>
            <a:spLocks noGrp="1"/>
          </p:cNvSpPr>
          <p:nvPr>
            <p:ph sz="quarter" idx="1"/>
          </p:nvPr>
        </p:nvSpPr>
        <p:spPr>
          <a:xfrm>
            <a:off x="457200" y="895350"/>
            <a:ext cx="7467600" cy="3960114"/>
          </a:xfrm>
        </p:spPr>
        <p:txBody>
          <a:bodyPr>
            <a:normAutofit/>
          </a:bodyPr>
          <a:lstStyle/>
          <a:p>
            <a:pPr>
              <a:spcAft>
                <a:spcPts val="600"/>
              </a:spcAft>
              <a:buSzPct val="100000"/>
            </a:pPr>
            <a:r>
              <a:rPr lang="en-US" sz="1400" b="1" dirty="0"/>
              <a:t>Rapid Disaster Recovery:</a:t>
            </a:r>
            <a:r>
              <a:rPr lang="en-US" sz="1400" dirty="0"/>
              <a:t> Enhances the speed and reliability of data recovery efforts in the event of a security breach or an unplanned system outage.</a:t>
            </a:r>
          </a:p>
          <a:p>
            <a:pPr>
              <a:spcAft>
                <a:spcPts val="600"/>
              </a:spcAft>
              <a:buSzPct val="100000"/>
            </a:pPr>
            <a:r>
              <a:rPr lang="en-US" sz="1400" b="1" dirty="0"/>
              <a:t>Strengthened Security:</a:t>
            </a:r>
            <a:r>
              <a:rPr lang="en-US" sz="1400" dirty="0"/>
              <a:t> Prevents unauthorized access and protects against malicious data tampering, ensuring information remains authentic.</a:t>
            </a:r>
          </a:p>
          <a:p>
            <a:pPr>
              <a:spcAft>
                <a:spcPts val="600"/>
              </a:spcAft>
              <a:buSzPct val="100000"/>
            </a:pPr>
            <a:r>
              <a:rPr lang="en-US" sz="1400" b="1" dirty="0"/>
              <a:t>Efficient Regulatory Compliance:</a:t>
            </a:r>
            <a:r>
              <a:rPr lang="en-US" sz="1400" dirty="0"/>
              <a:t> Facilitates a smoother process for achieving and maintaining compliance with legal and industry-specific mandates.</a:t>
            </a:r>
          </a:p>
          <a:p>
            <a:pPr>
              <a:spcAft>
                <a:spcPts val="600"/>
              </a:spcAft>
              <a:buSzPct val="100000"/>
            </a:pPr>
            <a:r>
              <a:rPr lang="en-US" sz="1400" b="1" dirty="0"/>
              <a:t>Enhanced Decision-Making:</a:t>
            </a:r>
            <a:r>
              <a:rPr lang="en-US" sz="1400" dirty="0"/>
              <a:t> Unlocks tangible business value by providing leaders with a complete and accurate foundation for data-driven strategies and goal execution.</a:t>
            </a:r>
          </a:p>
          <a:p>
            <a:pPr>
              <a:spcAft>
                <a:spcPts val="600"/>
              </a:spcAft>
              <a:buSzPct val="100000"/>
            </a:pPr>
            <a:r>
              <a:rPr lang="en-US" sz="1400" b="1" dirty="0"/>
              <a:t>Increased Stakeholder Trust:</a:t>
            </a:r>
            <a:r>
              <a:rPr lang="en-US" sz="1400" dirty="0"/>
              <a:t> High levels of data consistency and correctness build stronger confidence among both employees and consumers.</a:t>
            </a:r>
          </a:p>
          <a:p>
            <a:pPr>
              <a:spcAft>
                <a:spcPts val="600"/>
              </a:spcAft>
              <a:buSzPct val="100000"/>
            </a:pPr>
            <a:r>
              <a:rPr lang="en-US" sz="1400" b="1" dirty="0"/>
              <a:t>Optimized AI and Data Science:</a:t>
            </a:r>
            <a:r>
              <a:rPr lang="en-US" sz="1400" dirty="0"/>
              <a:t> Significantly improves the performance of machine learning models, as training on reliable data records leads to more accurate predictions and effective automation.</a:t>
            </a:r>
          </a:p>
        </p:txBody>
      </p:sp>
    </p:spTree>
    <p:extLst>
      <p:ext uri="{BB962C8B-B14F-4D97-AF65-F5344CB8AC3E}">
        <p14:creationId xmlns:p14="http://schemas.microsoft.com/office/powerpoint/2010/main" val="1249024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B841C-06C5-48B1-861F-9161B4309FA0}"/>
              </a:ext>
            </a:extLst>
          </p:cNvPr>
          <p:cNvSpPr>
            <a:spLocks noGrp="1"/>
          </p:cNvSpPr>
          <p:nvPr>
            <p:ph type="title"/>
          </p:nvPr>
        </p:nvSpPr>
        <p:spPr>
          <a:xfrm>
            <a:off x="457200" y="205979"/>
            <a:ext cx="7467600" cy="613171"/>
          </a:xfrm>
        </p:spPr>
        <p:txBody>
          <a:bodyPr>
            <a:normAutofit/>
          </a:bodyPr>
          <a:lstStyle/>
          <a:p>
            <a:r>
              <a:rPr lang="en-US" sz="2600" b="1" dirty="0">
                <a:solidFill>
                  <a:schemeClr val="accent1">
                    <a:lumMod val="75000"/>
                  </a:schemeClr>
                </a:solidFill>
              </a:rPr>
              <a:t>Benefits of Good Data Quality</a:t>
            </a:r>
            <a:endParaRPr lang="en-IN" sz="2600" b="1" dirty="0">
              <a:solidFill>
                <a:schemeClr val="accent1">
                  <a:lumMod val="75000"/>
                </a:schemeClr>
              </a:solidFill>
            </a:endParaRPr>
          </a:p>
        </p:txBody>
      </p:sp>
      <p:sp>
        <p:nvSpPr>
          <p:cNvPr id="3" name="Content Placeholder 2">
            <a:extLst>
              <a:ext uri="{FF2B5EF4-FFF2-40B4-BE49-F238E27FC236}">
                <a16:creationId xmlns:a16="http://schemas.microsoft.com/office/drawing/2014/main" id="{AEC6A221-BEE2-4437-82BD-3CE2BC55CA6D}"/>
              </a:ext>
            </a:extLst>
          </p:cNvPr>
          <p:cNvSpPr>
            <a:spLocks noGrp="1"/>
          </p:cNvSpPr>
          <p:nvPr>
            <p:ph sz="quarter" idx="1"/>
          </p:nvPr>
        </p:nvSpPr>
        <p:spPr>
          <a:xfrm>
            <a:off x="457200" y="971549"/>
            <a:ext cx="7467600" cy="3965971"/>
          </a:xfrm>
        </p:spPr>
        <p:txBody>
          <a:bodyPr>
            <a:normAutofit/>
          </a:bodyPr>
          <a:lstStyle/>
          <a:p>
            <a:pPr>
              <a:spcAft>
                <a:spcPts val="600"/>
              </a:spcAft>
              <a:buSzPct val="100000"/>
            </a:pPr>
            <a:r>
              <a:rPr lang="en-US" sz="1400" b="1" dirty="0"/>
              <a:t>Data Collection (Initial Filtering):</a:t>
            </a:r>
            <a:r>
              <a:rPr lang="en-US" sz="1400" dirty="0"/>
              <a:t> By evaluating quality at this highly susceptible point, organizations prevent erroneous or inconsistent data from cascading into ETL (Extract, Transform, Load) processes, especially when the data source is external.</a:t>
            </a:r>
          </a:p>
          <a:p>
            <a:pPr>
              <a:spcAft>
                <a:spcPts val="600"/>
              </a:spcAft>
              <a:buSzPct val="100000"/>
            </a:pPr>
            <a:r>
              <a:rPr lang="en-US" sz="1400" b="1" dirty="0"/>
              <a:t>Storage (Consistency Management):</a:t>
            </a:r>
            <a:r>
              <a:rPr lang="en-US" sz="1400" dirty="0"/>
              <a:t> Validating data across various storage silos and dispersed sources ensures consistency, rectifying contradictions before the information moves to the next phase of the lifecycle.</a:t>
            </a:r>
          </a:p>
          <a:p>
            <a:pPr>
              <a:spcAft>
                <a:spcPts val="600"/>
              </a:spcAft>
              <a:buSzPct val="100000"/>
            </a:pPr>
            <a:r>
              <a:rPr lang="en-US" sz="1400" b="1" dirty="0"/>
              <a:t>Processing (Curation and Refinement):</a:t>
            </a:r>
            <a:r>
              <a:rPr lang="en-US" sz="1400" dirty="0"/>
              <a:t> Preprocessing activities—such as deduplication and formatting—improve data quality and generate metadata, resulting in refined datasets that are appropriate for accurate analysis.</a:t>
            </a:r>
          </a:p>
          <a:p>
            <a:pPr>
              <a:spcAft>
                <a:spcPts val="600"/>
              </a:spcAft>
              <a:buSzPct val="100000"/>
            </a:pPr>
            <a:r>
              <a:rPr lang="en-US" sz="1400" b="1" dirty="0"/>
              <a:t>Evaluation (Model Assessment):</a:t>
            </a:r>
            <a:r>
              <a:rPr lang="en-US" sz="1400" dirty="0"/>
              <a:t> During the development of data pipelines for machine learning or business intelligence, maintaining high data quality allows for the accurate assessment and improvement of model performance.</a:t>
            </a:r>
          </a:p>
          <a:p>
            <a:pPr>
              <a:spcAft>
                <a:spcPts val="600"/>
              </a:spcAft>
              <a:buSzPct val="100000"/>
            </a:pPr>
            <a:r>
              <a:rPr lang="en-US" sz="1400" b="1" dirty="0"/>
              <a:t>Production and Maintenance (Ongoing Monitoring):</a:t>
            </a:r>
            <a:r>
              <a:rPr lang="en-US" sz="1400" dirty="0"/>
              <a:t> Continuous testing and monitoring post-deployment guarantee that data quality remains high over time, ensuring that the information used in production environments stays reliable.</a:t>
            </a:r>
          </a:p>
        </p:txBody>
      </p:sp>
    </p:spTree>
    <p:extLst>
      <p:ext uri="{BB962C8B-B14F-4D97-AF65-F5344CB8AC3E}">
        <p14:creationId xmlns:p14="http://schemas.microsoft.com/office/powerpoint/2010/main" val="8332870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AF305-9C82-4C68-B40E-BCF5DAAAE54C}"/>
              </a:ext>
            </a:extLst>
          </p:cNvPr>
          <p:cNvSpPr>
            <a:spLocks noGrp="1"/>
          </p:cNvSpPr>
          <p:nvPr>
            <p:ph type="title"/>
          </p:nvPr>
        </p:nvSpPr>
        <p:spPr>
          <a:xfrm>
            <a:off x="457200" y="205979"/>
            <a:ext cx="8219256" cy="857250"/>
          </a:xfrm>
        </p:spPr>
        <p:txBody>
          <a:bodyPr>
            <a:noAutofit/>
          </a:bodyPr>
          <a:lstStyle/>
          <a:p>
            <a:r>
              <a:rPr lang="en-US" sz="2600" b="1" dirty="0">
                <a:solidFill>
                  <a:schemeClr val="accent1">
                    <a:lumMod val="75000"/>
                  </a:schemeClr>
                </a:solidFill>
              </a:rPr>
              <a:t>How to Ensure Both Data Quality and Data Integrity</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3D71AF9A-7878-4D25-9AD1-1125D3324A70}"/>
              </a:ext>
            </a:extLst>
          </p:cNvPr>
          <p:cNvSpPr>
            <a:spLocks noGrp="1"/>
          </p:cNvSpPr>
          <p:nvPr>
            <p:ph sz="quarter" idx="1"/>
          </p:nvPr>
        </p:nvSpPr>
        <p:spPr>
          <a:xfrm>
            <a:off x="457200" y="1200150"/>
            <a:ext cx="7467600" cy="3886200"/>
          </a:xfrm>
        </p:spPr>
        <p:txBody>
          <a:bodyPr>
            <a:normAutofit/>
          </a:bodyPr>
          <a:lstStyle/>
          <a:p>
            <a:pPr>
              <a:spcAft>
                <a:spcPts val="600"/>
              </a:spcAft>
              <a:buSzPct val="100000"/>
            </a:pPr>
            <a:r>
              <a:rPr lang="en-US" sz="1400" b="1" dirty="0"/>
              <a:t>Data Cleansing:</a:t>
            </a:r>
            <a:r>
              <a:rPr lang="en-US" sz="1400" dirty="0"/>
              <a:t> Corrects quality concerns and inconsistencies identified during profiling. It includes critical steps like </a:t>
            </a:r>
            <a:r>
              <a:rPr lang="en-US" sz="1400" b="1" dirty="0"/>
              <a:t>deduplication</a:t>
            </a:r>
            <a:r>
              <a:rPr lang="en-US" sz="1400" dirty="0"/>
              <a:t> to prevent accidental duplicate entries across multiple locations.</a:t>
            </a:r>
          </a:p>
          <a:p>
            <a:pPr>
              <a:spcAft>
                <a:spcPts val="600"/>
              </a:spcAft>
              <a:buSzPct val="100000"/>
            </a:pPr>
            <a:r>
              <a:rPr lang="en-US" sz="1400" b="1" dirty="0"/>
              <a:t>Data Governance:</a:t>
            </a:r>
            <a:r>
              <a:rPr lang="en-US" sz="1400" dirty="0"/>
              <a:t> Establishes a formal framework of roles and responsibilities to ensure purposeful, coordinated data choices. This creates ownership and accountability for accuracy and quality company-wide.</a:t>
            </a:r>
          </a:p>
          <a:p>
            <a:pPr>
              <a:spcAft>
                <a:spcPts val="600"/>
              </a:spcAft>
              <a:buSzPct val="100000"/>
            </a:pPr>
            <a:r>
              <a:rPr lang="en-US" sz="1400" b="1" dirty="0"/>
              <a:t>Data Standardization:</a:t>
            </a:r>
            <a:r>
              <a:rPr lang="en-US" sz="1400" dirty="0"/>
              <a:t> Converts fragmented or unstructured big data into a unified format. It uses specific business rules to ensure datasets are complete and ready for use, regardless of their original source.</a:t>
            </a:r>
          </a:p>
          <a:p>
            <a:pPr>
              <a:spcAft>
                <a:spcPts val="600"/>
              </a:spcAft>
              <a:buSzPct val="100000"/>
            </a:pPr>
            <a:r>
              <a:rPr lang="en-US" sz="1400" b="1" dirty="0"/>
              <a:t>Data Enrichment:</a:t>
            </a:r>
            <a:r>
              <a:rPr lang="en-US" sz="1400" dirty="0"/>
              <a:t> Enhances existing databases by introducing updates and missing information. This process improves the depth of current data to enable better consumer interactions and business decisions.</a:t>
            </a:r>
          </a:p>
          <a:p>
            <a:pPr>
              <a:spcAft>
                <a:spcPts val="600"/>
              </a:spcAft>
              <a:buSzPct val="100000"/>
            </a:pPr>
            <a:r>
              <a:rPr lang="en-US" sz="1400" b="1" dirty="0"/>
              <a:t>Data Encryption:</a:t>
            </a:r>
            <a:r>
              <a:rPr lang="en-US" sz="1400" dirty="0"/>
              <a:t> Protects sensitive information by encoding it so it can only be read with a decryption key. This safeguards data security while the information is at rest or in transit.</a:t>
            </a:r>
          </a:p>
        </p:txBody>
      </p:sp>
    </p:spTree>
    <p:extLst>
      <p:ext uri="{BB962C8B-B14F-4D97-AF65-F5344CB8AC3E}">
        <p14:creationId xmlns:p14="http://schemas.microsoft.com/office/powerpoint/2010/main" val="39965653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2AA2AE-AE38-4834-954B-8759BA084290}"/>
              </a:ext>
            </a:extLst>
          </p:cNvPr>
          <p:cNvSpPr>
            <a:spLocks noGrp="1"/>
          </p:cNvSpPr>
          <p:nvPr>
            <p:ph sz="quarter" idx="1"/>
          </p:nvPr>
        </p:nvSpPr>
        <p:spPr>
          <a:xfrm>
            <a:off x="457200" y="514350"/>
            <a:ext cx="7467600" cy="4341114"/>
          </a:xfrm>
        </p:spPr>
        <p:txBody>
          <a:bodyPr>
            <a:normAutofit lnSpcReduction="10000"/>
          </a:bodyPr>
          <a:lstStyle/>
          <a:p>
            <a:pPr>
              <a:spcAft>
                <a:spcPts val="600"/>
              </a:spcAft>
              <a:buSzPct val="100000"/>
            </a:pPr>
            <a:r>
              <a:rPr lang="en-US" sz="1400" b="1" dirty="0"/>
              <a:t>Data Entry Controls:</a:t>
            </a:r>
            <a:r>
              <a:rPr lang="en-US" sz="1400" dirty="0"/>
              <a:t> Implements interface tools like drop-down menus, date pickers, and input masks. These help users enter information in the correct format and within acceptable limits to reduce human error.</a:t>
            </a:r>
          </a:p>
          <a:p>
            <a:pPr>
              <a:spcAft>
                <a:spcPts val="600"/>
              </a:spcAft>
              <a:buSzPct val="100000"/>
            </a:pPr>
            <a:r>
              <a:rPr lang="en-US" sz="1400" b="1" dirty="0"/>
              <a:t>Data Validation and Verification:</a:t>
            </a:r>
            <a:r>
              <a:rPr lang="en-US" sz="1400" dirty="0"/>
              <a:t> Checks for correctness and completeness during entry or import. Validation ensures data meets specific requirements, while verification cross-checks it against other sources for certification.</a:t>
            </a:r>
          </a:p>
          <a:p>
            <a:pPr>
              <a:spcAft>
                <a:spcPts val="600"/>
              </a:spcAft>
              <a:buSzPct val="100000"/>
            </a:pPr>
            <a:r>
              <a:rPr lang="en-US" sz="1400" b="1" dirty="0"/>
              <a:t>Access Control:</a:t>
            </a:r>
            <a:r>
              <a:rPr lang="en-US" sz="1400" dirty="0"/>
              <a:t> Restricts data access to authorized users based on their specific roles and permissions. This is a primary defense against unauthorized alterations, deletions, or malicious tampering.</a:t>
            </a:r>
          </a:p>
          <a:p>
            <a:pPr>
              <a:spcAft>
                <a:spcPts val="600"/>
              </a:spcAft>
              <a:buSzPct val="100000"/>
            </a:pPr>
            <a:r>
              <a:rPr lang="en-US" sz="1400" b="1" dirty="0"/>
              <a:t>Audit Trails and Logs:</a:t>
            </a:r>
            <a:r>
              <a:rPr lang="en-US" sz="1400" dirty="0"/>
              <a:t> Records detailed histories of who accessed data and what changes were made. These logs are vital for monitoring usage, spotting security breaches, and investigating quality issues.</a:t>
            </a:r>
          </a:p>
          <a:p>
            <a:pPr>
              <a:spcAft>
                <a:spcPts val="600"/>
              </a:spcAft>
              <a:buSzPct val="100000"/>
            </a:pPr>
            <a:r>
              <a:rPr lang="en-US" sz="1400" b="1" dirty="0"/>
              <a:t>Error Handling Mechanisms:</a:t>
            </a:r>
            <a:r>
              <a:rPr lang="en-US" sz="1400" dirty="0"/>
              <a:t> Defines clear procedures for identifying, reporting, and resolving inconsistencies. Once an error is found, these mechanisms trigger repair actions or cleansing procedures.</a:t>
            </a:r>
          </a:p>
          <a:p>
            <a:pPr>
              <a:spcAft>
                <a:spcPts val="600"/>
              </a:spcAft>
              <a:buSzPct val="100000"/>
            </a:pPr>
            <a:r>
              <a:rPr lang="en-US" sz="1400" b="1" dirty="0"/>
              <a:t>Regular Backup and Recovery Plans:</a:t>
            </a:r>
            <a:r>
              <a:rPr lang="en-US" sz="1400" dirty="0"/>
              <a:t> Creates periodic copies of data to ensure it can be retrieved after hardware failures or cyberattacks. A well-defined recovery strategy ensures data is restored quickly and accurately.</a:t>
            </a:r>
          </a:p>
        </p:txBody>
      </p:sp>
    </p:spTree>
    <p:extLst>
      <p:ext uri="{BB962C8B-B14F-4D97-AF65-F5344CB8AC3E}">
        <p14:creationId xmlns:p14="http://schemas.microsoft.com/office/powerpoint/2010/main" val="3654776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DB073DD-7680-E602-9214-B830FDFC1C8D}"/>
              </a:ext>
            </a:extLst>
          </p:cNvPr>
          <p:cNvSpPr>
            <a:spLocks noGrp="1"/>
          </p:cNvSpPr>
          <p:nvPr>
            <p:ph type="ctrTitle"/>
          </p:nvPr>
        </p:nvSpPr>
        <p:spPr>
          <a:xfrm>
            <a:off x="3131840" y="627534"/>
            <a:ext cx="5904656" cy="3136388"/>
          </a:xfrm>
        </p:spPr>
        <p:txBody>
          <a:bodyPr>
            <a:normAutofit/>
          </a:bodyPr>
          <a:lstStyle/>
          <a:p>
            <a:pPr algn="l"/>
            <a:r>
              <a:rPr lang="en-US" sz="5400" b="1" i="0" dirty="0">
                <a:solidFill>
                  <a:schemeClr val="tx1"/>
                </a:solidFill>
                <a:effectLst/>
                <a:cs typeface="Times New Roman" panose="02020603050405020304" pitchFamily="18" charset="0"/>
              </a:rPr>
              <a:t>Introduction to Business Analyst Role</a:t>
            </a:r>
          </a:p>
        </p:txBody>
      </p:sp>
    </p:spTree>
    <p:extLst>
      <p:ext uri="{BB962C8B-B14F-4D97-AF65-F5344CB8AC3E}">
        <p14:creationId xmlns:p14="http://schemas.microsoft.com/office/powerpoint/2010/main" val="18908580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5CCCA-27F3-4B29-9E25-CBFA61DA76C4}"/>
              </a:ext>
            </a:extLst>
          </p:cNvPr>
          <p:cNvSpPr>
            <a:spLocks noGrp="1"/>
          </p:cNvSpPr>
          <p:nvPr>
            <p:ph type="title"/>
          </p:nvPr>
        </p:nvSpPr>
        <p:spPr>
          <a:xfrm>
            <a:off x="457200" y="205979"/>
            <a:ext cx="7467600" cy="613171"/>
          </a:xfrm>
        </p:spPr>
        <p:txBody>
          <a:bodyPr>
            <a:normAutofit/>
          </a:bodyPr>
          <a:lstStyle/>
          <a:p>
            <a:r>
              <a:rPr lang="en-IN" sz="2600" b="1" dirty="0">
                <a:solidFill>
                  <a:schemeClr val="accent1">
                    <a:lumMod val="75000"/>
                  </a:schemeClr>
                </a:solidFill>
              </a:rPr>
              <a:t>What Business Analysts Do</a:t>
            </a:r>
          </a:p>
        </p:txBody>
      </p:sp>
      <p:sp>
        <p:nvSpPr>
          <p:cNvPr id="14" name="Rectangle 11">
            <a:extLst>
              <a:ext uri="{FF2B5EF4-FFF2-40B4-BE49-F238E27FC236}">
                <a16:creationId xmlns:a16="http://schemas.microsoft.com/office/drawing/2014/main" id="{4351410A-1EA0-4512-A897-0FDE2ADDE99E}"/>
              </a:ext>
            </a:extLst>
          </p:cNvPr>
          <p:cNvSpPr>
            <a:spLocks noGrp="1" noChangeArrowheads="1"/>
          </p:cNvSpPr>
          <p:nvPr>
            <p:ph sz="quarter" idx="1"/>
          </p:nvPr>
        </p:nvSpPr>
        <p:spPr bwMode="auto">
          <a:xfrm>
            <a:off x="457200" y="902077"/>
            <a:ext cx="769620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Aft>
                <a:spcPts val="600"/>
              </a:spcAft>
              <a:buSzTx/>
            </a:pPr>
            <a:r>
              <a:rPr kumimoji="0" lang="en-US" altLang="en-US" sz="1400" b="1" i="0" u="none" strike="noStrike" cap="none" normalizeH="0" baseline="0" dirty="0">
                <a:ln>
                  <a:noFill/>
                </a:ln>
                <a:solidFill>
                  <a:schemeClr val="tx1"/>
                </a:solidFill>
                <a:effectLst/>
              </a:rPr>
              <a:t>Problem Identification and Solving:</a:t>
            </a:r>
            <a:r>
              <a:rPr kumimoji="0" lang="en-US" altLang="en-US" sz="1400" b="0" i="0" u="none" strike="noStrike" cap="none" normalizeH="0" baseline="0" dirty="0">
                <a:ln>
                  <a:noFill/>
                </a:ln>
                <a:solidFill>
                  <a:schemeClr val="tx1"/>
                </a:solidFill>
                <a:effectLst/>
              </a:rPr>
              <a:t> Act as investigators to uncover organizational issues and develop effective solutions.</a:t>
            </a:r>
          </a:p>
          <a:p>
            <a:pPr eaLnBrk="0" fontAlgn="base" hangingPunct="0">
              <a:spcAft>
                <a:spcPts val="600"/>
              </a:spcAft>
              <a:buSzTx/>
            </a:pPr>
            <a:r>
              <a:rPr kumimoji="0" lang="en-US" altLang="en-US" sz="1400" b="1" i="0" u="none" strike="noStrike" cap="none" normalizeH="0" baseline="0" dirty="0">
                <a:ln>
                  <a:noFill/>
                </a:ln>
                <a:solidFill>
                  <a:schemeClr val="tx1"/>
                </a:solidFill>
                <a:effectLst/>
              </a:rPr>
              <a:t>Requirements Gathering:</a:t>
            </a:r>
            <a:r>
              <a:rPr kumimoji="0" lang="en-US" altLang="en-US" sz="1400" b="0" i="0" u="none" strike="noStrike" cap="none" normalizeH="0" baseline="0" dirty="0">
                <a:ln>
                  <a:noFill/>
                </a:ln>
                <a:solidFill>
                  <a:schemeClr val="tx1"/>
                </a:solidFill>
                <a:effectLst/>
              </a:rPr>
              <a:t> Systematically collect and document project requirements to ensure clear and achievable goals.</a:t>
            </a:r>
          </a:p>
          <a:p>
            <a:pPr eaLnBrk="0" fontAlgn="base" hangingPunct="0">
              <a:spcAft>
                <a:spcPts val="600"/>
              </a:spcAft>
              <a:buSzTx/>
            </a:pPr>
            <a:r>
              <a:rPr kumimoji="0" lang="en-US" altLang="en-US" sz="1400" b="1" i="0" u="none" strike="noStrike" cap="none" normalizeH="0" baseline="0" dirty="0">
                <a:ln>
                  <a:noFill/>
                </a:ln>
                <a:solidFill>
                  <a:schemeClr val="tx1"/>
                </a:solidFill>
                <a:effectLst/>
              </a:rPr>
              <a:t>Bridge and Translator:</a:t>
            </a:r>
            <a:r>
              <a:rPr kumimoji="0" lang="en-US" altLang="en-US" sz="1400" b="0" i="0" u="none" strike="noStrike" cap="none" normalizeH="0" baseline="0" dirty="0">
                <a:ln>
                  <a:noFill/>
                </a:ln>
                <a:solidFill>
                  <a:schemeClr val="tx1"/>
                </a:solidFill>
                <a:effectLst/>
              </a:rPr>
              <a:t> Serve as a link between technical teams and business stakeholders to ensure shared understanding.</a:t>
            </a:r>
          </a:p>
          <a:p>
            <a:pPr eaLnBrk="0" fontAlgn="base" hangingPunct="0">
              <a:spcAft>
                <a:spcPts val="600"/>
              </a:spcAft>
              <a:buSzTx/>
            </a:pPr>
            <a:r>
              <a:rPr kumimoji="0" lang="en-US" altLang="en-US" sz="1400" b="1" i="0" u="none" strike="noStrike" cap="none" normalizeH="0" baseline="0" dirty="0">
                <a:ln>
                  <a:noFill/>
                </a:ln>
                <a:solidFill>
                  <a:schemeClr val="tx1"/>
                </a:solidFill>
                <a:effectLst/>
              </a:rPr>
              <a:t>Strategic Advisor:</a:t>
            </a:r>
            <a:r>
              <a:rPr kumimoji="0" lang="en-US" altLang="en-US" sz="1400" b="0" i="0" u="none" strike="noStrike" cap="none" normalizeH="0" baseline="0" dirty="0">
                <a:ln>
                  <a:noFill/>
                </a:ln>
                <a:solidFill>
                  <a:schemeClr val="tx1"/>
                </a:solidFill>
                <a:effectLst/>
              </a:rPr>
              <a:t> Provide expert guidance and data-driven insights to help organizations make better decisions.</a:t>
            </a:r>
          </a:p>
          <a:p>
            <a:pPr eaLnBrk="0" fontAlgn="base" hangingPunct="0">
              <a:spcAft>
                <a:spcPts val="600"/>
              </a:spcAft>
              <a:buSzTx/>
            </a:pPr>
            <a:r>
              <a:rPr kumimoji="0" lang="en-US" altLang="en-US" sz="1400" b="1" i="0" u="none" strike="noStrike" cap="none" normalizeH="0" baseline="0" dirty="0">
                <a:ln>
                  <a:noFill/>
                </a:ln>
                <a:solidFill>
                  <a:schemeClr val="tx1"/>
                </a:solidFill>
                <a:effectLst/>
              </a:rPr>
              <a:t>Operational Streamlining:</a:t>
            </a:r>
            <a:r>
              <a:rPr kumimoji="0" lang="en-US" altLang="en-US" sz="1400" b="0" i="0" u="none" strike="noStrike" cap="none" normalizeH="0" baseline="0" dirty="0">
                <a:ln>
                  <a:noFill/>
                </a:ln>
                <a:solidFill>
                  <a:schemeClr val="tx1"/>
                </a:solidFill>
                <a:effectLst/>
              </a:rPr>
              <a:t> Analyze current workflows to identify inefficiencies and help the business run more smoothly.</a:t>
            </a:r>
          </a:p>
          <a:p>
            <a:pPr eaLnBrk="0" fontAlgn="base" hangingPunct="0">
              <a:spcAft>
                <a:spcPts val="600"/>
              </a:spcAft>
              <a:buSzTx/>
            </a:pPr>
            <a:r>
              <a:rPr kumimoji="0" lang="en-US" altLang="en-US" sz="1400" b="1" i="0" u="none" strike="noStrike" cap="none" normalizeH="0" baseline="0" dirty="0">
                <a:ln>
                  <a:noFill/>
                </a:ln>
                <a:solidFill>
                  <a:schemeClr val="tx1"/>
                </a:solidFill>
                <a:effectLst/>
              </a:rPr>
              <a:t>Team Collaboration:</a:t>
            </a:r>
            <a:r>
              <a:rPr kumimoji="0" lang="en-US" altLang="en-US" sz="1400" b="0" i="0" u="none" strike="noStrike" cap="none" normalizeH="0" baseline="0" dirty="0">
                <a:ln>
                  <a:noFill/>
                </a:ln>
                <a:solidFill>
                  <a:schemeClr val="tx1"/>
                </a:solidFill>
                <a:effectLst/>
              </a:rPr>
              <a:t> Work across various departments to maintain alignment and facilitate communication on key initiatives.</a:t>
            </a:r>
          </a:p>
          <a:p>
            <a:pPr eaLnBrk="0" fontAlgn="base" hangingPunct="0">
              <a:spcAft>
                <a:spcPts val="600"/>
              </a:spcAft>
              <a:buSzTx/>
            </a:pPr>
            <a:r>
              <a:rPr kumimoji="0" lang="en-US" altLang="en-US" sz="1400" b="1" i="0" u="none" strike="noStrike" cap="none" normalizeH="0" baseline="0" dirty="0">
                <a:ln>
                  <a:noFill/>
                </a:ln>
                <a:solidFill>
                  <a:schemeClr val="tx1"/>
                </a:solidFill>
                <a:effectLst/>
              </a:rPr>
              <a:t>Dynamic Task Management:</a:t>
            </a:r>
            <a:r>
              <a:rPr kumimoji="0" lang="en-US" altLang="en-US" sz="1400" b="0" i="0" u="none" strike="noStrike" cap="none" normalizeH="0" baseline="0" dirty="0">
                <a:ln>
                  <a:noFill/>
                </a:ln>
                <a:solidFill>
                  <a:schemeClr val="tx1"/>
                </a:solidFill>
                <a:effectLst/>
              </a:rPr>
              <a:t> Adapt to diverse industry needs by performing a wide range of analytical and coordination tasks.</a:t>
            </a:r>
          </a:p>
        </p:txBody>
      </p:sp>
    </p:spTree>
    <p:extLst>
      <p:ext uri="{BB962C8B-B14F-4D97-AF65-F5344CB8AC3E}">
        <p14:creationId xmlns:p14="http://schemas.microsoft.com/office/powerpoint/2010/main" val="14336193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1BE57-D449-4686-97D7-626F14D26ACD}"/>
              </a:ext>
            </a:extLst>
          </p:cNvPr>
          <p:cNvSpPr>
            <a:spLocks noGrp="1"/>
          </p:cNvSpPr>
          <p:nvPr>
            <p:ph type="title"/>
          </p:nvPr>
        </p:nvSpPr>
        <p:spPr>
          <a:xfrm>
            <a:off x="457200" y="123478"/>
            <a:ext cx="8382000" cy="609600"/>
          </a:xfrm>
        </p:spPr>
        <p:txBody>
          <a:bodyPr>
            <a:normAutofit/>
          </a:bodyPr>
          <a:lstStyle/>
          <a:p>
            <a:r>
              <a:rPr lang="en-US" sz="2600" b="1" dirty="0">
                <a:solidFill>
                  <a:schemeClr val="accent1">
                    <a:lumMod val="75000"/>
                  </a:schemeClr>
                </a:solidFill>
              </a:rPr>
              <a:t>Business Analyst Roles and Responsibilities</a:t>
            </a:r>
            <a:endParaRPr lang="en-IN" sz="2600" dirty="0">
              <a:solidFill>
                <a:schemeClr val="accent1">
                  <a:lumMod val="75000"/>
                </a:schemeClr>
              </a:solidFill>
            </a:endParaRPr>
          </a:p>
        </p:txBody>
      </p:sp>
      <p:sp>
        <p:nvSpPr>
          <p:cNvPr id="5" name="Rectangle 2">
            <a:extLst>
              <a:ext uri="{FF2B5EF4-FFF2-40B4-BE49-F238E27FC236}">
                <a16:creationId xmlns:a16="http://schemas.microsoft.com/office/drawing/2014/main" id="{C86071C2-EC83-4085-AD29-27870A0021A6}"/>
              </a:ext>
            </a:extLst>
          </p:cNvPr>
          <p:cNvSpPr>
            <a:spLocks noGrp="1" noChangeArrowheads="1"/>
          </p:cNvSpPr>
          <p:nvPr>
            <p:ph sz="quarter" idx="1"/>
          </p:nvPr>
        </p:nvSpPr>
        <p:spPr bwMode="auto">
          <a:xfrm>
            <a:off x="457200" y="819150"/>
            <a:ext cx="7696200" cy="4078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buSzTx/>
            </a:pPr>
            <a:r>
              <a:rPr kumimoji="0" lang="en-US" altLang="en-US" sz="1400" b="1" i="0" u="none" strike="noStrike" cap="none" normalizeH="0" baseline="0" dirty="0">
                <a:ln>
                  <a:noFill/>
                </a:ln>
                <a:solidFill>
                  <a:schemeClr val="tx1"/>
                </a:solidFill>
                <a:effectLst/>
              </a:rPr>
              <a:t>Requirement Gathering:</a:t>
            </a:r>
            <a:r>
              <a:rPr kumimoji="0" lang="en-US" altLang="en-US" sz="1400" b="0" i="0" u="none" strike="noStrike" cap="none" normalizeH="0" baseline="0" dirty="0">
                <a:ln>
                  <a:noFill/>
                </a:ln>
                <a:solidFill>
                  <a:schemeClr val="tx1"/>
                </a:solidFill>
                <a:effectLst/>
              </a:rPr>
              <a:t> Conducts interviews and workshops to uncover and prioritize stakeholder needs into clear documentation.</a:t>
            </a:r>
          </a:p>
          <a:p>
            <a:pPr eaLnBrk="0" fontAlgn="base" hangingPunct="0">
              <a:buSzTx/>
            </a:pPr>
            <a:r>
              <a:rPr kumimoji="0" lang="en-US" altLang="en-US" sz="1400" b="1" i="0" u="none" strike="noStrike" cap="none" normalizeH="0" baseline="0" dirty="0">
                <a:ln>
                  <a:noFill/>
                </a:ln>
                <a:solidFill>
                  <a:schemeClr val="tx1"/>
                </a:solidFill>
                <a:effectLst/>
              </a:rPr>
              <a:t>Scope Definition:</a:t>
            </a:r>
            <a:r>
              <a:rPr kumimoji="0" lang="en-US" altLang="en-US" sz="1400" b="0" i="0" u="none" strike="noStrike" cap="none" normalizeH="0" baseline="0" dirty="0">
                <a:ln>
                  <a:noFill/>
                </a:ln>
                <a:solidFill>
                  <a:schemeClr val="tx1"/>
                </a:solidFill>
                <a:effectLst/>
              </a:rPr>
              <a:t> Identifies core problems and collaborates with teams to determine feasible solutions within budget and technical limits.</a:t>
            </a:r>
          </a:p>
          <a:p>
            <a:pPr eaLnBrk="0" fontAlgn="base" hangingPunct="0">
              <a:buSzTx/>
            </a:pPr>
            <a:r>
              <a:rPr kumimoji="0" lang="en-US" altLang="en-US" sz="1400" b="1" i="0" u="none" strike="noStrike" cap="none" normalizeH="0" baseline="0" dirty="0">
                <a:ln>
                  <a:noFill/>
                </a:ln>
                <a:solidFill>
                  <a:schemeClr val="tx1"/>
                </a:solidFill>
                <a:effectLst/>
              </a:rPr>
              <a:t>Communication Liaison:</a:t>
            </a:r>
            <a:r>
              <a:rPr kumimoji="0" lang="en-US" altLang="en-US" sz="1400" b="0" i="0" u="none" strike="noStrike" cap="none" normalizeH="0" baseline="0" dirty="0">
                <a:ln>
                  <a:noFill/>
                </a:ln>
                <a:solidFill>
                  <a:schemeClr val="tx1"/>
                </a:solidFill>
                <a:effectLst/>
              </a:rPr>
              <a:t> Bridges the gap between business and technical teams by translating requirements and managing expectations.</a:t>
            </a:r>
          </a:p>
          <a:p>
            <a:pPr eaLnBrk="0" fontAlgn="base" hangingPunct="0">
              <a:buSzTx/>
            </a:pPr>
            <a:r>
              <a:rPr kumimoji="0" lang="en-US" altLang="en-US" sz="1400" b="1" i="0" u="none" strike="noStrike" cap="none" normalizeH="0" baseline="0" dirty="0">
                <a:ln>
                  <a:noFill/>
                </a:ln>
                <a:solidFill>
                  <a:schemeClr val="tx1"/>
                </a:solidFill>
                <a:effectLst/>
              </a:rPr>
              <a:t>Documentation Management:</a:t>
            </a:r>
            <a:r>
              <a:rPr kumimoji="0" lang="en-US" altLang="en-US" sz="1400" b="0" i="0" u="none" strike="noStrike" cap="none" normalizeH="0" baseline="0" dirty="0">
                <a:ln>
                  <a:noFill/>
                </a:ln>
                <a:solidFill>
                  <a:schemeClr val="tx1"/>
                </a:solidFill>
                <a:effectLst/>
              </a:rPr>
              <a:t> Creates BRDs, use cases, and process diagrams to provide a solid foundation for project alignment.</a:t>
            </a:r>
          </a:p>
          <a:p>
            <a:pPr eaLnBrk="0" fontAlgn="base" hangingPunct="0">
              <a:buSzTx/>
            </a:pPr>
            <a:r>
              <a:rPr kumimoji="0" lang="en-US" altLang="en-US" sz="1400" b="1" i="0" u="none" strike="noStrike" cap="none" normalizeH="0" baseline="0" dirty="0">
                <a:ln>
                  <a:noFill/>
                </a:ln>
                <a:solidFill>
                  <a:schemeClr val="tx1"/>
                </a:solidFill>
                <a:effectLst/>
              </a:rPr>
              <a:t>Data Analysis:</a:t>
            </a:r>
            <a:r>
              <a:rPr kumimoji="0" lang="en-US" altLang="en-US" sz="1400" b="0" i="0" u="none" strike="noStrike" cap="none" normalizeH="0" baseline="0" dirty="0">
                <a:ln>
                  <a:noFill/>
                </a:ln>
                <a:solidFill>
                  <a:schemeClr val="tx1"/>
                </a:solidFill>
                <a:effectLst/>
              </a:rPr>
              <a:t> Analyzes KPIs and customer feedback to visualize trends and support data-driven decision-making.</a:t>
            </a:r>
          </a:p>
          <a:p>
            <a:pPr eaLnBrk="0" fontAlgn="base" hangingPunct="0">
              <a:buSzTx/>
            </a:pPr>
            <a:r>
              <a:rPr kumimoji="0" lang="en-US" altLang="en-US" sz="1400" b="1" i="0" u="none" strike="noStrike" cap="none" normalizeH="0" baseline="0" dirty="0">
                <a:ln>
                  <a:noFill/>
                </a:ln>
                <a:solidFill>
                  <a:schemeClr val="tx1"/>
                </a:solidFill>
                <a:effectLst/>
              </a:rPr>
              <a:t>Process Optimization:</a:t>
            </a:r>
            <a:r>
              <a:rPr kumimoji="0" lang="en-US" altLang="en-US" sz="1400" b="0" i="0" u="none" strike="noStrike" cap="none" normalizeH="0" baseline="0" dirty="0">
                <a:ln>
                  <a:noFill/>
                </a:ln>
                <a:solidFill>
                  <a:schemeClr val="tx1"/>
                </a:solidFill>
                <a:effectLst/>
              </a:rPr>
              <a:t> Maps workflows to identify bottlenecks and suggests improvements to increase efficiency and reduce costs.</a:t>
            </a:r>
          </a:p>
          <a:p>
            <a:pPr eaLnBrk="0" fontAlgn="base" hangingPunct="0">
              <a:buSzTx/>
            </a:pPr>
            <a:r>
              <a:rPr kumimoji="0" lang="en-US" altLang="en-US" sz="1400" b="1" i="0" u="none" strike="noStrike" cap="none" normalizeH="0" baseline="0" dirty="0">
                <a:ln>
                  <a:noFill/>
                </a:ln>
                <a:solidFill>
                  <a:schemeClr val="tx1"/>
                </a:solidFill>
                <a:effectLst/>
              </a:rPr>
              <a:t>Testing and Implementation Support:</a:t>
            </a:r>
            <a:r>
              <a:rPr kumimoji="0" lang="en-US" altLang="en-US" sz="1400" b="0" i="0" u="none" strike="noStrike" cap="none" normalizeH="0" baseline="0" dirty="0">
                <a:ln>
                  <a:noFill/>
                </a:ln>
                <a:solidFill>
                  <a:schemeClr val="tx1"/>
                </a:solidFill>
                <a:effectLst/>
              </a:rPr>
              <a:t> Leads User Acceptance Testing (UAT) and resolves issues to ensure the solution meets business goals.</a:t>
            </a:r>
          </a:p>
          <a:p>
            <a:pPr eaLnBrk="0" fontAlgn="base" hangingPunct="0">
              <a:buSzTx/>
            </a:pPr>
            <a:r>
              <a:rPr kumimoji="0" lang="en-US" altLang="en-US" sz="1400" b="1" i="0" u="none" strike="noStrike" cap="none" normalizeH="0" baseline="0" dirty="0">
                <a:ln>
                  <a:noFill/>
                </a:ln>
                <a:solidFill>
                  <a:schemeClr val="tx1"/>
                </a:solidFill>
                <a:effectLst/>
              </a:rPr>
              <a:t>Success Tracking:</a:t>
            </a:r>
            <a:r>
              <a:rPr kumimoji="0" lang="en-US" altLang="en-US" sz="1400" b="0" i="0" u="none" strike="noStrike" cap="none" normalizeH="0" baseline="0" dirty="0">
                <a:ln>
                  <a:noFill/>
                </a:ln>
                <a:solidFill>
                  <a:schemeClr val="tx1"/>
                </a:solidFill>
                <a:effectLst/>
              </a:rPr>
              <a:t> Monitors post-implementation performance and gathers feedback to report on project success and future adjustments.</a:t>
            </a:r>
          </a:p>
        </p:txBody>
      </p:sp>
    </p:spTree>
    <p:extLst>
      <p:ext uri="{BB962C8B-B14F-4D97-AF65-F5344CB8AC3E}">
        <p14:creationId xmlns:p14="http://schemas.microsoft.com/office/powerpoint/2010/main" val="37621202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129F9-74B4-4060-BC68-A0661FF9B7B2}"/>
              </a:ext>
            </a:extLst>
          </p:cNvPr>
          <p:cNvSpPr>
            <a:spLocks noGrp="1"/>
          </p:cNvSpPr>
          <p:nvPr>
            <p:ph type="title"/>
          </p:nvPr>
        </p:nvSpPr>
        <p:spPr/>
        <p:txBody>
          <a:bodyPr>
            <a:normAutofit/>
          </a:bodyPr>
          <a:lstStyle/>
          <a:p>
            <a:r>
              <a:rPr lang="en-US" sz="2600" b="1" dirty="0">
                <a:solidFill>
                  <a:schemeClr val="accent1">
                    <a:lumMod val="75000"/>
                  </a:schemeClr>
                </a:solidFill>
              </a:rPr>
              <a:t>The Tools Used by Business Analysts</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5FD56A77-F148-403D-BFFC-098F612060EF}"/>
              </a:ext>
            </a:extLst>
          </p:cNvPr>
          <p:cNvSpPr>
            <a:spLocks noGrp="1"/>
          </p:cNvSpPr>
          <p:nvPr>
            <p:ph sz="quarter" idx="1"/>
          </p:nvPr>
        </p:nvSpPr>
        <p:spPr/>
        <p:txBody>
          <a:bodyPr>
            <a:normAutofit/>
          </a:bodyPr>
          <a:lstStyle/>
          <a:p>
            <a:pPr>
              <a:spcBef>
                <a:spcPts val="1200"/>
              </a:spcBef>
              <a:spcAft>
                <a:spcPts val="1200"/>
              </a:spcAft>
              <a:buSzPct val="100000"/>
            </a:pPr>
            <a:r>
              <a:rPr lang="en-US" sz="1400" b="1" dirty="0"/>
              <a:t>Requirements Management Tools:</a:t>
            </a:r>
            <a:r>
              <a:rPr lang="en-US" sz="1400" dirty="0"/>
              <a:t> Software such as JIRA, Confluence, or Trello is utilized to document and track specific requirements, user stories, and project tasks.</a:t>
            </a:r>
          </a:p>
          <a:p>
            <a:pPr>
              <a:spcBef>
                <a:spcPts val="1200"/>
              </a:spcBef>
              <a:spcAft>
                <a:spcPts val="1200"/>
              </a:spcAft>
              <a:buSzPct val="100000"/>
            </a:pPr>
            <a:r>
              <a:rPr lang="en-US" sz="1400" b="1" dirty="0"/>
              <a:t>Data Analysis Tools:</a:t>
            </a:r>
            <a:r>
              <a:rPr lang="en-US" sz="1400" dirty="0"/>
              <a:t> Analysts rely on Microsoft Excel, Google Analytics, and Tableau to process data and generate visual reports for stakeholders.</a:t>
            </a:r>
          </a:p>
          <a:p>
            <a:pPr>
              <a:spcBef>
                <a:spcPts val="1200"/>
              </a:spcBef>
              <a:spcAft>
                <a:spcPts val="1200"/>
              </a:spcAft>
              <a:buSzPct val="100000"/>
            </a:pPr>
            <a:r>
              <a:rPr lang="en-US" sz="1400" b="1" dirty="0"/>
              <a:t>Process Mapping Tools:</a:t>
            </a:r>
            <a:r>
              <a:rPr lang="en-US" sz="1400" dirty="0"/>
              <a:t> Platforms like Microsoft Visio and </a:t>
            </a:r>
            <a:r>
              <a:rPr lang="en-US" sz="1400" dirty="0" err="1"/>
              <a:t>Lucidchart</a:t>
            </a:r>
            <a:r>
              <a:rPr lang="en-US" sz="1400" dirty="0"/>
              <a:t> are used to create detailed diagrams that map out business processes and workflows.</a:t>
            </a:r>
          </a:p>
          <a:p>
            <a:pPr>
              <a:spcBef>
                <a:spcPts val="1200"/>
              </a:spcBef>
              <a:spcAft>
                <a:spcPts val="1200"/>
              </a:spcAft>
              <a:buSzPct val="100000"/>
            </a:pPr>
            <a:r>
              <a:rPr lang="en-US" sz="1400" b="1" dirty="0"/>
              <a:t>Collaboration Tools:</a:t>
            </a:r>
            <a:r>
              <a:rPr lang="en-US" sz="1400" dirty="0"/>
              <a:t> Communication platforms, including Slack, Zoom, and Microsoft Teams, are essential for facilitating ongoing collaboration with team members and stakeholders.</a:t>
            </a:r>
          </a:p>
          <a:p>
            <a:pPr>
              <a:buSzPct val="100000"/>
            </a:pPr>
            <a:endParaRPr lang="en-IN" sz="1400" dirty="0"/>
          </a:p>
        </p:txBody>
      </p:sp>
    </p:spTree>
    <p:extLst>
      <p:ext uri="{BB962C8B-B14F-4D97-AF65-F5344CB8AC3E}">
        <p14:creationId xmlns:p14="http://schemas.microsoft.com/office/powerpoint/2010/main" val="41688264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A55E1-F452-449A-A742-03717DF3EEC0}"/>
              </a:ext>
            </a:extLst>
          </p:cNvPr>
          <p:cNvSpPr>
            <a:spLocks noGrp="1"/>
          </p:cNvSpPr>
          <p:nvPr>
            <p:ph type="title"/>
          </p:nvPr>
        </p:nvSpPr>
        <p:spPr/>
        <p:txBody>
          <a:bodyPr>
            <a:noAutofit/>
          </a:bodyPr>
          <a:lstStyle/>
          <a:p>
            <a:r>
              <a:rPr lang="en-US" sz="2600" b="1" dirty="0">
                <a:solidFill>
                  <a:schemeClr val="accent1">
                    <a:lumMod val="75000"/>
                  </a:schemeClr>
                </a:solidFill>
              </a:rPr>
              <a:t>Collaboration and Relationship-Building in Business Analysis</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949D3676-F054-4180-8959-68A57FBB8B57}"/>
              </a:ext>
            </a:extLst>
          </p:cNvPr>
          <p:cNvSpPr>
            <a:spLocks noGrp="1"/>
          </p:cNvSpPr>
          <p:nvPr>
            <p:ph sz="quarter" idx="1"/>
          </p:nvPr>
        </p:nvSpPr>
        <p:spPr/>
        <p:txBody>
          <a:bodyPr>
            <a:normAutofit/>
          </a:bodyPr>
          <a:lstStyle/>
          <a:p>
            <a:pPr>
              <a:spcAft>
                <a:spcPts val="600"/>
              </a:spcAft>
              <a:buSzPct val="100000"/>
            </a:pPr>
            <a:r>
              <a:rPr lang="en-US" sz="1400" b="1" dirty="0"/>
              <a:t>Centrality of Collaboration:</a:t>
            </a:r>
            <a:r>
              <a:rPr lang="en-US" sz="1400" dirty="0"/>
              <a:t> Working effectively with diverse groups is a core skill, as analysts continuously interact with business owners, technical teams, and clients.</a:t>
            </a:r>
          </a:p>
          <a:p>
            <a:pPr>
              <a:spcAft>
                <a:spcPts val="600"/>
              </a:spcAft>
              <a:buSzPct val="100000"/>
            </a:pPr>
            <a:r>
              <a:rPr lang="en-US" sz="1400" b="1" dirty="0"/>
              <a:t>Relationship Management:</a:t>
            </a:r>
            <a:r>
              <a:rPr lang="en-US" sz="1400" dirty="0"/>
              <a:t> Analysts must focus on building trust and maintaining strong, long-term relationships with all project stakeholders.</a:t>
            </a:r>
          </a:p>
          <a:p>
            <a:pPr>
              <a:spcAft>
                <a:spcPts val="600"/>
              </a:spcAft>
              <a:buSzPct val="100000"/>
            </a:pPr>
            <a:r>
              <a:rPr lang="en-US" sz="1400" b="1" dirty="0"/>
              <a:t>Conflict Resolution:</a:t>
            </a:r>
            <a:r>
              <a:rPr lang="en-US" sz="1400" dirty="0"/>
              <a:t> A key capability involves effectively managing differing opinions and resolving conflicts to keep projects moving forward.</a:t>
            </a:r>
          </a:p>
          <a:p>
            <a:pPr>
              <a:spcAft>
                <a:spcPts val="600"/>
              </a:spcAft>
              <a:buSzPct val="100000"/>
            </a:pPr>
            <a:r>
              <a:rPr lang="en-US" sz="1400" b="1" dirty="0"/>
              <a:t>Communication Facilitation:</a:t>
            </a:r>
            <a:r>
              <a:rPr lang="en-US" sz="1400" dirty="0"/>
              <a:t> They ensure clear, open communication across all teams to prevent misunderstandings and keep everyone aligned.</a:t>
            </a:r>
          </a:p>
          <a:p>
            <a:pPr>
              <a:spcAft>
                <a:spcPts val="600"/>
              </a:spcAft>
              <a:buSzPct val="100000"/>
            </a:pPr>
            <a:r>
              <a:rPr lang="en-US" sz="1400" b="1" dirty="0"/>
              <a:t>Bridging Organizational Gaps:</a:t>
            </a:r>
            <a:r>
              <a:rPr lang="en-US" sz="1400" dirty="0"/>
              <a:t> They play a vital role in connecting business needs with technical solutions through activities like data analysis and requirement gathering.</a:t>
            </a:r>
          </a:p>
          <a:p>
            <a:pPr>
              <a:spcAft>
                <a:spcPts val="600"/>
              </a:spcAft>
              <a:buSzPct val="100000"/>
            </a:pPr>
            <a:r>
              <a:rPr lang="en-US" sz="1400" b="1" dirty="0"/>
              <a:t>Implementation Support:</a:t>
            </a:r>
            <a:r>
              <a:rPr lang="en-US" sz="1400" dirty="0"/>
              <a:t> Beyond initial planning, they facilitate communication and coordination to ensure the successful delivery of business solutions.</a:t>
            </a:r>
          </a:p>
        </p:txBody>
      </p:sp>
    </p:spTree>
    <p:extLst>
      <p:ext uri="{BB962C8B-B14F-4D97-AF65-F5344CB8AC3E}">
        <p14:creationId xmlns:p14="http://schemas.microsoft.com/office/powerpoint/2010/main" val="24198354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63E81073-8001-4385-B15C-A2FA3703EE99}"/>
              </a:ext>
            </a:extLst>
          </p:cNvPr>
          <p:cNvGraphicFramePr>
            <a:graphicFrameLocks noGrp="1"/>
          </p:cNvGraphicFramePr>
          <p:nvPr>
            <p:ph sz="quarter" idx="1"/>
            <p:extLst>
              <p:ext uri="{D42A27DB-BD31-4B8C-83A1-F6EECF244321}">
                <p14:modId xmlns:p14="http://schemas.microsoft.com/office/powerpoint/2010/main" val="3529243268"/>
              </p:ext>
            </p:extLst>
          </p:nvPr>
        </p:nvGraphicFramePr>
        <p:xfrm>
          <a:off x="228600" y="638229"/>
          <a:ext cx="7924800" cy="4398944"/>
        </p:xfrm>
        <a:graphic>
          <a:graphicData uri="http://schemas.openxmlformats.org/drawingml/2006/table">
            <a:tbl>
              <a:tblPr firstRow="1" bandRow="1">
                <a:tableStyleId>{5C22544A-7EE6-4342-B048-85BDC9FD1C3A}</a:tableStyleId>
              </a:tblPr>
              <a:tblGrid>
                <a:gridCol w="2641600">
                  <a:extLst>
                    <a:ext uri="{9D8B030D-6E8A-4147-A177-3AD203B41FA5}">
                      <a16:colId xmlns:a16="http://schemas.microsoft.com/office/drawing/2014/main" val="40771563"/>
                    </a:ext>
                  </a:extLst>
                </a:gridCol>
                <a:gridCol w="2641600">
                  <a:extLst>
                    <a:ext uri="{9D8B030D-6E8A-4147-A177-3AD203B41FA5}">
                      <a16:colId xmlns:a16="http://schemas.microsoft.com/office/drawing/2014/main" val="4235307592"/>
                    </a:ext>
                  </a:extLst>
                </a:gridCol>
                <a:gridCol w="2641600">
                  <a:extLst>
                    <a:ext uri="{9D8B030D-6E8A-4147-A177-3AD203B41FA5}">
                      <a16:colId xmlns:a16="http://schemas.microsoft.com/office/drawing/2014/main" val="4030201069"/>
                    </a:ext>
                  </a:extLst>
                </a:gridCol>
              </a:tblGrid>
              <a:tr h="500743">
                <a:tc>
                  <a:txBody>
                    <a:bodyPr/>
                    <a:lstStyle/>
                    <a:p>
                      <a:pPr algn="ctr"/>
                      <a:r>
                        <a:rPr lang="en-IN" sz="1400" dirty="0">
                          <a:solidFill>
                            <a:schemeClr val="tx1"/>
                          </a:solidFill>
                          <a:latin typeface="Times New Roman" panose="02020603050405020304" pitchFamily="18" charset="0"/>
                        </a:rPr>
                        <a:t>Feature</a:t>
                      </a:r>
                    </a:p>
                  </a:txBody>
                  <a:tcPr anchor="ctr"/>
                </a:tc>
                <a:tc>
                  <a:txBody>
                    <a:bodyPr/>
                    <a:lstStyle/>
                    <a:p>
                      <a:pPr algn="ctr"/>
                      <a:r>
                        <a:rPr lang="en-IN" sz="1400" b="1" dirty="0">
                          <a:solidFill>
                            <a:schemeClr val="tx1"/>
                          </a:solidFill>
                          <a:latin typeface="Times New Roman" panose="02020603050405020304" pitchFamily="18" charset="0"/>
                        </a:rPr>
                        <a:t>Business Analyst</a:t>
                      </a:r>
                      <a:endParaRPr lang="en-IN" sz="1400" dirty="0">
                        <a:solidFill>
                          <a:schemeClr val="tx1"/>
                        </a:solidFill>
                      </a:endParaRPr>
                    </a:p>
                  </a:txBody>
                  <a:tcPr anchor="ctr"/>
                </a:tc>
                <a:tc>
                  <a:txBody>
                    <a:bodyPr/>
                    <a:lstStyle/>
                    <a:p>
                      <a:pPr algn="ctr"/>
                      <a:r>
                        <a:rPr lang="en-IN" sz="1400" b="1" dirty="0">
                          <a:solidFill>
                            <a:schemeClr val="tx1"/>
                          </a:solidFill>
                          <a:latin typeface="Times New Roman" panose="02020603050405020304" pitchFamily="18" charset="0"/>
                        </a:rPr>
                        <a:t>Business Analytics Professional</a:t>
                      </a:r>
                      <a:endParaRPr lang="en-IN" sz="1400" dirty="0">
                        <a:solidFill>
                          <a:schemeClr val="tx1"/>
                        </a:solidFill>
                      </a:endParaRPr>
                    </a:p>
                  </a:txBody>
                  <a:tcPr anchor="ctr"/>
                </a:tc>
                <a:extLst>
                  <a:ext uri="{0D108BD9-81ED-4DB2-BD59-A6C34878D82A}">
                    <a16:rowId xmlns:a16="http://schemas.microsoft.com/office/drawing/2014/main" val="1483273397"/>
                  </a:ext>
                </a:extLst>
              </a:tr>
              <a:tr h="500743">
                <a:tc>
                  <a:txBody>
                    <a:bodyPr/>
                    <a:lstStyle/>
                    <a:p>
                      <a:pPr algn="ctr"/>
                      <a:r>
                        <a:rPr lang="en-IN" sz="1400" b="1" dirty="0">
                          <a:solidFill>
                            <a:schemeClr val="tx1"/>
                          </a:solidFill>
                          <a:latin typeface="Times New Roman" panose="02020603050405020304" pitchFamily="18" charset="0"/>
                        </a:rPr>
                        <a:t>Primary Focus</a:t>
                      </a:r>
                      <a:endParaRPr lang="en-IN" sz="1400" dirty="0">
                        <a:solidFill>
                          <a:schemeClr val="tx1"/>
                        </a:solidFill>
                      </a:endParaRPr>
                    </a:p>
                  </a:txBody>
                  <a:tcPr anchor="ctr"/>
                </a:tc>
                <a:tc>
                  <a:txBody>
                    <a:bodyPr/>
                    <a:lstStyle/>
                    <a:p>
                      <a:r>
                        <a:rPr lang="en-US" sz="1400" dirty="0">
                          <a:solidFill>
                            <a:schemeClr val="tx1"/>
                          </a:solidFill>
                          <a:latin typeface="Times New Roman" panose="02020603050405020304" pitchFamily="18" charset="0"/>
                        </a:rPr>
                        <a:t>Optimizing business processes and functions.</a:t>
                      </a:r>
                    </a:p>
                  </a:txBody>
                  <a:tcPr anchor="ctr"/>
                </a:tc>
                <a:tc>
                  <a:txBody>
                    <a:bodyPr/>
                    <a:lstStyle/>
                    <a:p>
                      <a:r>
                        <a:rPr lang="en-US" sz="1400" dirty="0">
                          <a:solidFill>
                            <a:schemeClr val="tx1"/>
                          </a:solidFill>
                          <a:latin typeface="Times New Roman" panose="02020603050405020304" pitchFamily="18" charset="0"/>
                        </a:rPr>
                        <a:t>Data, statistical analysis, and reporting.</a:t>
                      </a:r>
                    </a:p>
                  </a:txBody>
                  <a:tcPr anchor="ctr"/>
                </a:tc>
                <a:extLst>
                  <a:ext uri="{0D108BD9-81ED-4DB2-BD59-A6C34878D82A}">
                    <a16:rowId xmlns:a16="http://schemas.microsoft.com/office/drawing/2014/main" val="3425080649"/>
                  </a:ext>
                </a:extLst>
              </a:tr>
              <a:tr h="822307">
                <a:tc>
                  <a:txBody>
                    <a:bodyPr/>
                    <a:lstStyle/>
                    <a:p>
                      <a:pPr algn="ctr"/>
                      <a:r>
                        <a:rPr lang="en-IN" sz="1400" b="1" dirty="0">
                          <a:solidFill>
                            <a:schemeClr val="tx1"/>
                          </a:solidFill>
                          <a:latin typeface="Times New Roman" panose="02020603050405020304" pitchFamily="18" charset="0"/>
                        </a:rPr>
                        <a:t>Core Objective</a:t>
                      </a:r>
                      <a:endParaRPr lang="en-IN" sz="1400" dirty="0">
                        <a:solidFill>
                          <a:schemeClr val="tx1"/>
                        </a:solidFill>
                      </a:endParaRPr>
                    </a:p>
                  </a:txBody>
                  <a:tcPr anchor="ctr"/>
                </a:tc>
                <a:tc>
                  <a:txBody>
                    <a:bodyPr/>
                    <a:lstStyle/>
                    <a:p>
                      <a:r>
                        <a:rPr lang="en-US" sz="1400" dirty="0">
                          <a:solidFill>
                            <a:schemeClr val="tx1"/>
                          </a:solidFill>
                          <a:latin typeface="Times New Roman" panose="02020603050405020304" pitchFamily="18" charset="0"/>
                        </a:rPr>
                        <a:t>Analyzes what a business needs to function optimally and identifies improvements.</a:t>
                      </a:r>
                    </a:p>
                  </a:txBody>
                  <a:tcPr anchor="ctr"/>
                </a:tc>
                <a:tc>
                  <a:txBody>
                    <a:bodyPr/>
                    <a:lstStyle/>
                    <a:p>
                      <a:r>
                        <a:rPr lang="en-US" sz="1400" dirty="0">
                          <a:solidFill>
                            <a:schemeClr val="tx1"/>
                          </a:solidFill>
                          <a:latin typeface="Times New Roman" panose="02020603050405020304" pitchFamily="18" charset="0"/>
                        </a:rPr>
                        <a:t>Investigates business performance to drive recommendations.</a:t>
                      </a:r>
                    </a:p>
                  </a:txBody>
                  <a:tcPr anchor="ctr"/>
                </a:tc>
                <a:extLst>
                  <a:ext uri="{0D108BD9-81ED-4DB2-BD59-A6C34878D82A}">
                    <a16:rowId xmlns:a16="http://schemas.microsoft.com/office/drawing/2014/main" val="2699007809"/>
                  </a:ext>
                </a:extLst>
              </a:tr>
              <a:tr h="822307">
                <a:tc>
                  <a:txBody>
                    <a:bodyPr/>
                    <a:lstStyle/>
                    <a:p>
                      <a:pPr algn="ctr"/>
                      <a:r>
                        <a:rPr lang="en-IN" sz="1400" b="1" dirty="0">
                          <a:solidFill>
                            <a:schemeClr val="tx1"/>
                          </a:solidFill>
                          <a:latin typeface="Times New Roman" panose="02020603050405020304" pitchFamily="18" charset="0"/>
                        </a:rPr>
                        <a:t>Methods</a:t>
                      </a:r>
                      <a:endParaRPr lang="en-IN" sz="1400" dirty="0">
                        <a:solidFill>
                          <a:schemeClr val="tx1"/>
                        </a:solidFill>
                      </a:endParaRPr>
                    </a:p>
                  </a:txBody>
                  <a:tcPr anchor="ctr"/>
                </a:tc>
                <a:tc>
                  <a:txBody>
                    <a:bodyPr/>
                    <a:lstStyle/>
                    <a:p>
                      <a:r>
                        <a:rPr lang="en-US" sz="1400" dirty="0">
                          <a:solidFill>
                            <a:schemeClr val="tx1"/>
                          </a:solidFill>
                          <a:latin typeface="Times New Roman" panose="02020603050405020304" pitchFamily="18" charset="0"/>
                        </a:rPr>
                        <a:t>Improving processes, changing policies, or introducing new technology.</a:t>
                      </a:r>
                    </a:p>
                  </a:txBody>
                  <a:tcPr anchor="ctr"/>
                </a:tc>
                <a:tc>
                  <a:txBody>
                    <a:bodyPr/>
                    <a:lstStyle/>
                    <a:p>
                      <a:r>
                        <a:rPr lang="en-US" sz="1400" dirty="0">
                          <a:solidFill>
                            <a:schemeClr val="tx1"/>
                          </a:solidFill>
                          <a:latin typeface="Times New Roman" panose="02020603050405020304" pitchFamily="18" charset="0"/>
                        </a:rPr>
                        <a:t>Using insights from data patterns and statistical trends.</a:t>
                      </a:r>
                    </a:p>
                  </a:txBody>
                  <a:tcPr anchor="ctr"/>
                </a:tc>
                <a:extLst>
                  <a:ext uri="{0D108BD9-81ED-4DB2-BD59-A6C34878D82A}">
                    <a16:rowId xmlns:a16="http://schemas.microsoft.com/office/drawing/2014/main" val="923451125"/>
                  </a:ext>
                </a:extLst>
              </a:tr>
              <a:tr h="822307">
                <a:tc>
                  <a:txBody>
                    <a:bodyPr/>
                    <a:lstStyle/>
                    <a:p>
                      <a:pPr algn="ctr"/>
                      <a:r>
                        <a:rPr lang="en-IN" sz="1400" b="1" dirty="0">
                          <a:solidFill>
                            <a:schemeClr val="tx1"/>
                          </a:solidFill>
                          <a:latin typeface="Times New Roman" panose="02020603050405020304" pitchFamily="18" charset="0"/>
                        </a:rPr>
                        <a:t>Key Role</a:t>
                      </a:r>
                      <a:endParaRPr lang="en-IN" sz="1400" dirty="0">
                        <a:solidFill>
                          <a:schemeClr val="tx1"/>
                        </a:solidFill>
                      </a:endParaRPr>
                    </a:p>
                  </a:txBody>
                  <a:tcPr anchor="ctr"/>
                </a:tc>
                <a:tc>
                  <a:txBody>
                    <a:bodyPr/>
                    <a:lstStyle/>
                    <a:p>
                      <a:r>
                        <a:rPr lang="en-US" sz="1400" dirty="0">
                          <a:solidFill>
                            <a:schemeClr val="tx1"/>
                          </a:solidFill>
                          <a:latin typeface="Times New Roman" panose="02020603050405020304" pitchFamily="18" charset="0"/>
                        </a:rPr>
                        <a:t>Acts as a coordinator between clients and development teams.</a:t>
                      </a:r>
                    </a:p>
                  </a:txBody>
                  <a:tcPr anchor="ctr"/>
                </a:tc>
                <a:tc>
                  <a:txBody>
                    <a:bodyPr/>
                    <a:lstStyle/>
                    <a:p>
                      <a:r>
                        <a:rPr lang="en-US" sz="1400" dirty="0">
                          <a:solidFill>
                            <a:schemeClr val="tx1"/>
                          </a:solidFill>
                          <a:latin typeface="Times New Roman" panose="02020603050405020304" pitchFamily="18" charset="0"/>
                        </a:rPr>
                        <a:t>Focuses on improving product, marketing, or customer experience via data.</a:t>
                      </a:r>
                    </a:p>
                  </a:txBody>
                  <a:tcPr anchor="ctr"/>
                </a:tc>
                <a:extLst>
                  <a:ext uri="{0D108BD9-81ED-4DB2-BD59-A6C34878D82A}">
                    <a16:rowId xmlns:a16="http://schemas.microsoft.com/office/drawing/2014/main" val="4134617125"/>
                  </a:ext>
                </a:extLst>
              </a:tr>
              <a:tr h="913120">
                <a:tc>
                  <a:txBody>
                    <a:bodyPr/>
                    <a:lstStyle/>
                    <a:p>
                      <a:pPr algn="ctr"/>
                      <a:r>
                        <a:rPr lang="en-IN" sz="1400" b="1" dirty="0">
                          <a:solidFill>
                            <a:schemeClr val="tx1"/>
                          </a:solidFill>
                          <a:latin typeface="Times New Roman" panose="02020603050405020304" pitchFamily="18" charset="0"/>
                        </a:rPr>
                        <a:t>Approach</a:t>
                      </a:r>
                      <a:endParaRPr lang="en-IN" sz="1400" dirty="0">
                        <a:solidFill>
                          <a:schemeClr val="tx1"/>
                        </a:solidFill>
                      </a:endParaRPr>
                    </a:p>
                  </a:txBody>
                  <a:tcPr anchor="ctr"/>
                </a:tc>
                <a:tc>
                  <a:txBody>
                    <a:bodyPr/>
                    <a:lstStyle/>
                    <a:p>
                      <a:r>
                        <a:rPr lang="en-US" sz="1400" dirty="0">
                          <a:solidFill>
                            <a:schemeClr val="tx1"/>
                          </a:solidFill>
                          <a:latin typeface="Times New Roman" panose="02020603050405020304" pitchFamily="18" charset="0"/>
                        </a:rPr>
                        <a:t>Often serves as a technical project manager to ensure solutions solve specific problems.</a:t>
                      </a:r>
                    </a:p>
                  </a:txBody>
                  <a:tcPr anchor="ctr"/>
                </a:tc>
                <a:tc>
                  <a:txBody>
                    <a:bodyPr/>
                    <a:lstStyle/>
                    <a:p>
                      <a:r>
                        <a:rPr lang="en-US" sz="1400" dirty="0">
                          <a:solidFill>
                            <a:schemeClr val="tx1"/>
                          </a:solidFill>
                          <a:latin typeface="Times New Roman" panose="02020603050405020304" pitchFamily="18" charset="0"/>
                        </a:rPr>
                        <a:t>Provides evidence-based insights to help understand and improve performance.</a:t>
                      </a:r>
                    </a:p>
                  </a:txBody>
                  <a:tcPr anchor="ctr"/>
                </a:tc>
                <a:extLst>
                  <a:ext uri="{0D108BD9-81ED-4DB2-BD59-A6C34878D82A}">
                    <a16:rowId xmlns:a16="http://schemas.microsoft.com/office/drawing/2014/main" val="946422134"/>
                  </a:ext>
                </a:extLst>
              </a:tr>
            </a:tbl>
          </a:graphicData>
        </a:graphic>
      </p:graphicFrame>
      <p:sp>
        <p:nvSpPr>
          <p:cNvPr id="8" name="Title 1">
            <a:extLst>
              <a:ext uri="{FF2B5EF4-FFF2-40B4-BE49-F238E27FC236}">
                <a16:creationId xmlns:a16="http://schemas.microsoft.com/office/drawing/2014/main" id="{B77D1960-58B0-4044-B455-CC6DD85D8445}"/>
              </a:ext>
            </a:extLst>
          </p:cNvPr>
          <p:cNvSpPr>
            <a:spLocks noGrp="1"/>
          </p:cNvSpPr>
          <p:nvPr>
            <p:ph type="title"/>
          </p:nvPr>
        </p:nvSpPr>
        <p:spPr>
          <a:xfrm>
            <a:off x="160784" y="123276"/>
            <a:ext cx="8947720" cy="432250"/>
          </a:xfrm>
        </p:spPr>
        <p:txBody>
          <a:bodyPr>
            <a:noAutofit/>
          </a:bodyPr>
          <a:lstStyle/>
          <a:p>
            <a:r>
              <a:rPr lang="en-US" sz="2600" b="1" dirty="0">
                <a:solidFill>
                  <a:schemeClr val="accent1">
                    <a:lumMod val="75000"/>
                  </a:schemeClr>
                </a:solidFill>
              </a:rPr>
              <a:t>Business Analyst vs. Business Analytics Professional</a:t>
            </a:r>
            <a:endParaRPr lang="en-IN" sz="2600" b="1" dirty="0">
              <a:solidFill>
                <a:schemeClr val="accent1">
                  <a:lumMod val="75000"/>
                </a:schemeClr>
              </a:solidFill>
            </a:endParaRPr>
          </a:p>
        </p:txBody>
      </p:sp>
    </p:spTree>
    <p:extLst>
      <p:ext uri="{BB962C8B-B14F-4D97-AF65-F5344CB8AC3E}">
        <p14:creationId xmlns:p14="http://schemas.microsoft.com/office/powerpoint/2010/main" val="375372325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F2D2A-2ECD-41B5-86AC-0E215B2446F0}"/>
              </a:ext>
            </a:extLst>
          </p:cNvPr>
          <p:cNvSpPr>
            <a:spLocks noGrp="1"/>
          </p:cNvSpPr>
          <p:nvPr>
            <p:ph type="title"/>
          </p:nvPr>
        </p:nvSpPr>
        <p:spPr>
          <a:xfrm>
            <a:off x="457200" y="195486"/>
            <a:ext cx="7467600" cy="579711"/>
          </a:xfrm>
        </p:spPr>
        <p:txBody>
          <a:bodyPr>
            <a:normAutofit/>
          </a:bodyPr>
          <a:lstStyle/>
          <a:p>
            <a:r>
              <a:rPr lang="en-US" sz="2600" b="1" dirty="0">
                <a:solidFill>
                  <a:schemeClr val="accent1">
                    <a:lumMod val="75000"/>
                  </a:schemeClr>
                </a:solidFill>
              </a:rPr>
              <a:t>Core Business Analytics Skills</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7EEEB63C-FDAC-4573-B829-63D31709F84B}"/>
              </a:ext>
            </a:extLst>
          </p:cNvPr>
          <p:cNvSpPr>
            <a:spLocks noGrp="1"/>
          </p:cNvSpPr>
          <p:nvPr>
            <p:ph sz="quarter" idx="1"/>
          </p:nvPr>
        </p:nvSpPr>
        <p:spPr>
          <a:xfrm>
            <a:off x="457200" y="819150"/>
            <a:ext cx="7467600" cy="4036314"/>
          </a:xfrm>
        </p:spPr>
        <p:txBody>
          <a:bodyPr>
            <a:normAutofit/>
          </a:bodyPr>
          <a:lstStyle/>
          <a:p>
            <a:pPr>
              <a:spcAft>
                <a:spcPts val="600"/>
              </a:spcAft>
              <a:buSzPct val="100000"/>
            </a:pPr>
            <a:r>
              <a:rPr lang="en-US" sz="1400" b="1" dirty="0"/>
              <a:t>Strong Communicator:</a:t>
            </a:r>
            <a:r>
              <a:rPr lang="en-US" sz="1400" dirty="0"/>
              <a:t> Ability to present findings clearly and concisely, ensuring all stakeholders understand insights to put recommendations into practice through data storytelling and writing.</a:t>
            </a:r>
          </a:p>
          <a:p>
            <a:pPr>
              <a:spcAft>
                <a:spcPts val="600"/>
              </a:spcAft>
              <a:buSzPct val="100000"/>
            </a:pPr>
            <a:r>
              <a:rPr lang="en-US" sz="1400" b="1" dirty="0"/>
              <a:t>Inquisitive Nature:</a:t>
            </a:r>
            <a:r>
              <a:rPr lang="en-US" sz="1400" dirty="0"/>
              <a:t> A natural curiosity and drive to learn how different components fit together, staying updated with industry changes even at the management level.</a:t>
            </a:r>
          </a:p>
          <a:p>
            <a:pPr>
              <a:spcAft>
                <a:spcPts val="600"/>
              </a:spcAft>
              <a:buSzPct val="100000"/>
            </a:pPr>
            <a:r>
              <a:rPr lang="en-US" sz="1400" b="1" dirty="0"/>
              <a:t>Logical Problem Solver:</a:t>
            </a:r>
            <a:r>
              <a:rPr lang="en-US" sz="1400" dirty="0"/>
              <a:t> Uses a mix of logical thinking, predictive analytics, and statistics to connect dots and turn data into actionable business solutions.</a:t>
            </a:r>
          </a:p>
          <a:p>
            <a:pPr>
              <a:spcAft>
                <a:spcPts val="600"/>
              </a:spcAft>
              <a:buSzPct val="100000"/>
            </a:pPr>
            <a:r>
              <a:rPr lang="en-US" sz="1400" b="1" dirty="0"/>
              <a:t>Critical Thinker:</a:t>
            </a:r>
            <a:r>
              <a:rPr lang="en-US" sz="1400" dirty="0"/>
              <a:t> Evaluates what data is most relevant to collect and analyzes the implications of that data to highlight only what is helpful for decision-making.</a:t>
            </a:r>
          </a:p>
          <a:p>
            <a:pPr>
              <a:spcAft>
                <a:spcPts val="600"/>
              </a:spcAft>
              <a:buSzPct val="100000"/>
            </a:pPr>
            <a:r>
              <a:rPr lang="en-US" sz="1400" b="1" dirty="0"/>
              <a:t>Data Visualizer:</a:t>
            </a:r>
            <a:r>
              <a:rPr lang="en-US" sz="1400" dirty="0"/>
              <a:t> Translates disorganized or complex information into concise, accurate, and easy-to-digest visual formats to create tangible value.</a:t>
            </a:r>
          </a:p>
          <a:p>
            <a:pPr>
              <a:spcAft>
                <a:spcPts val="600"/>
              </a:spcAft>
              <a:buSzPct val="100000"/>
            </a:pPr>
            <a:r>
              <a:rPr lang="en-US" sz="1400" b="1" dirty="0"/>
              <a:t>Detail-Oriented &amp; Big Picture Thinker:</a:t>
            </a:r>
            <a:r>
              <a:rPr lang="en-US" sz="1400" dirty="0"/>
              <a:t> Manages complex data while simultaneously understanding how recommendations affect the business's bottom line, tactics, and long-term strategies.</a:t>
            </a:r>
          </a:p>
        </p:txBody>
      </p:sp>
    </p:spTree>
    <p:extLst>
      <p:ext uri="{BB962C8B-B14F-4D97-AF65-F5344CB8AC3E}">
        <p14:creationId xmlns:p14="http://schemas.microsoft.com/office/powerpoint/2010/main" val="38198720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0E450-0377-4332-88B0-9D365C2B4633}"/>
              </a:ext>
            </a:extLst>
          </p:cNvPr>
          <p:cNvSpPr>
            <a:spLocks noGrp="1"/>
          </p:cNvSpPr>
          <p:nvPr>
            <p:ph type="title"/>
          </p:nvPr>
        </p:nvSpPr>
        <p:spPr>
          <a:xfrm>
            <a:off x="457200" y="267494"/>
            <a:ext cx="8229600" cy="613171"/>
          </a:xfrm>
        </p:spPr>
        <p:txBody>
          <a:bodyPr>
            <a:normAutofit/>
          </a:bodyPr>
          <a:lstStyle/>
          <a:p>
            <a:r>
              <a:rPr lang="en-US" sz="2600" b="1" dirty="0">
                <a:solidFill>
                  <a:schemeClr val="accent1">
                    <a:lumMod val="75000"/>
                  </a:schemeClr>
                </a:solidFill>
              </a:rPr>
              <a:t>Technical Skills for Business Analytics</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F1328B96-A7FA-4C15-B908-C8E870DC4F98}"/>
              </a:ext>
            </a:extLst>
          </p:cNvPr>
          <p:cNvSpPr>
            <a:spLocks noGrp="1"/>
          </p:cNvSpPr>
          <p:nvPr>
            <p:ph sz="quarter" idx="1"/>
          </p:nvPr>
        </p:nvSpPr>
        <p:spPr>
          <a:xfrm>
            <a:off x="457200" y="915892"/>
            <a:ext cx="7715200" cy="3960114"/>
          </a:xfrm>
        </p:spPr>
        <p:txBody>
          <a:bodyPr>
            <a:noAutofit/>
          </a:bodyPr>
          <a:lstStyle/>
          <a:p>
            <a:pPr marL="0" indent="0">
              <a:spcBef>
                <a:spcPts val="0"/>
              </a:spcBef>
              <a:spcAft>
                <a:spcPts val="600"/>
              </a:spcAft>
              <a:buNone/>
            </a:pPr>
            <a:r>
              <a:rPr lang="en-US" sz="1400" dirty="0"/>
              <a:t>In the modern data-driven landscape, analytics professionals often function as both developers and analysts to turn raw data into solutions. Below are some of the top tools for business analytics professionals:</a:t>
            </a:r>
          </a:p>
          <a:p>
            <a:pPr marR="0" lvl="0" algn="l" defTabSz="914400" rtl="0" eaLnBrk="0" fontAlgn="base" latinLnBrk="0" hangingPunct="0">
              <a:spcBef>
                <a:spcPts val="0"/>
              </a:spcBef>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SQL (Structured Query Language):</a:t>
            </a:r>
            <a:endParaRPr kumimoji="0" lang="en-US" altLang="en-US" sz="1400" b="0" i="0" u="none" strike="noStrike" cap="none" normalizeH="0" baseline="0" dirty="0">
              <a:ln>
                <a:noFill/>
              </a:ln>
              <a:solidFill>
                <a:schemeClr val="tx1"/>
              </a:solidFill>
              <a:effectLst/>
              <a:cs typeface="Times New Roman" panose="02020603050405020304" pitchFamily="18" charset="0"/>
            </a:endParaRPr>
          </a:p>
          <a:p>
            <a:pPr marL="539750" marR="0" lvl="0" indent="-273050" algn="l" defTabSz="914400" rtl="0" eaLnBrk="0" fontAlgn="base" latinLnBrk="0" hangingPunct="0">
              <a:spcBef>
                <a:spcPts val="0"/>
              </a:spcBef>
              <a:spcAft>
                <a:spcPts val="600"/>
              </a:spcAft>
              <a:buSzTx/>
              <a:buFont typeface="Arial" panose="020B0604020202020204" pitchFamily="34" charset="0"/>
              <a:buChar char="•"/>
              <a:tabLst>
                <a:tab pos="539750" algn="l"/>
              </a:tabLst>
            </a:pPr>
            <a:r>
              <a:rPr kumimoji="0" lang="en-US" altLang="en-US" sz="1400" b="0" i="0" u="none" strike="noStrike" cap="none" normalizeH="0" baseline="0" dirty="0">
                <a:ln>
                  <a:noFill/>
                </a:ln>
                <a:solidFill>
                  <a:schemeClr val="tx1"/>
                </a:solidFill>
                <a:effectLst/>
                <a:cs typeface="Times New Roman" panose="02020603050405020304" pitchFamily="18" charset="0"/>
              </a:rPr>
              <a:t>Considered the most vital tool in an analyst's toolkit for interacting with databases.</a:t>
            </a:r>
          </a:p>
          <a:p>
            <a:pPr marL="539750" marR="0" lvl="0" indent="-273050" algn="l" defTabSz="914400" rtl="0" eaLnBrk="0" fontAlgn="base" latinLnBrk="0" hangingPunct="0">
              <a:spcBef>
                <a:spcPts val="0"/>
              </a:spcBef>
              <a:spcAft>
                <a:spcPts val="600"/>
              </a:spcAft>
              <a:buSzTx/>
              <a:buFont typeface="Arial" panose="020B0604020202020204" pitchFamily="34" charset="0"/>
              <a:buChar char="•"/>
              <a:tabLst>
                <a:tab pos="539750" algn="l"/>
              </a:tabLst>
            </a:pPr>
            <a:r>
              <a:rPr kumimoji="0" lang="en-US" altLang="en-US" sz="1400" b="0" i="0" u="none" strike="noStrike" cap="none" normalizeH="0" baseline="0" dirty="0">
                <a:ln>
                  <a:noFill/>
                </a:ln>
                <a:solidFill>
                  <a:schemeClr val="tx1"/>
                </a:solidFill>
                <a:effectLst/>
                <a:cs typeface="Times New Roman" panose="02020603050405020304" pitchFamily="18" charset="0"/>
              </a:rPr>
              <a:t>Used to write queries that extract data and develop visualizations for stakeholders.</a:t>
            </a:r>
          </a:p>
          <a:p>
            <a:pPr marR="0" lvl="0" algn="l" defTabSz="914400" rtl="0" eaLnBrk="0" fontAlgn="base" latinLnBrk="0" hangingPunct="0">
              <a:spcBef>
                <a:spcPts val="0"/>
              </a:spcBef>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Statistical Programming Languages:</a:t>
            </a:r>
            <a:endParaRPr kumimoji="0" lang="en-US" altLang="en-US" sz="1400" b="0" i="0" u="none" strike="noStrike" cap="none" normalizeH="0" baseline="0" dirty="0">
              <a:ln>
                <a:noFill/>
              </a:ln>
              <a:solidFill>
                <a:schemeClr val="tx1"/>
              </a:solidFill>
              <a:effectLst/>
              <a:cs typeface="Times New Roman" panose="02020603050405020304" pitchFamily="18" charset="0"/>
            </a:endParaRPr>
          </a:p>
          <a:p>
            <a:pPr marL="539750" marR="0" lvl="0" indent="-273050" algn="l" defTabSz="914400" rtl="0" eaLnBrk="0" fontAlgn="base" latinLnBrk="0" hangingPunct="0">
              <a:spcBef>
                <a:spcPts val="0"/>
              </a:spcBef>
              <a:spcAft>
                <a:spcPts val="600"/>
              </a:spcAft>
              <a:buSzTx/>
              <a:buFont typeface="Arial" panose="020B0604020202020204" pitchFamily="34" charset="0"/>
              <a:buChar char="•"/>
              <a:tabLst>
                <a:tab pos="539750" algn="l"/>
              </a:tabLst>
            </a:pPr>
            <a:r>
              <a:rPr kumimoji="0" lang="en-US" altLang="en-US" sz="1400" b="1" i="0" u="none" strike="noStrike" cap="none" normalizeH="0" baseline="0" dirty="0">
                <a:ln>
                  <a:noFill/>
                </a:ln>
                <a:solidFill>
                  <a:schemeClr val="tx1"/>
                </a:solidFill>
                <a:effectLst/>
                <a:cs typeface="Times New Roman" panose="02020603050405020304" pitchFamily="18" charset="0"/>
              </a:rPr>
              <a:t>Python:</a:t>
            </a:r>
            <a:r>
              <a:rPr kumimoji="0" lang="en-US" altLang="en-US" sz="1400" b="0" i="0" u="none" strike="noStrike" cap="none" normalizeH="0" baseline="0" dirty="0">
                <a:ln>
                  <a:noFill/>
                </a:ln>
                <a:solidFill>
                  <a:schemeClr val="tx1"/>
                </a:solidFill>
                <a:effectLst/>
                <a:cs typeface="Times New Roman" panose="02020603050405020304" pitchFamily="18" charset="0"/>
              </a:rPr>
              <a:t> Used for general programming tasks within data environments.</a:t>
            </a:r>
          </a:p>
          <a:p>
            <a:pPr marL="539750" marR="0" lvl="0" indent="-273050" algn="l" defTabSz="914400" rtl="0" eaLnBrk="0" fontAlgn="base" latinLnBrk="0" hangingPunct="0">
              <a:spcBef>
                <a:spcPts val="0"/>
              </a:spcBef>
              <a:spcAft>
                <a:spcPts val="600"/>
              </a:spcAft>
              <a:buSzTx/>
              <a:buFont typeface="Arial" panose="020B0604020202020204" pitchFamily="34" charset="0"/>
              <a:buChar char="•"/>
              <a:tabLst>
                <a:tab pos="539750" algn="l"/>
              </a:tabLst>
            </a:pPr>
            <a:r>
              <a:rPr kumimoji="0" lang="en-US" altLang="en-US" sz="1400" b="1" i="0" u="none" strike="noStrike" cap="none" normalizeH="0" baseline="0" dirty="0">
                <a:ln>
                  <a:noFill/>
                </a:ln>
                <a:solidFill>
                  <a:schemeClr val="tx1"/>
                </a:solidFill>
                <a:effectLst/>
                <a:cs typeface="Times New Roman" panose="02020603050405020304" pitchFamily="18" charset="0"/>
              </a:rPr>
              <a:t>R:</a:t>
            </a:r>
            <a:r>
              <a:rPr kumimoji="0" lang="en-US" altLang="en-US" sz="1400" b="0" i="0" u="none" strike="noStrike" cap="none" normalizeH="0" baseline="0" dirty="0">
                <a:ln>
                  <a:noFill/>
                </a:ln>
                <a:solidFill>
                  <a:schemeClr val="tx1"/>
                </a:solidFill>
                <a:effectLst/>
                <a:cs typeface="Times New Roman" panose="02020603050405020304" pitchFamily="18" charset="0"/>
              </a:rPr>
              <a:t> Specifically utilized for deep statistical analysis.</a:t>
            </a:r>
          </a:p>
          <a:p>
            <a:pPr marL="539750" marR="0" lvl="0" indent="-273050" algn="l" defTabSz="914400" rtl="0" eaLnBrk="0" fontAlgn="base" latinLnBrk="0" hangingPunct="0">
              <a:spcBef>
                <a:spcPts val="0"/>
              </a:spcBef>
              <a:spcAft>
                <a:spcPts val="600"/>
              </a:spcAft>
              <a:buSzTx/>
              <a:buFont typeface="Arial" panose="020B0604020202020204" pitchFamily="34" charset="0"/>
              <a:buChar char="•"/>
              <a:tabLst>
                <a:tab pos="539750" algn="l"/>
              </a:tabLst>
            </a:pPr>
            <a:r>
              <a:rPr kumimoji="0" lang="en-US" altLang="en-US" sz="1400" b="0" i="0" u="none" strike="noStrike" cap="none" normalizeH="0" baseline="0" dirty="0">
                <a:ln>
                  <a:noFill/>
                </a:ln>
                <a:solidFill>
                  <a:schemeClr val="tx1"/>
                </a:solidFill>
                <a:effectLst/>
                <a:cs typeface="Times New Roman" panose="02020603050405020304" pitchFamily="18" charset="0"/>
              </a:rPr>
              <a:t>These are highly beneficial for handling "Big Data" sets, though they are not always strictly required.</a:t>
            </a:r>
          </a:p>
          <a:p>
            <a:pPr marR="0" lvl="0" algn="l" defTabSz="914400" rtl="0" eaLnBrk="0" fontAlgn="base" latinLnBrk="0" hangingPunct="0">
              <a:spcBef>
                <a:spcPts val="0"/>
              </a:spcBef>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Statistical Software:</a:t>
            </a:r>
            <a:endParaRPr kumimoji="0" lang="en-US" altLang="en-US" sz="1400" b="0" i="0" u="none" strike="noStrike" cap="none" normalizeH="0" baseline="0" dirty="0">
              <a:ln>
                <a:noFill/>
              </a:ln>
              <a:solidFill>
                <a:schemeClr val="tx1"/>
              </a:solidFill>
              <a:effectLst/>
              <a:cs typeface="Times New Roman" panose="02020603050405020304" pitchFamily="18" charset="0"/>
            </a:endParaRPr>
          </a:p>
          <a:p>
            <a:pPr marL="539750" marR="0" lvl="0" indent="-273050" algn="l" defTabSz="914400" rtl="0" eaLnBrk="0" fontAlgn="base" latinLnBrk="0" hangingPunct="0">
              <a:spcBef>
                <a:spcPts val="0"/>
              </a:spcBef>
              <a:spcAft>
                <a:spcPts val="600"/>
              </a:spcAft>
              <a:buSzTx/>
              <a:buFont typeface="Arial" panose="020B0604020202020204" pitchFamily="34" charset="0"/>
              <a:buChar char="•"/>
              <a:tabLst>
                <a:tab pos="539750" algn="l"/>
              </a:tabLst>
            </a:pPr>
            <a:r>
              <a:rPr kumimoji="0" lang="en-US" altLang="en-US" sz="1400" b="0" i="0" u="none" strike="noStrike" cap="none" normalizeH="0" baseline="0" dirty="0">
                <a:ln>
                  <a:noFill/>
                </a:ln>
                <a:solidFill>
                  <a:schemeClr val="tx1"/>
                </a:solidFill>
                <a:effectLst/>
                <a:cs typeface="Times New Roman" panose="02020603050405020304" pitchFamily="18" charset="0"/>
              </a:rPr>
              <a:t>Offers a "no-code" alternative for data management and interpretation.</a:t>
            </a:r>
          </a:p>
          <a:p>
            <a:pPr marL="539750" marR="0" lvl="0" indent="-273050" algn="l" defTabSz="914400" rtl="0" eaLnBrk="0" fontAlgn="base" latinLnBrk="0" hangingPunct="0">
              <a:spcBef>
                <a:spcPts val="0"/>
              </a:spcBef>
              <a:spcAft>
                <a:spcPts val="600"/>
              </a:spcAft>
              <a:buSzTx/>
              <a:buFont typeface="Arial" panose="020B0604020202020204" pitchFamily="34" charset="0"/>
              <a:buChar char="•"/>
              <a:tabLst>
                <a:tab pos="539750" algn="l"/>
              </a:tabLst>
            </a:pPr>
            <a:r>
              <a:rPr kumimoji="0" lang="en-US" altLang="en-US" sz="1400" b="0" i="0" u="none" strike="noStrike" cap="none" normalizeH="0" baseline="0" dirty="0">
                <a:ln>
                  <a:noFill/>
                </a:ln>
                <a:solidFill>
                  <a:schemeClr val="tx1"/>
                </a:solidFill>
                <a:effectLst/>
                <a:cs typeface="Times New Roman" panose="02020603050405020304" pitchFamily="18" charset="0"/>
              </a:rPr>
              <a:t>Key platforms include </a:t>
            </a:r>
            <a:r>
              <a:rPr kumimoji="0" lang="en-US" altLang="en-US" sz="1400" b="1" i="0" u="none" strike="noStrike" cap="none" normalizeH="0" baseline="0" dirty="0">
                <a:ln>
                  <a:noFill/>
                </a:ln>
                <a:solidFill>
                  <a:schemeClr val="tx1"/>
                </a:solidFill>
                <a:effectLst/>
                <a:cs typeface="Times New Roman" panose="02020603050405020304" pitchFamily="18" charset="0"/>
              </a:rPr>
              <a:t>Excel, SPSS, SAS, Sage,</a:t>
            </a:r>
            <a:r>
              <a:rPr kumimoji="0" lang="en-US" altLang="en-US" sz="1400" b="0" i="0" u="none" strike="noStrike" cap="none" normalizeH="0" baseline="0" dirty="0">
                <a:ln>
                  <a:noFill/>
                </a:ln>
                <a:solidFill>
                  <a:schemeClr val="tx1"/>
                </a:solidFill>
                <a:effectLst/>
                <a:cs typeface="Times New Roman" panose="02020603050405020304" pitchFamily="18" charset="0"/>
              </a:rPr>
              <a:t> and </a:t>
            </a:r>
            <a:r>
              <a:rPr kumimoji="0" lang="en-US" altLang="en-US" sz="1400" b="1" i="0" u="none" strike="noStrike" cap="none" normalizeH="0" baseline="0" dirty="0">
                <a:ln>
                  <a:noFill/>
                </a:ln>
                <a:solidFill>
                  <a:schemeClr val="tx1"/>
                </a:solidFill>
                <a:effectLst/>
                <a:cs typeface="Times New Roman" panose="02020603050405020304" pitchFamily="18" charset="0"/>
              </a:rPr>
              <a:t>Mathematica</a:t>
            </a:r>
            <a:r>
              <a:rPr kumimoji="0" lang="en-US" altLang="en-US" sz="1400" b="0" i="0" u="none" strike="noStrike" cap="none" normalizeH="0" baseline="0" dirty="0">
                <a:ln>
                  <a:noFill/>
                </a:ln>
                <a:solidFill>
                  <a:schemeClr val="tx1"/>
                </a:solidFill>
                <a:effectLst/>
                <a:cs typeface="Times New Roman" panose="02020603050405020304" pitchFamily="18" charset="0"/>
              </a:rPr>
              <a:t>.</a:t>
            </a:r>
          </a:p>
        </p:txBody>
      </p:sp>
    </p:spTree>
    <p:extLst>
      <p:ext uri="{BB962C8B-B14F-4D97-AF65-F5344CB8AC3E}">
        <p14:creationId xmlns:p14="http://schemas.microsoft.com/office/powerpoint/2010/main" val="41902069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E8312-7490-40C2-A26A-13236BFC2962}"/>
              </a:ext>
            </a:extLst>
          </p:cNvPr>
          <p:cNvSpPr>
            <a:spLocks noGrp="1"/>
          </p:cNvSpPr>
          <p:nvPr>
            <p:ph type="title"/>
          </p:nvPr>
        </p:nvSpPr>
        <p:spPr>
          <a:xfrm>
            <a:off x="457200" y="374403"/>
            <a:ext cx="7467600" cy="613171"/>
          </a:xfrm>
        </p:spPr>
        <p:txBody>
          <a:bodyPr>
            <a:normAutofit/>
          </a:bodyPr>
          <a:lstStyle/>
          <a:p>
            <a:r>
              <a:rPr lang="en-US" sz="2600" b="1" dirty="0">
                <a:solidFill>
                  <a:schemeClr val="accent1">
                    <a:lumMod val="75000"/>
                  </a:schemeClr>
                </a:solidFill>
              </a:rPr>
              <a:t>Types of Analytics</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4573E0E4-553A-4B7C-A30C-150CD817245A}"/>
              </a:ext>
            </a:extLst>
          </p:cNvPr>
          <p:cNvSpPr>
            <a:spLocks noGrp="1"/>
          </p:cNvSpPr>
          <p:nvPr>
            <p:ph sz="quarter" idx="1"/>
          </p:nvPr>
        </p:nvSpPr>
        <p:spPr/>
        <p:txBody>
          <a:bodyPr>
            <a:normAutofit/>
          </a:bodyPr>
          <a:lstStyle/>
          <a:p>
            <a:pPr>
              <a:spcAft>
                <a:spcPts val="600"/>
              </a:spcAft>
              <a:buSzPct val="100000"/>
            </a:pPr>
            <a:r>
              <a:rPr lang="en-US" sz="1400" b="1" dirty="0"/>
              <a:t>Descriptive Analytics (What is happening?):</a:t>
            </a:r>
            <a:r>
              <a:rPr lang="en-US" sz="1400" dirty="0"/>
              <a:t> Uses real-time dashboards to mine and aggregate raw data, providing accurate, in-the-moment insights into current business performance. While identifying patterns, it helps professionals understand behaviors that may influence future outcomes.</a:t>
            </a:r>
          </a:p>
          <a:p>
            <a:pPr>
              <a:spcAft>
                <a:spcPts val="600"/>
              </a:spcAft>
              <a:buSzPct val="100000"/>
            </a:pPr>
            <a:r>
              <a:rPr lang="en-US" sz="1400" b="1" dirty="0"/>
              <a:t>Diagnostic Analytics (Why is it happening?):</a:t>
            </a:r>
            <a:r>
              <a:rPr lang="en-US" sz="1400" dirty="0"/>
              <a:t> Analyzes past performance of processes and campaigns to uncover the root causes of specific events. This method isolates confounding variables to establish clear cause-and-effect relationships.</a:t>
            </a:r>
          </a:p>
          <a:p>
            <a:pPr>
              <a:spcAft>
                <a:spcPts val="600"/>
              </a:spcAft>
              <a:buSzPct val="100000"/>
            </a:pPr>
            <a:r>
              <a:rPr lang="en-US" sz="1400" b="1" dirty="0"/>
              <a:t>Predictive Analytics (What is likely to happen?):</a:t>
            </a:r>
            <a:r>
              <a:rPr lang="en-US" sz="1400" dirty="0"/>
              <a:t> Employs statistical models and forecasting techniques to project future scenarios based on big data insights. It is often used to support complex forecasts and anticipate upcoming trends.</a:t>
            </a:r>
          </a:p>
          <a:p>
            <a:pPr>
              <a:spcAft>
                <a:spcPts val="600"/>
              </a:spcAft>
              <a:buSzPct val="100000"/>
            </a:pPr>
            <a:r>
              <a:rPr lang="en-US" sz="1400" b="1" dirty="0"/>
              <a:t>Prescriptive Analytics (What should be done?):</a:t>
            </a:r>
            <a:r>
              <a:rPr lang="en-US" sz="1400" dirty="0"/>
              <a:t> Focuses on specific actions an organization needs to take to succeed. Rather than providing a broad overview, it offers focused answers to specific business questions to guide strategic decision-making.</a:t>
            </a:r>
          </a:p>
        </p:txBody>
      </p:sp>
    </p:spTree>
    <p:extLst>
      <p:ext uri="{BB962C8B-B14F-4D97-AF65-F5344CB8AC3E}">
        <p14:creationId xmlns:p14="http://schemas.microsoft.com/office/powerpoint/2010/main" val="4097305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EE9A3-C63D-4A5C-9DDB-53C86FE4DB8D}"/>
              </a:ext>
            </a:extLst>
          </p:cNvPr>
          <p:cNvSpPr>
            <a:spLocks noGrp="1"/>
          </p:cNvSpPr>
          <p:nvPr>
            <p:ph type="title"/>
          </p:nvPr>
        </p:nvSpPr>
        <p:spPr>
          <a:xfrm>
            <a:off x="457200" y="483517"/>
            <a:ext cx="7696200" cy="579711"/>
          </a:xfrm>
        </p:spPr>
        <p:txBody>
          <a:bodyPr>
            <a:normAutofit/>
          </a:bodyPr>
          <a:lstStyle/>
          <a:p>
            <a:r>
              <a:rPr lang="en-US" sz="2600" b="1" dirty="0">
                <a:solidFill>
                  <a:schemeClr val="accent1">
                    <a:lumMod val="75000"/>
                  </a:schemeClr>
                </a:solidFill>
              </a:rPr>
              <a:t>The Waterfall Project Management Method</a:t>
            </a:r>
            <a:endParaRPr lang="en-IN" sz="2600" dirty="0">
              <a:solidFill>
                <a:schemeClr val="accent1">
                  <a:lumMod val="75000"/>
                </a:schemeClr>
              </a:solidFill>
            </a:endParaRPr>
          </a:p>
        </p:txBody>
      </p:sp>
      <p:sp>
        <p:nvSpPr>
          <p:cNvPr id="6" name="Rectangle 3">
            <a:extLst>
              <a:ext uri="{FF2B5EF4-FFF2-40B4-BE49-F238E27FC236}">
                <a16:creationId xmlns:a16="http://schemas.microsoft.com/office/drawing/2014/main" id="{1A66247F-CB0C-485C-A2B6-A114D240F33E}"/>
              </a:ext>
            </a:extLst>
          </p:cNvPr>
          <p:cNvSpPr>
            <a:spLocks noGrp="1" noChangeArrowheads="1"/>
          </p:cNvSpPr>
          <p:nvPr>
            <p:ph sz="quarter" idx="1"/>
          </p:nvPr>
        </p:nvSpPr>
        <p:spPr bwMode="auto">
          <a:xfrm>
            <a:off x="457200" y="1275606"/>
            <a:ext cx="7696200" cy="3077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rPr>
              <a:t>A Linear and Step-by-Step Framework:</a:t>
            </a:r>
            <a:r>
              <a:rPr kumimoji="0" lang="en-US" altLang="en-US" sz="1400" b="0" i="0" u="none" strike="noStrike" cap="none" normalizeH="0" baseline="0" dirty="0">
                <a:ln>
                  <a:noFill/>
                </a:ln>
                <a:solidFill>
                  <a:schemeClr val="tx1"/>
                </a:solidFill>
                <a:effectLst/>
              </a:rPr>
              <a:t> The Waterfall method is defined as a sequential approach where a project follows a strict, step-by-step progression from start to finish.</a:t>
            </a:r>
          </a:p>
          <a:p>
            <a:pPr marR="0" lvl="0" algn="l" defTabSz="914400" rtl="0" eaLnBrk="0" fontAlgn="base" latinLnBrk="0" hangingPunct="0">
              <a:lnSpc>
                <a:spcPct val="100000"/>
              </a:lnSpc>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rPr>
              <a:t>Optimal for Clear and Predictable Scopes:</a:t>
            </a:r>
            <a:r>
              <a:rPr kumimoji="0" lang="en-US" altLang="en-US" sz="1400" b="0" i="0" u="none" strike="noStrike" cap="none" normalizeH="0" baseline="0" dirty="0">
                <a:ln>
                  <a:noFill/>
                </a:ln>
                <a:solidFill>
                  <a:schemeClr val="tx1"/>
                </a:solidFill>
                <a:effectLst/>
              </a:rPr>
              <a:t> This specific methodology is most effective for projects that have a well-defined scope and a highly predictable timeline from the outset.</a:t>
            </a:r>
          </a:p>
          <a:p>
            <a:pPr marR="0" lvl="0" algn="l" defTabSz="914400" rtl="0" eaLnBrk="0" fontAlgn="base" latinLnBrk="0" hangingPunct="0">
              <a:lnSpc>
                <a:spcPct val="100000"/>
              </a:lnSpc>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rPr>
              <a:t>Emphasis on Rigorous Upfront Planning:</a:t>
            </a:r>
            <a:r>
              <a:rPr kumimoji="0" lang="en-US" altLang="en-US" sz="1400" b="0" i="0" u="none" strike="noStrike" cap="none" normalizeH="0" baseline="0" dirty="0">
                <a:ln>
                  <a:noFill/>
                </a:ln>
                <a:solidFill>
                  <a:schemeClr val="tx1"/>
                </a:solidFill>
                <a:effectLst/>
              </a:rPr>
              <a:t> To ensure the project remains on its intended track, this model relies on heavy and detailed planning before any development or execution begins.</a:t>
            </a:r>
          </a:p>
          <a:p>
            <a:pPr marR="0" lvl="0" algn="l" defTabSz="914400" rtl="0" eaLnBrk="0" fontAlgn="base" latinLnBrk="0" hangingPunct="0">
              <a:lnSpc>
                <a:spcPct val="100000"/>
              </a:lnSpc>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rPr>
              <a:t>Continuous Monitoring and Problem Solving:</a:t>
            </a:r>
            <a:r>
              <a:rPr kumimoji="0" lang="en-US" altLang="en-US" sz="1400" b="0" i="0" u="none" strike="noStrike" cap="none" normalizeH="0" baseline="0" dirty="0">
                <a:ln>
                  <a:noFill/>
                </a:ln>
                <a:solidFill>
                  <a:schemeClr val="tx1"/>
                </a:solidFill>
                <a:effectLst/>
              </a:rPr>
              <a:t> Project progress is tracked with extreme precision, ensuring that any issues or roadblocks are addressed immediately to maintain the schedule.</a:t>
            </a:r>
          </a:p>
          <a:p>
            <a:pPr marR="0" lvl="0" algn="l" defTabSz="914400" rtl="0" eaLnBrk="0" fontAlgn="base" latinLnBrk="0" hangingPunct="0">
              <a:lnSpc>
                <a:spcPct val="100000"/>
              </a:lnSpc>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rPr>
              <a:t>Limited Adaptability for Complex Tasks:</a:t>
            </a:r>
            <a:r>
              <a:rPr kumimoji="0" lang="en-US" altLang="en-US" sz="1400" b="0" i="0" u="none" strike="noStrike" cap="none" normalizeH="0" baseline="0" dirty="0">
                <a:ln>
                  <a:noFill/>
                </a:ln>
                <a:solidFill>
                  <a:schemeClr val="tx1"/>
                </a:solidFill>
                <a:effectLst/>
              </a:rPr>
              <a:t> While highly structured, this approach may not be suitable for complex initiatives that require creative flexibility or frequent adjustments during the process.</a:t>
            </a:r>
          </a:p>
        </p:txBody>
      </p:sp>
    </p:spTree>
    <p:extLst>
      <p:ext uri="{BB962C8B-B14F-4D97-AF65-F5344CB8AC3E}">
        <p14:creationId xmlns:p14="http://schemas.microsoft.com/office/powerpoint/2010/main" val="399513593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88912-84C3-4E23-94A1-4B62EFD3FDB3}"/>
              </a:ext>
            </a:extLst>
          </p:cNvPr>
          <p:cNvSpPr>
            <a:spLocks noGrp="1"/>
          </p:cNvSpPr>
          <p:nvPr>
            <p:ph type="title"/>
          </p:nvPr>
        </p:nvSpPr>
        <p:spPr>
          <a:xfrm>
            <a:off x="457200" y="298529"/>
            <a:ext cx="7467600" cy="613171"/>
          </a:xfrm>
        </p:spPr>
        <p:txBody>
          <a:bodyPr>
            <a:normAutofit/>
          </a:bodyPr>
          <a:lstStyle/>
          <a:p>
            <a:r>
              <a:rPr lang="en-US" sz="2600" b="1" dirty="0">
                <a:solidFill>
                  <a:schemeClr val="accent1">
                    <a:lumMod val="75000"/>
                  </a:schemeClr>
                </a:solidFill>
              </a:rPr>
              <a:t>The Agile Project Management Method</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6FA83A34-4797-4057-A971-A15194D22AB8}"/>
              </a:ext>
            </a:extLst>
          </p:cNvPr>
          <p:cNvSpPr>
            <a:spLocks noGrp="1"/>
          </p:cNvSpPr>
          <p:nvPr>
            <p:ph sz="quarter" idx="1"/>
          </p:nvPr>
        </p:nvSpPr>
        <p:spPr>
          <a:xfrm>
            <a:off x="457200" y="987900"/>
            <a:ext cx="7715200" cy="3960114"/>
          </a:xfrm>
        </p:spPr>
        <p:txBody>
          <a:bodyPr>
            <a:noAutofit/>
          </a:bodyPr>
          <a:lstStyle/>
          <a:p>
            <a:pPr>
              <a:spcBef>
                <a:spcPts val="0"/>
              </a:spcBef>
              <a:spcAft>
                <a:spcPts val="600"/>
              </a:spcAft>
              <a:buSzPct val="100000"/>
            </a:pPr>
            <a:r>
              <a:rPr lang="en-US" sz="1400" b="1" dirty="0"/>
              <a:t>Flexible and Iterative Approach:</a:t>
            </a:r>
            <a:r>
              <a:rPr lang="en-US" sz="1400" dirty="0"/>
              <a:t> Agile is a methodology that allows teams to adapt quickly to changing requirements and deliver high-quality results in shorter cycles.</a:t>
            </a:r>
          </a:p>
          <a:p>
            <a:pPr>
              <a:spcBef>
                <a:spcPts val="0"/>
              </a:spcBef>
              <a:spcAft>
                <a:spcPts val="600"/>
              </a:spcAft>
              <a:buSzPct val="100000"/>
            </a:pPr>
            <a:r>
              <a:rPr lang="en-US" sz="1400" b="1" dirty="0"/>
              <a:t>Core Focus Areas:</a:t>
            </a:r>
            <a:r>
              <a:rPr lang="en-US" sz="1400" dirty="0"/>
              <a:t> The approach prioritizes teamwork, customer satisfaction, and constant refinement throughout the project lifecycle.</a:t>
            </a:r>
          </a:p>
          <a:p>
            <a:pPr>
              <a:spcBef>
                <a:spcPts val="0"/>
              </a:spcBef>
              <a:spcAft>
                <a:spcPts val="600"/>
              </a:spcAft>
              <a:buSzPct val="100000"/>
            </a:pPr>
            <a:r>
              <a:rPr lang="en-US" sz="1400" b="1" dirty="0"/>
              <a:t>Breaking Down Large Projects:</a:t>
            </a:r>
            <a:r>
              <a:rPr lang="en-US" sz="1400" dirty="0"/>
              <a:t> Big initiatives are divided into smaller, "bite-sized" pieces to make them more manageable and easier to navigate.</a:t>
            </a:r>
          </a:p>
          <a:p>
            <a:pPr>
              <a:spcBef>
                <a:spcPts val="0"/>
              </a:spcBef>
              <a:spcAft>
                <a:spcPts val="600"/>
              </a:spcAft>
              <a:buSzPct val="100000"/>
            </a:pPr>
            <a:r>
              <a:rPr lang="en-US" sz="1400" b="1" dirty="0"/>
              <a:t>Collaboration and Communication:</a:t>
            </a:r>
            <a:r>
              <a:rPr lang="en-US" sz="1400" dirty="0"/>
              <a:t> By emphasizing strong team interaction, Agile enables groups to pivot and respond effectively to evolving customer needs.</a:t>
            </a:r>
          </a:p>
          <a:p>
            <a:pPr>
              <a:spcBef>
                <a:spcPts val="0"/>
              </a:spcBef>
              <a:spcAft>
                <a:spcPts val="600"/>
              </a:spcAft>
              <a:buSzPct val="100000"/>
            </a:pPr>
            <a:r>
              <a:rPr lang="en-US" sz="1400" b="1" dirty="0"/>
              <a:t>Continuous Improvement:</a:t>
            </a:r>
            <a:r>
              <a:rPr lang="en-US" sz="1400" dirty="0"/>
              <a:t> Teams maintain a high level of flexibility and constantly seek ways to optimize their internal processes.</a:t>
            </a:r>
          </a:p>
          <a:p>
            <a:pPr>
              <a:spcBef>
                <a:spcPts val="0"/>
              </a:spcBef>
              <a:spcAft>
                <a:spcPts val="600"/>
              </a:spcAft>
              <a:buSzPct val="100000"/>
            </a:pPr>
            <a:r>
              <a:rPr lang="en-US" sz="1400" b="1" dirty="0"/>
              <a:t>Outcome-Oriented:</a:t>
            </a:r>
            <a:r>
              <a:rPr lang="en-US" sz="1400" dirty="0"/>
              <a:t> The ultimate goal of the methodology is to produce superior outcomes through a streamlined and highly adaptive workflow.</a:t>
            </a:r>
          </a:p>
          <a:p>
            <a:pPr>
              <a:spcBef>
                <a:spcPts val="0"/>
              </a:spcBef>
              <a:spcAft>
                <a:spcPts val="600"/>
              </a:spcAft>
              <a:buSzPct val="100000"/>
            </a:pPr>
            <a:r>
              <a:rPr lang="en-US" sz="1400" b="1" dirty="0"/>
              <a:t>Common Industry Use:</a:t>
            </a:r>
            <a:r>
              <a:rPr lang="en-US" sz="1400" dirty="0"/>
              <a:t> While applicable elsewhere, it is very frequently used within the software development industry.</a:t>
            </a:r>
          </a:p>
        </p:txBody>
      </p:sp>
    </p:spTree>
    <p:extLst>
      <p:ext uri="{BB962C8B-B14F-4D97-AF65-F5344CB8AC3E}">
        <p14:creationId xmlns:p14="http://schemas.microsoft.com/office/powerpoint/2010/main" val="271755017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E79A8-61DA-4743-BF4D-AF124AC397CD}"/>
              </a:ext>
            </a:extLst>
          </p:cNvPr>
          <p:cNvSpPr>
            <a:spLocks noGrp="1"/>
          </p:cNvSpPr>
          <p:nvPr>
            <p:ph type="title"/>
          </p:nvPr>
        </p:nvSpPr>
        <p:spPr>
          <a:xfrm>
            <a:off x="457200" y="432051"/>
            <a:ext cx="7467600" cy="579711"/>
          </a:xfrm>
        </p:spPr>
        <p:txBody>
          <a:bodyPr>
            <a:normAutofit/>
          </a:bodyPr>
          <a:lstStyle/>
          <a:p>
            <a:r>
              <a:rPr lang="en-US" sz="2600" b="1" dirty="0">
                <a:solidFill>
                  <a:schemeClr val="accent1">
                    <a:lumMod val="75000"/>
                  </a:schemeClr>
                </a:solidFill>
              </a:rPr>
              <a:t>When to Use Agile vs. Waterfall</a:t>
            </a:r>
            <a:endParaRPr lang="en-IN" sz="2600" b="1" dirty="0">
              <a:solidFill>
                <a:schemeClr val="accent1">
                  <a:lumMod val="75000"/>
                </a:schemeClr>
              </a:solidFill>
            </a:endParaRPr>
          </a:p>
        </p:txBody>
      </p:sp>
      <p:sp>
        <p:nvSpPr>
          <p:cNvPr id="3" name="Content Placeholder 2">
            <a:extLst>
              <a:ext uri="{FF2B5EF4-FFF2-40B4-BE49-F238E27FC236}">
                <a16:creationId xmlns:a16="http://schemas.microsoft.com/office/drawing/2014/main" id="{6C87147C-2D3B-4C35-A01C-D7AF54B961DA}"/>
              </a:ext>
            </a:extLst>
          </p:cNvPr>
          <p:cNvSpPr>
            <a:spLocks noGrp="1"/>
          </p:cNvSpPr>
          <p:nvPr>
            <p:ph sz="quarter" idx="1"/>
          </p:nvPr>
        </p:nvSpPr>
        <p:spPr>
          <a:xfrm>
            <a:off x="457200" y="1148684"/>
            <a:ext cx="7467600" cy="3655314"/>
          </a:xfrm>
        </p:spPr>
        <p:txBody>
          <a:bodyPr>
            <a:normAutofit/>
          </a:bodyPr>
          <a:lstStyle/>
          <a:p>
            <a:pPr>
              <a:spcAft>
                <a:spcPts val="600"/>
              </a:spcAft>
              <a:buSzPct val="100000"/>
              <a:buFont typeface="Wingdings" panose="05000000000000000000" pitchFamily="2" charset="2"/>
              <a:buChar char="¢"/>
            </a:pPr>
            <a:r>
              <a:rPr lang="en-US" sz="1400" b="1" dirty="0"/>
              <a:t>Use Waterfall When:</a:t>
            </a:r>
          </a:p>
          <a:p>
            <a:pPr marL="266700" indent="0">
              <a:spcAft>
                <a:spcPts val="600"/>
              </a:spcAft>
              <a:buSzPct val="100000"/>
              <a:buNone/>
            </a:pPr>
            <a:r>
              <a:rPr lang="en-US" sz="1400" dirty="0"/>
              <a:t>The Waterfall model is best for well-defined projects with clearly specified requirements and a definitive timeline. It is ideal when customer demands are precise and no significant changes in scope or technology are expected.</a:t>
            </a:r>
          </a:p>
          <a:p>
            <a:pPr marL="539750" indent="-273050">
              <a:spcAft>
                <a:spcPts val="600"/>
              </a:spcAft>
              <a:buSzPct val="100000"/>
              <a:buFont typeface="Arial" panose="020B0604020202020204" pitchFamily="34" charset="0"/>
              <a:buChar char="•"/>
            </a:pPr>
            <a:r>
              <a:rPr lang="en-US" sz="1400" b="1" dirty="0"/>
              <a:t>Simple Scope:</a:t>
            </a:r>
            <a:r>
              <a:rPr lang="en-US" sz="1400" dirty="0"/>
              <a:t> Best for projects where requirements are straightforward and easily gathered.</a:t>
            </a:r>
          </a:p>
          <a:p>
            <a:pPr marL="539750" indent="-273050">
              <a:spcAft>
                <a:spcPts val="600"/>
              </a:spcAft>
              <a:buSzPct val="100000"/>
              <a:buFont typeface="Arial" panose="020B0604020202020204" pitchFamily="34" charset="0"/>
              <a:buChar char="•"/>
            </a:pPr>
            <a:r>
              <a:rPr lang="en-US" sz="1400" b="1" dirty="0"/>
              <a:t>Linear Sequence:</a:t>
            </a:r>
            <a:r>
              <a:rPr lang="en-US" sz="1400" dirty="0"/>
              <a:t> Fits tasks that follow a clear, logical, and unvarying order.</a:t>
            </a:r>
          </a:p>
          <a:p>
            <a:pPr marL="539750" indent="-273050">
              <a:spcAft>
                <a:spcPts val="600"/>
              </a:spcAft>
              <a:buSzPct val="100000"/>
              <a:buFont typeface="Arial" panose="020B0604020202020204" pitchFamily="34" charset="0"/>
              <a:buChar char="•"/>
            </a:pPr>
            <a:r>
              <a:rPr lang="en-US" sz="1400" b="1" dirty="0"/>
              <a:t>Predictable Deliverables:</a:t>
            </a:r>
            <a:r>
              <a:rPr lang="en-US" sz="1400" dirty="0"/>
              <a:t> Useful when outcomes are based on set, firm deadlines.</a:t>
            </a:r>
          </a:p>
          <a:p>
            <a:pPr marL="539750" indent="-273050">
              <a:spcAft>
                <a:spcPts val="600"/>
              </a:spcAft>
              <a:buSzPct val="100000"/>
              <a:buFont typeface="Arial" panose="020B0604020202020204" pitchFamily="34" charset="0"/>
              <a:buChar char="•"/>
            </a:pPr>
            <a:r>
              <a:rPr lang="en-US" sz="1400" b="1" dirty="0"/>
              <a:t>Structured Processes:</a:t>
            </a:r>
            <a:r>
              <a:rPr lang="en-US" sz="1400" dirty="0"/>
              <a:t> Works well in environments with rigid quality control and highly structured workflows.</a:t>
            </a:r>
          </a:p>
          <a:p>
            <a:pPr marL="539750" indent="-273050">
              <a:spcAft>
                <a:spcPts val="600"/>
              </a:spcAft>
              <a:buSzPct val="100000"/>
              <a:buFont typeface="Arial" panose="020B0604020202020204" pitchFamily="34" charset="0"/>
              <a:buChar char="•"/>
            </a:pPr>
            <a:r>
              <a:rPr lang="en-US" sz="1400" b="1" dirty="0"/>
              <a:t>Stability:</a:t>
            </a:r>
            <a:r>
              <a:rPr lang="en-US" sz="1400" dirty="0"/>
              <a:t> Requires a long-term commitment from all parties and limited complexity.</a:t>
            </a:r>
          </a:p>
        </p:txBody>
      </p:sp>
    </p:spTree>
    <p:extLst>
      <p:ext uri="{BB962C8B-B14F-4D97-AF65-F5344CB8AC3E}">
        <p14:creationId xmlns:p14="http://schemas.microsoft.com/office/powerpoint/2010/main" val="319996379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1C5C8C-4F96-45EA-8C06-1B2AFD2042B9}"/>
              </a:ext>
            </a:extLst>
          </p:cNvPr>
          <p:cNvSpPr>
            <a:spLocks noGrp="1"/>
          </p:cNvSpPr>
          <p:nvPr>
            <p:ph sz="quarter" idx="1"/>
          </p:nvPr>
        </p:nvSpPr>
        <p:spPr>
          <a:xfrm>
            <a:off x="457200" y="285750"/>
            <a:ext cx="7715200" cy="4569714"/>
          </a:xfrm>
        </p:spPr>
        <p:txBody>
          <a:bodyPr>
            <a:noAutofit/>
          </a:bodyPr>
          <a:lstStyle/>
          <a:p>
            <a:pPr>
              <a:lnSpc>
                <a:spcPct val="110000"/>
              </a:lnSpc>
              <a:spcAft>
                <a:spcPts val="600"/>
              </a:spcAft>
              <a:buSzPct val="100000"/>
            </a:pPr>
            <a:r>
              <a:rPr lang="en-US" sz="1400" b="1" dirty="0"/>
              <a:t>Use Agile When:</a:t>
            </a:r>
          </a:p>
          <a:p>
            <a:pPr marL="266700" indent="0">
              <a:spcAft>
                <a:spcPts val="600"/>
              </a:spcAft>
              <a:buSzPct val="100000"/>
              <a:buNone/>
            </a:pPr>
            <a:r>
              <a:rPr lang="en-US" sz="1400" dirty="0"/>
              <a:t>Agile is better suited for projects where the end goal may be unclear or difficult to define at the start. It is highly effective for complex systems that require frequent feedback loops or when timelines and budgets are tight.</a:t>
            </a:r>
          </a:p>
          <a:p>
            <a:pPr marL="539750" indent="-273050">
              <a:spcAft>
                <a:spcPts val="600"/>
              </a:spcAft>
              <a:buSzPct val="100000"/>
              <a:buFont typeface="Arial" panose="020B0604020202020204" pitchFamily="34" charset="0"/>
              <a:buChar char="•"/>
            </a:pPr>
            <a:r>
              <a:rPr lang="en-US" sz="1400" b="1" dirty="0"/>
              <a:t>Complex Deliverables:</a:t>
            </a:r>
            <a:r>
              <a:rPr lang="en-US" sz="1400" dirty="0"/>
              <a:t> Designed for projects with many moving parts or intricate final products.</a:t>
            </a:r>
          </a:p>
          <a:p>
            <a:pPr marL="539750" indent="-273050">
              <a:spcAft>
                <a:spcPts val="600"/>
              </a:spcAft>
              <a:buSzPct val="100000"/>
              <a:buFont typeface="Arial" panose="020B0604020202020204" pitchFamily="34" charset="0"/>
              <a:buChar char="•"/>
            </a:pPr>
            <a:r>
              <a:rPr lang="en-US" sz="1400" b="1" dirty="0"/>
              <a:t>Frequent Iteration:</a:t>
            </a:r>
            <a:r>
              <a:rPr lang="en-US" sz="1400" dirty="0"/>
              <a:t> Ideal when the project requires constant refinements and rapid delivery cycles.</a:t>
            </a:r>
          </a:p>
          <a:p>
            <a:pPr marL="539750" indent="-273050">
              <a:spcAft>
                <a:spcPts val="600"/>
              </a:spcAft>
              <a:buSzPct val="100000"/>
              <a:buFont typeface="Arial" panose="020B0604020202020204" pitchFamily="34" charset="0"/>
              <a:buChar char="•"/>
            </a:pPr>
            <a:r>
              <a:rPr lang="en-US" sz="1400" b="1" dirty="0"/>
              <a:t>Emergent Requirements:</a:t>
            </a:r>
            <a:r>
              <a:rPr lang="en-US" sz="1400" dirty="0"/>
              <a:t> Fits scenarios where needs evolve over time rather than being fixed upfront.</a:t>
            </a:r>
          </a:p>
          <a:p>
            <a:pPr marL="539750" indent="-273050">
              <a:spcAft>
                <a:spcPts val="600"/>
              </a:spcAft>
              <a:buSzPct val="100000"/>
              <a:buFont typeface="Arial" panose="020B0604020202020204" pitchFamily="34" charset="0"/>
              <a:buChar char="•"/>
            </a:pPr>
            <a:r>
              <a:rPr lang="en-US" sz="1400" b="1" dirty="0"/>
              <a:t>Intense Collaboration:</a:t>
            </a:r>
            <a:r>
              <a:rPr lang="en-US" sz="1400" dirty="0"/>
              <a:t> Effective for teams that need to collaborate closely, even across different locations.</a:t>
            </a:r>
          </a:p>
          <a:p>
            <a:pPr marL="539750" indent="-273050">
              <a:spcAft>
                <a:spcPts val="600"/>
              </a:spcAft>
              <a:buSzPct val="100000"/>
              <a:buFont typeface="Arial" panose="020B0604020202020204" pitchFamily="34" charset="0"/>
              <a:buChar char="•"/>
            </a:pPr>
            <a:r>
              <a:rPr lang="en-US" sz="1400" b="1" dirty="0"/>
              <a:t>Stakeholder Involvement:</a:t>
            </a:r>
            <a:r>
              <a:rPr lang="en-US" sz="1400" dirty="0"/>
              <a:t> Best for environments with multiple stakeholders who provide ongoing input.</a:t>
            </a:r>
          </a:p>
          <a:p>
            <a:pPr marL="539750" indent="-273050">
              <a:spcAft>
                <a:spcPts val="600"/>
              </a:spcAft>
              <a:buSzPct val="100000"/>
              <a:buFont typeface="Arial" panose="020B0604020202020204" pitchFamily="34" charset="0"/>
              <a:buChar char="•"/>
            </a:pPr>
            <a:r>
              <a:rPr lang="en-US" sz="1400" b="1" dirty="0"/>
              <a:t>Software Development:</a:t>
            </a:r>
            <a:r>
              <a:rPr lang="en-US" sz="1400" dirty="0"/>
              <a:t> Particularly effective for applications, allowing for quick testing and iteration along the way.</a:t>
            </a:r>
          </a:p>
          <a:p>
            <a:pPr>
              <a:lnSpc>
                <a:spcPct val="110000"/>
              </a:lnSpc>
              <a:spcAft>
                <a:spcPts val="600"/>
              </a:spcAft>
            </a:pPr>
            <a:endParaRPr lang="en-IN" sz="1400" dirty="0"/>
          </a:p>
        </p:txBody>
      </p:sp>
    </p:spTree>
    <p:extLst>
      <p:ext uri="{BB962C8B-B14F-4D97-AF65-F5344CB8AC3E}">
        <p14:creationId xmlns:p14="http://schemas.microsoft.com/office/powerpoint/2010/main" val="6396243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74987-5D95-4F03-97DC-09D4C16AE31E}"/>
              </a:ext>
            </a:extLst>
          </p:cNvPr>
          <p:cNvSpPr>
            <a:spLocks noGrp="1"/>
          </p:cNvSpPr>
          <p:nvPr>
            <p:ph type="title"/>
          </p:nvPr>
        </p:nvSpPr>
        <p:spPr>
          <a:xfrm>
            <a:off x="457200" y="-19050"/>
            <a:ext cx="7467600" cy="857250"/>
          </a:xfrm>
        </p:spPr>
        <p:txBody>
          <a:bodyPr>
            <a:normAutofit/>
          </a:bodyPr>
          <a:lstStyle/>
          <a:p>
            <a:r>
              <a:rPr lang="en-US" sz="2600" b="1" dirty="0">
                <a:solidFill>
                  <a:schemeClr val="accent1">
                    <a:lumMod val="75000"/>
                  </a:schemeClr>
                </a:solidFill>
              </a:rPr>
              <a:t>What is Stakeholder Management?</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5AB56B73-8C7D-47B5-B5DE-A82F99E6E43A}"/>
              </a:ext>
            </a:extLst>
          </p:cNvPr>
          <p:cNvSpPr>
            <a:spLocks noGrp="1"/>
          </p:cNvSpPr>
          <p:nvPr>
            <p:ph sz="quarter" idx="1"/>
          </p:nvPr>
        </p:nvSpPr>
        <p:spPr>
          <a:xfrm>
            <a:off x="457200" y="971550"/>
            <a:ext cx="7696200" cy="3886201"/>
          </a:xfrm>
        </p:spPr>
        <p:txBody>
          <a:bodyPr>
            <a:normAutofit/>
          </a:bodyPr>
          <a:lstStyle/>
          <a:p>
            <a:pPr>
              <a:spcAft>
                <a:spcPts val="600"/>
              </a:spcAft>
              <a:buSzPct val="100000"/>
            </a:pPr>
            <a:r>
              <a:rPr lang="en-US" sz="1400" b="1" dirty="0"/>
              <a:t>Comprehensive Relationship Framework:</a:t>
            </a:r>
            <a:r>
              <a:rPr lang="en-US" sz="1400" dirty="0"/>
              <a:t> Stakeholder management is defined as the strategic process of organizing, monitoring, and continuously improving interactions with project stakeholders.</a:t>
            </a:r>
          </a:p>
          <a:p>
            <a:pPr>
              <a:spcAft>
                <a:spcPts val="600"/>
              </a:spcAft>
              <a:buSzPct val="100000"/>
            </a:pPr>
            <a:r>
              <a:rPr lang="en-US" sz="1400" b="1" dirty="0"/>
              <a:t>Systematic Engagement Process:</a:t>
            </a:r>
            <a:r>
              <a:rPr lang="en-US" sz="1400" dirty="0"/>
              <a:t> It involves a specific workflow of identifying stakeholders, analyzing their individual needs and expectations, and implementing tasks to engage them.</a:t>
            </a:r>
          </a:p>
          <a:p>
            <a:pPr>
              <a:spcAft>
                <a:spcPts val="600"/>
              </a:spcAft>
              <a:buSzPct val="100000"/>
            </a:pPr>
            <a:r>
              <a:rPr lang="en-US" sz="1400" b="1" dirty="0"/>
              <a:t>Goal-Oriented Coordination:</a:t>
            </a:r>
            <a:r>
              <a:rPr lang="en-US" sz="1400" dirty="0"/>
              <a:t> The practice allows you to coordinate all interactions and assess relationship quality to achieve specific outcomes, legal requirements, or strategic benefits.</a:t>
            </a:r>
          </a:p>
          <a:p>
            <a:pPr>
              <a:spcAft>
                <a:spcPts val="600"/>
              </a:spcAft>
              <a:buSzPct val="100000"/>
            </a:pPr>
            <a:r>
              <a:rPr lang="en-US" sz="1400" b="1" dirty="0"/>
              <a:t>Varied Professional Terminology:</a:t>
            </a:r>
            <a:r>
              <a:rPr lang="en-US" sz="1400" dirty="0"/>
              <a:t> This process is often referred to by several other names, such as stakeholder engagement, community engagement, public consultation, civic engagement, or public participation.</a:t>
            </a:r>
          </a:p>
          <a:p>
            <a:pPr>
              <a:spcAft>
                <a:spcPts val="600"/>
              </a:spcAft>
              <a:buSzPct val="100000"/>
            </a:pPr>
            <a:r>
              <a:rPr lang="en-US" sz="1400" b="1" dirty="0"/>
              <a:t>Consistent Underlying Methodology:</a:t>
            </a:r>
            <a:r>
              <a:rPr lang="en-US" sz="1400" dirty="0"/>
              <a:t> While terms and preferences may differ by jurisdiction or industry, the fundamental processes and steps required to manage these relationships are very similar.</a:t>
            </a:r>
          </a:p>
          <a:p>
            <a:pPr>
              <a:buSzPct val="100000"/>
            </a:pPr>
            <a:endParaRPr lang="en-IN" dirty="0"/>
          </a:p>
        </p:txBody>
      </p:sp>
    </p:spTree>
    <p:extLst>
      <p:ext uri="{BB962C8B-B14F-4D97-AF65-F5344CB8AC3E}">
        <p14:creationId xmlns:p14="http://schemas.microsoft.com/office/powerpoint/2010/main" val="218181868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6E419-2417-43A4-83EC-10D4D3AB2BA5}"/>
              </a:ext>
            </a:extLst>
          </p:cNvPr>
          <p:cNvSpPr>
            <a:spLocks noGrp="1"/>
          </p:cNvSpPr>
          <p:nvPr>
            <p:ph type="title"/>
          </p:nvPr>
        </p:nvSpPr>
        <p:spPr>
          <a:xfrm>
            <a:off x="457200" y="205979"/>
            <a:ext cx="8077200" cy="536971"/>
          </a:xfrm>
        </p:spPr>
        <p:txBody>
          <a:bodyPr>
            <a:normAutofit/>
          </a:bodyPr>
          <a:lstStyle/>
          <a:p>
            <a:r>
              <a:rPr lang="en-US" sz="2600" b="1" dirty="0">
                <a:solidFill>
                  <a:schemeClr val="accent1">
                    <a:lumMod val="75000"/>
                  </a:schemeClr>
                </a:solidFill>
              </a:rPr>
              <a:t>The Benefits of Stakeholder Management</a:t>
            </a:r>
            <a:endParaRPr lang="en-IN" sz="2600" dirty="0">
              <a:solidFill>
                <a:schemeClr val="accent1">
                  <a:lumMod val="75000"/>
                </a:schemeClr>
              </a:solidFill>
            </a:endParaRPr>
          </a:p>
        </p:txBody>
      </p:sp>
      <p:sp>
        <p:nvSpPr>
          <p:cNvPr id="5" name="Rectangle 2">
            <a:extLst>
              <a:ext uri="{FF2B5EF4-FFF2-40B4-BE49-F238E27FC236}">
                <a16:creationId xmlns:a16="http://schemas.microsoft.com/office/drawing/2014/main" id="{A6740B64-C307-470B-A5A4-334AD6F97D06}"/>
              </a:ext>
            </a:extLst>
          </p:cNvPr>
          <p:cNvSpPr>
            <a:spLocks noGrp="1" noChangeArrowheads="1"/>
          </p:cNvSpPr>
          <p:nvPr>
            <p:ph sz="quarter" idx="1"/>
          </p:nvPr>
        </p:nvSpPr>
        <p:spPr bwMode="auto">
          <a:xfrm>
            <a:off x="457200" y="895350"/>
            <a:ext cx="7696200" cy="3939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rPr>
              <a:t>Project Success and Reputation:</a:t>
            </a:r>
            <a:r>
              <a:rPr kumimoji="0" lang="en-US" altLang="en-US" sz="1400" b="0" i="0" u="none" strike="noStrike" cap="none" normalizeH="0" baseline="0" dirty="0">
                <a:ln>
                  <a:noFill/>
                </a:ln>
                <a:solidFill>
                  <a:schemeClr val="tx1"/>
                </a:solidFill>
                <a:effectLst/>
              </a:rPr>
              <a:t> Effective stakeholder management builds trust and transparency, helping organizations develop strong relationships with affected communities while improving their public reputation on key issues like sustainability.</a:t>
            </a:r>
          </a:p>
          <a:p>
            <a:pPr marR="0" lvl="0" algn="l" defTabSz="914400" rtl="0" eaLnBrk="0" fontAlgn="base" latinLnBrk="0" hangingPunct="0">
              <a:lnSpc>
                <a:spcPct val="100000"/>
              </a:lnSpc>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rPr>
              <a:t>Risk and Expectation Management:</a:t>
            </a:r>
            <a:r>
              <a:rPr kumimoji="0" lang="en-US" altLang="en-US" sz="1400" b="0" i="0" u="none" strike="noStrike" cap="none" normalizeH="0" baseline="0" dirty="0">
                <a:ln>
                  <a:noFill/>
                </a:ln>
                <a:solidFill>
                  <a:schemeClr val="tx1"/>
                </a:solidFill>
                <a:effectLst/>
              </a:rPr>
              <a:t> A systematic approach allows organizations to identify and mitigate risks early, while carefully managing rising community expectations and meeting legal obligations related to privacy and information rights.</a:t>
            </a:r>
          </a:p>
          <a:p>
            <a:pPr marR="0" lvl="0" algn="l" defTabSz="914400" rtl="0" eaLnBrk="0" fontAlgn="base" latinLnBrk="0" hangingPunct="0">
              <a:lnSpc>
                <a:spcPct val="100000"/>
              </a:lnSpc>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rPr>
              <a:t>Strategic Alignment and Intelligence:</a:t>
            </a:r>
            <a:r>
              <a:rPr kumimoji="0" lang="en-US" altLang="en-US" sz="1400" b="0" i="0" u="none" strike="noStrike" cap="none" normalizeH="0" baseline="0" dirty="0">
                <a:ln>
                  <a:noFill/>
                </a:ln>
                <a:solidFill>
                  <a:schemeClr val="tx1"/>
                </a:solidFill>
                <a:effectLst/>
              </a:rPr>
              <a:t> Understanding stakeholder concerns provides valuable business intelligence for product innovation and ensures that business goals are better aligned with the needs of those invested in the project.</a:t>
            </a:r>
          </a:p>
          <a:p>
            <a:pPr marR="0" lvl="0" algn="l" defTabSz="914400" rtl="0" eaLnBrk="0" fontAlgn="base" latinLnBrk="0" hangingPunct="0">
              <a:lnSpc>
                <a:spcPct val="100000"/>
              </a:lnSpc>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rPr>
              <a:t>Operational Efficiency and Value:</a:t>
            </a:r>
            <a:r>
              <a:rPr kumimoji="0" lang="en-US" altLang="en-US" sz="1400" b="0" i="0" u="none" strike="noStrike" cap="none" normalizeH="0" baseline="0" dirty="0">
                <a:ln>
                  <a:noFill/>
                </a:ln>
                <a:solidFill>
                  <a:schemeClr val="tx1"/>
                </a:solidFill>
                <a:effectLst/>
              </a:rPr>
              <a:t> Strategically engaging stakeholders reduces project delays through faster feedback loops and accelerates the growth of social capital, ultimately providing a distinct competitive advantage.</a:t>
            </a:r>
          </a:p>
          <a:p>
            <a:pPr marR="0" lvl="0" algn="l" defTabSz="914400" rtl="0" eaLnBrk="0" fontAlgn="base" latinLnBrk="0" hangingPunct="0">
              <a:lnSpc>
                <a:spcPct val="100000"/>
              </a:lnSpc>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rPr>
              <a:t>Enhanced Governance and Sustainability:</a:t>
            </a:r>
            <a:r>
              <a:rPr kumimoji="0" lang="en-US" altLang="en-US" sz="1400" b="0" i="0" u="none" strike="noStrike" cap="none" normalizeH="0" baseline="0" dirty="0">
                <a:ln>
                  <a:noFill/>
                </a:ln>
                <a:solidFill>
                  <a:schemeClr val="tx1"/>
                </a:solidFill>
                <a:effectLst/>
              </a:rPr>
              <a:t> Engaging with diverse groups delivers the critical insights necessary for sustainable decision-making and helps organizations balance the complex demands of various governing bodies.</a:t>
            </a:r>
          </a:p>
        </p:txBody>
      </p:sp>
    </p:spTree>
    <p:extLst>
      <p:ext uri="{BB962C8B-B14F-4D97-AF65-F5344CB8AC3E}">
        <p14:creationId xmlns:p14="http://schemas.microsoft.com/office/powerpoint/2010/main" val="362004106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028FB-4810-4B15-8D5E-119EED501A18}"/>
              </a:ext>
            </a:extLst>
          </p:cNvPr>
          <p:cNvSpPr>
            <a:spLocks noGrp="1"/>
          </p:cNvSpPr>
          <p:nvPr>
            <p:ph type="title"/>
          </p:nvPr>
        </p:nvSpPr>
        <p:spPr>
          <a:xfrm>
            <a:off x="416768" y="339502"/>
            <a:ext cx="7467600" cy="460771"/>
          </a:xfrm>
        </p:spPr>
        <p:txBody>
          <a:bodyPr>
            <a:noAutofit/>
          </a:bodyPr>
          <a:lstStyle/>
          <a:p>
            <a:r>
              <a:rPr lang="en-IN" sz="2600" b="1" dirty="0">
                <a:solidFill>
                  <a:schemeClr val="accent1">
                    <a:lumMod val="75000"/>
                  </a:schemeClr>
                </a:solidFill>
                <a:cs typeface="Times New Roman" panose="02020603050405020304" pitchFamily="18" charset="0"/>
              </a:rPr>
              <a:t>The Stakeholder Management Process</a:t>
            </a:r>
          </a:p>
        </p:txBody>
      </p:sp>
      <p:sp>
        <p:nvSpPr>
          <p:cNvPr id="4" name="Rectangle 1">
            <a:extLst>
              <a:ext uri="{FF2B5EF4-FFF2-40B4-BE49-F238E27FC236}">
                <a16:creationId xmlns:a16="http://schemas.microsoft.com/office/drawing/2014/main" id="{4526EE0D-BB46-4AB9-8368-5BD48AB845DD}"/>
              </a:ext>
            </a:extLst>
          </p:cNvPr>
          <p:cNvSpPr>
            <a:spLocks noGrp="1" noChangeArrowheads="1"/>
          </p:cNvSpPr>
          <p:nvPr>
            <p:ph sz="quarter" idx="1"/>
          </p:nvPr>
        </p:nvSpPr>
        <p:spPr bwMode="auto">
          <a:xfrm>
            <a:off x="457200" y="956806"/>
            <a:ext cx="7696200" cy="3939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Step 1: Understand Your Stakeholders</a:t>
            </a:r>
            <a:r>
              <a:rPr kumimoji="0" lang="en-US" altLang="en-US" sz="1400" b="0" i="0" u="none" strike="noStrike" cap="none" normalizeH="0" baseline="0" dirty="0">
                <a:ln>
                  <a:noFill/>
                </a:ln>
                <a:solidFill>
                  <a:schemeClr val="tx1"/>
                </a:solidFill>
                <a:effectLst/>
                <a:cs typeface="Times New Roman" panose="02020603050405020304" pitchFamily="18" charset="0"/>
              </a:rPr>
              <a:t> Identify and analyze stakeholders by examining their demographics, social networks, and expectations. Assess their specific interests, motivations, and influences to identify potential gaps between their needs and project goals.</a:t>
            </a:r>
          </a:p>
          <a:p>
            <a:pPr lvl="0" eaLnBrk="0" fontAlgn="base" hangingPunct="0">
              <a:spcAft>
                <a:spcPts val="600"/>
              </a:spcAft>
              <a:buSzTx/>
              <a:buFont typeface="Wingdings" panose="05000000000000000000" pitchFamily="2" charset="2"/>
              <a:buChar char=""/>
            </a:pPr>
            <a:r>
              <a:rPr kumimoji="0" lang="en-US" altLang="en-US" sz="1400" b="1" i="0" u="none" strike="noStrike" cap="none" normalizeH="0" baseline="0" dirty="0">
                <a:ln>
                  <a:noFill/>
                </a:ln>
                <a:solidFill>
                  <a:schemeClr val="tx1"/>
                </a:solidFill>
                <a:effectLst/>
                <a:cs typeface="Times New Roman" panose="02020603050405020304" pitchFamily="18" charset="0"/>
              </a:rPr>
              <a:t>Step 2: Map and Organize</a:t>
            </a:r>
            <a:r>
              <a:rPr kumimoji="0" lang="en-US" altLang="en-US" sz="1400" b="0" i="0" u="none" strike="noStrike" cap="none" normalizeH="0" baseline="0" dirty="0">
                <a:ln>
                  <a:noFill/>
                </a:ln>
                <a:solidFill>
                  <a:schemeClr val="tx1"/>
                </a:solidFill>
                <a:effectLst/>
                <a:cs typeface="Times New Roman" panose="02020603050405020304" pitchFamily="18" charset="0"/>
              </a:rPr>
              <a:t> Visualize stakeholders using frameworks like the </a:t>
            </a:r>
            <a:r>
              <a:rPr kumimoji="0" lang="en-US" altLang="en-US" sz="1400" b="1" i="0" u="none" strike="noStrike" cap="none" normalizeH="0" baseline="0" dirty="0">
                <a:ln>
                  <a:noFill/>
                </a:ln>
                <a:solidFill>
                  <a:schemeClr val="tx1"/>
                </a:solidFill>
                <a:effectLst/>
                <a:cs typeface="Times New Roman" panose="02020603050405020304" pitchFamily="18" charset="0"/>
              </a:rPr>
              <a:t>Power/Interest Grid</a:t>
            </a:r>
            <a:r>
              <a:rPr kumimoji="0" lang="en-US" altLang="en-US" sz="1400" b="0" i="0" u="none" strike="noStrike" cap="none" normalizeH="0" baseline="0" dirty="0">
                <a:ln>
                  <a:noFill/>
                </a:ln>
                <a:solidFill>
                  <a:schemeClr val="tx1"/>
                </a:solidFill>
                <a:effectLst/>
                <a:cs typeface="Times New Roman" panose="02020603050405020304" pitchFamily="18" charset="0"/>
              </a:rPr>
              <a:t> or </a:t>
            </a:r>
            <a:r>
              <a:rPr kumimoji="0" lang="en-US" altLang="en-US" sz="1400" b="1" i="0" u="none" strike="noStrike" cap="none" normalizeH="0" baseline="0" dirty="0">
                <a:ln>
                  <a:noFill/>
                </a:ln>
                <a:solidFill>
                  <a:schemeClr val="tx1"/>
                </a:solidFill>
                <a:effectLst/>
                <a:cs typeface="Times New Roman" panose="02020603050405020304" pitchFamily="18" charset="0"/>
              </a:rPr>
              <a:t>Salience Model</a:t>
            </a:r>
            <a:r>
              <a:rPr kumimoji="0" lang="en-US" altLang="en-US" sz="1400" b="0" i="0" u="none" strike="noStrike" cap="none" normalizeH="0" baseline="0" dirty="0">
                <a:ln>
                  <a:noFill/>
                </a:ln>
                <a:solidFill>
                  <a:schemeClr val="tx1"/>
                </a:solidFill>
                <a:effectLst/>
                <a:cs typeface="Times New Roman" panose="02020603050405020304" pitchFamily="18" charset="0"/>
              </a:rPr>
              <a:t> to prioritize engagement. Assigning ranks or plotting stakeholders on a matrix helps determine the most effective strategy for each group.</a:t>
            </a:r>
          </a:p>
          <a:p>
            <a:pPr lvl="0" eaLnBrk="0" fontAlgn="base" hangingPunct="0">
              <a:spcAft>
                <a:spcPts val="600"/>
              </a:spcAft>
              <a:buSzTx/>
              <a:buFont typeface="Wingdings" panose="05000000000000000000" pitchFamily="2" charset="2"/>
              <a:buChar char=""/>
            </a:pPr>
            <a:r>
              <a:rPr lang="en-US" altLang="en-US" sz="1400" b="1" dirty="0">
                <a:cs typeface="Times New Roman" panose="02020603050405020304" pitchFamily="18" charset="0"/>
              </a:rPr>
              <a:t>Step 3: Create a Management Plan</a:t>
            </a:r>
            <a:r>
              <a:rPr lang="en-US" altLang="en-US" sz="1400" dirty="0">
                <a:cs typeface="Times New Roman" panose="02020603050405020304" pitchFamily="18" charset="0"/>
              </a:rPr>
              <a:t> Develop a strategic document outlining engagement methods, communication channels, and internal responsibilities. Ensure the plan coordinates activities to maintain consistent messaging and avoid stakeholder "consultation fatigue".</a:t>
            </a:r>
          </a:p>
          <a:p>
            <a:pPr lvl="0" eaLnBrk="0" fontAlgn="base" hangingPunct="0">
              <a:spcAft>
                <a:spcPts val="600"/>
              </a:spcAft>
              <a:buSzTx/>
              <a:buFont typeface="Wingdings" panose="05000000000000000000" pitchFamily="2" charset="2"/>
              <a:buChar char=""/>
            </a:pPr>
            <a:r>
              <a:rPr lang="en-US" altLang="en-US" sz="1400" b="1" dirty="0">
                <a:cs typeface="Times New Roman" panose="02020603050405020304" pitchFamily="18" charset="0"/>
              </a:rPr>
              <a:t>Step 4: Implement the Plan</a:t>
            </a:r>
            <a:r>
              <a:rPr lang="en-US" altLang="en-US" sz="1400" dirty="0">
                <a:cs typeface="Times New Roman" panose="02020603050405020304" pitchFamily="18" charset="0"/>
              </a:rPr>
              <a:t> Execute the identified communication strategies and activities using the necessary tools and resources. Coordinate with colleagues and the executive team to ensure all assigned tasks are carried out effectively.</a:t>
            </a:r>
          </a:p>
          <a:p>
            <a:pPr lvl="0" eaLnBrk="0" fontAlgn="base" hangingPunct="0">
              <a:spcAft>
                <a:spcPts val="600"/>
              </a:spcAft>
              <a:buSzTx/>
              <a:buFont typeface="Wingdings" panose="05000000000000000000" pitchFamily="2" charset="2"/>
              <a:buChar char=""/>
            </a:pPr>
            <a:r>
              <a:rPr lang="en-US" altLang="en-US" sz="1400" b="1" dirty="0">
                <a:cs typeface="Times New Roman" panose="02020603050405020304" pitchFamily="18" charset="0"/>
              </a:rPr>
              <a:t>Step 5: Monitor and Report</a:t>
            </a:r>
            <a:r>
              <a:rPr lang="en-US" altLang="en-US" sz="1400" dirty="0">
                <a:cs typeface="Times New Roman" panose="02020603050405020304" pitchFamily="18" charset="0"/>
              </a:rPr>
              <a:t> Continuously track stakeholder responses and sentiment to ensure project objectives are being met. Use regular reports and feedback to refine insights and adjust management strategies as issues or expectations evolve.</a:t>
            </a:r>
          </a:p>
        </p:txBody>
      </p:sp>
    </p:spTree>
    <p:extLst>
      <p:ext uri="{BB962C8B-B14F-4D97-AF65-F5344CB8AC3E}">
        <p14:creationId xmlns:p14="http://schemas.microsoft.com/office/powerpoint/2010/main" val="420806169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8D1B96-4A70-30FC-2653-A7903D2DE185}"/>
              </a:ext>
            </a:extLst>
          </p:cNvPr>
          <p:cNvSpPr>
            <a:spLocks noGrp="1"/>
          </p:cNvSpPr>
          <p:nvPr>
            <p:ph type="ctrTitle"/>
          </p:nvPr>
        </p:nvSpPr>
        <p:spPr>
          <a:xfrm>
            <a:off x="2483768" y="2343150"/>
            <a:ext cx="5974432" cy="1420772"/>
          </a:xfrm>
        </p:spPr>
        <p:txBody>
          <a:bodyPr>
            <a:noAutofit/>
          </a:bodyPr>
          <a:lstStyle/>
          <a:p>
            <a:r>
              <a:rPr lang="en-IN" sz="5400" b="1" i="0" dirty="0">
                <a:solidFill>
                  <a:schemeClr val="tx1"/>
                </a:solidFill>
                <a:effectLst/>
                <a:cs typeface="Times New Roman" panose="02020603050405020304" pitchFamily="18" charset="0"/>
              </a:rPr>
              <a:t>Data vs. Information</a:t>
            </a:r>
            <a:endParaRPr lang="en-IN" sz="54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123921031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CCDA7-0717-4C4E-9910-8F2C22543EB7}"/>
              </a:ext>
            </a:extLst>
          </p:cNvPr>
          <p:cNvSpPr>
            <a:spLocks noGrp="1"/>
          </p:cNvSpPr>
          <p:nvPr>
            <p:ph type="title"/>
          </p:nvPr>
        </p:nvSpPr>
        <p:spPr>
          <a:xfrm>
            <a:off x="457200" y="195486"/>
            <a:ext cx="7467600" cy="460771"/>
          </a:xfrm>
        </p:spPr>
        <p:txBody>
          <a:bodyPr>
            <a:noAutofit/>
          </a:bodyPr>
          <a:lstStyle/>
          <a:p>
            <a:r>
              <a:rPr lang="en-US" sz="2600" b="1" dirty="0">
                <a:solidFill>
                  <a:schemeClr val="accent1">
                    <a:lumMod val="75000"/>
                  </a:schemeClr>
                </a:solidFill>
                <a:cs typeface="Times New Roman" panose="02020603050405020304" pitchFamily="18" charset="0"/>
              </a:rPr>
              <a:t>What is Raw Data?</a:t>
            </a:r>
            <a:endParaRPr lang="en-IN" sz="2600" dirty="0">
              <a:solidFill>
                <a:schemeClr val="accent1">
                  <a:lumMod val="75000"/>
                </a:schemeClr>
              </a:solidFill>
              <a:cs typeface="Times New Roman" panose="02020603050405020304" pitchFamily="18" charset="0"/>
            </a:endParaRPr>
          </a:p>
        </p:txBody>
      </p:sp>
      <p:sp>
        <p:nvSpPr>
          <p:cNvPr id="3" name="Content Placeholder 2">
            <a:extLst>
              <a:ext uri="{FF2B5EF4-FFF2-40B4-BE49-F238E27FC236}">
                <a16:creationId xmlns:a16="http://schemas.microsoft.com/office/drawing/2014/main" id="{31D54D71-8E53-4D78-946F-71CA673A074E}"/>
              </a:ext>
            </a:extLst>
          </p:cNvPr>
          <p:cNvSpPr>
            <a:spLocks noGrp="1"/>
          </p:cNvSpPr>
          <p:nvPr>
            <p:ph sz="quarter" idx="1"/>
          </p:nvPr>
        </p:nvSpPr>
        <p:spPr>
          <a:xfrm>
            <a:off x="457200" y="699542"/>
            <a:ext cx="7696200" cy="3960114"/>
          </a:xfrm>
        </p:spPr>
        <p:txBody>
          <a:bodyPr>
            <a:noAutofit/>
          </a:bodyPr>
          <a:lstStyle/>
          <a:p>
            <a:pPr>
              <a:spcAft>
                <a:spcPts val="600"/>
              </a:spcAft>
              <a:buSzPct val="100000"/>
            </a:pPr>
            <a:r>
              <a:rPr lang="en-US" sz="1400" b="1" dirty="0">
                <a:cs typeface="Times New Roman" panose="02020603050405020304" pitchFamily="18" charset="0"/>
              </a:rPr>
              <a:t>Core Definition:</a:t>
            </a:r>
            <a:r>
              <a:rPr lang="en-US" sz="1400" dirty="0">
                <a:cs typeface="Times New Roman" panose="02020603050405020304" pitchFamily="18" charset="0"/>
              </a:rPr>
              <a:t> Raw data, often called </a:t>
            </a:r>
            <a:r>
              <a:rPr lang="en-US" sz="1400" b="1" dirty="0">
                <a:cs typeface="Times New Roman" panose="02020603050405020304" pitchFamily="18" charset="0"/>
              </a:rPr>
              <a:t>unprocessed data</a:t>
            </a:r>
            <a:r>
              <a:rPr lang="en-US" sz="1400" dirty="0">
                <a:cs typeface="Times New Roman" panose="02020603050405020304" pitchFamily="18" charset="0"/>
              </a:rPr>
              <a:t>, refers to the original, "source" information gathered directly from various origins before it undergoes any cleaning, formatting, or analysis.</a:t>
            </a:r>
          </a:p>
          <a:p>
            <a:pPr>
              <a:spcAft>
                <a:spcPts val="600"/>
              </a:spcAft>
              <a:buSzPct val="100000"/>
            </a:pPr>
            <a:r>
              <a:rPr lang="en-US" sz="1400" b="1" dirty="0">
                <a:cs typeface="Times New Roman" panose="02020603050405020304" pitchFamily="18" charset="0"/>
              </a:rPr>
              <a:t>Diverse Formats:</a:t>
            </a:r>
            <a:r>
              <a:rPr lang="en-US" sz="1400" dirty="0">
                <a:cs typeface="Times New Roman" panose="02020603050405020304" pitchFamily="18" charset="0"/>
              </a:rPr>
              <a:t> It exists in various states, including numeric values, plain text, digital images, and audio files.</a:t>
            </a:r>
          </a:p>
          <a:p>
            <a:pPr>
              <a:spcAft>
                <a:spcPts val="600"/>
              </a:spcAft>
              <a:buSzPct val="100000"/>
            </a:pPr>
            <a:r>
              <a:rPr lang="en-US" sz="1400" b="1" dirty="0">
                <a:cs typeface="Times New Roman" panose="02020603050405020304" pitchFamily="18" charset="0"/>
              </a:rPr>
              <a:t>The "Source" State:</a:t>
            </a:r>
            <a:r>
              <a:rPr lang="en-US" sz="1400" dirty="0">
                <a:cs typeface="Times New Roman" panose="02020603050405020304" pitchFamily="18" charset="0"/>
              </a:rPr>
              <a:t> In this phase, the data is essentially a collection of facts and figures that have not yet been interpreted or organized into a meaningful context.</a:t>
            </a:r>
          </a:p>
          <a:p>
            <a:pPr>
              <a:spcAft>
                <a:spcPts val="600"/>
              </a:spcAft>
              <a:buSzPct val="100000"/>
            </a:pPr>
            <a:r>
              <a:rPr lang="en-US" sz="1400" b="1" dirty="0">
                <a:cs typeface="Times New Roman" panose="02020603050405020304" pitchFamily="18" charset="0"/>
              </a:rPr>
              <a:t>Common Sources of Raw Data</a:t>
            </a:r>
          </a:p>
          <a:p>
            <a:pPr marL="446088" indent="-273050">
              <a:spcAft>
                <a:spcPts val="600"/>
              </a:spcAft>
              <a:buSzPct val="100000"/>
              <a:buFont typeface="Wingdings" panose="05000000000000000000" pitchFamily="2" charset="2"/>
              <a:buChar char="Ø"/>
              <a:tabLst>
                <a:tab pos="446088" algn="l"/>
              </a:tabLst>
            </a:pPr>
            <a:r>
              <a:rPr lang="en-US" sz="1400" b="1" dirty="0">
                <a:cs typeface="Times New Roman" panose="02020603050405020304" pitchFamily="18" charset="0"/>
              </a:rPr>
              <a:t>Surveys and Questionnaires:</a:t>
            </a:r>
            <a:r>
              <a:rPr lang="en-US" sz="1400" dirty="0">
                <a:cs typeface="Times New Roman" panose="02020603050405020304" pitchFamily="18" charset="0"/>
              </a:rPr>
              <a:t> Direct, unfiltered responses and feedback collected from participants.</a:t>
            </a:r>
          </a:p>
          <a:p>
            <a:pPr marL="446088" indent="-273050">
              <a:spcAft>
                <a:spcPts val="600"/>
              </a:spcAft>
              <a:buSzPct val="100000"/>
              <a:buFont typeface="Wingdings" panose="05000000000000000000" pitchFamily="2" charset="2"/>
              <a:buChar char="Ø"/>
              <a:tabLst>
                <a:tab pos="446088" algn="l"/>
              </a:tabLst>
            </a:pPr>
            <a:r>
              <a:rPr lang="en-US" sz="1400" b="1" dirty="0">
                <a:cs typeface="Times New Roman" panose="02020603050405020304" pitchFamily="18" charset="0"/>
              </a:rPr>
              <a:t>Transaction Logs:</a:t>
            </a:r>
            <a:r>
              <a:rPr lang="en-US" sz="1400" dirty="0">
                <a:cs typeface="Times New Roman" panose="02020603050405020304" pitchFamily="18" charset="0"/>
              </a:rPr>
              <a:t> Automated records generated during every sales interaction or service request.</a:t>
            </a:r>
          </a:p>
          <a:p>
            <a:pPr marL="446088" indent="-273050">
              <a:spcAft>
                <a:spcPts val="600"/>
              </a:spcAft>
              <a:buSzPct val="100000"/>
              <a:buFont typeface="Wingdings" panose="05000000000000000000" pitchFamily="2" charset="2"/>
              <a:buChar char="Ø"/>
              <a:tabLst>
                <a:tab pos="446088" algn="l"/>
              </a:tabLst>
            </a:pPr>
            <a:r>
              <a:rPr lang="en-US" sz="1400" b="1" dirty="0">
                <a:cs typeface="Times New Roman" panose="02020603050405020304" pitchFamily="18" charset="0"/>
              </a:rPr>
              <a:t>Sensor Data:</a:t>
            </a:r>
            <a:r>
              <a:rPr lang="en-US" sz="1400" dirty="0">
                <a:cs typeface="Times New Roman" panose="02020603050405020304" pitchFamily="18" charset="0"/>
              </a:rPr>
              <a:t> Continuous streams of information captured by hardware devices, such as temperature sensors or GPS trackers.</a:t>
            </a:r>
          </a:p>
          <a:p>
            <a:pPr marL="446088" indent="-273050">
              <a:spcAft>
                <a:spcPts val="600"/>
              </a:spcAft>
              <a:buSzPct val="100000"/>
              <a:buFont typeface="Wingdings" panose="05000000000000000000" pitchFamily="2" charset="2"/>
              <a:buChar char="Ø"/>
              <a:tabLst>
                <a:tab pos="446088" algn="l"/>
              </a:tabLst>
            </a:pPr>
            <a:r>
              <a:rPr lang="en-US" sz="1400" b="1" dirty="0">
                <a:cs typeface="Times New Roman" panose="02020603050405020304" pitchFamily="18" charset="0"/>
              </a:rPr>
              <a:t>Social Media Interactions:</a:t>
            </a:r>
            <a:r>
              <a:rPr lang="en-US" sz="1400" dirty="0">
                <a:cs typeface="Times New Roman" panose="02020603050405020304" pitchFamily="18" charset="0"/>
              </a:rPr>
              <a:t> Real-time data including posts, comments, likes, and reactions across social platforms.</a:t>
            </a:r>
          </a:p>
          <a:p>
            <a:pPr>
              <a:spcAft>
                <a:spcPts val="600"/>
              </a:spcAft>
            </a:pPr>
            <a:endParaRPr lang="en-IN" sz="1400" dirty="0">
              <a:cs typeface="Times New Roman" panose="02020603050405020304" pitchFamily="18" charset="0"/>
            </a:endParaRPr>
          </a:p>
        </p:txBody>
      </p:sp>
    </p:spTree>
    <p:extLst>
      <p:ext uri="{BB962C8B-B14F-4D97-AF65-F5344CB8AC3E}">
        <p14:creationId xmlns:p14="http://schemas.microsoft.com/office/powerpoint/2010/main" val="237687635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4D160-E111-4563-B90F-7D49A0CDE4F1}"/>
              </a:ext>
            </a:extLst>
          </p:cNvPr>
          <p:cNvSpPr>
            <a:spLocks noGrp="1"/>
          </p:cNvSpPr>
          <p:nvPr>
            <p:ph type="title"/>
          </p:nvPr>
        </p:nvSpPr>
        <p:spPr>
          <a:xfrm>
            <a:off x="457200" y="277401"/>
            <a:ext cx="7467600" cy="637579"/>
          </a:xfrm>
        </p:spPr>
        <p:txBody>
          <a:bodyPr>
            <a:normAutofit/>
          </a:bodyPr>
          <a:lstStyle/>
          <a:p>
            <a:r>
              <a:rPr lang="en-US" sz="2600" b="1" dirty="0">
                <a:solidFill>
                  <a:schemeClr val="accent1">
                    <a:lumMod val="75000"/>
                  </a:schemeClr>
                </a:solidFill>
              </a:rPr>
              <a:t>Characteristics of Raw Data</a:t>
            </a:r>
            <a:endParaRPr lang="en-IN" sz="2600" dirty="0">
              <a:solidFill>
                <a:schemeClr val="accent1">
                  <a:lumMod val="75000"/>
                </a:schemeClr>
              </a:solidFill>
            </a:endParaRPr>
          </a:p>
        </p:txBody>
      </p:sp>
      <p:sp>
        <p:nvSpPr>
          <p:cNvPr id="6" name="Rectangle 3">
            <a:extLst>
              <a:ext uri="{FF2B5EF4-FFF2-40B4-BE49-F238E27FC236}">
                <a16:creationId xmlns:a16="http://schemas.microsoft.com/office/drawing/2014/main" id="{15291262-4823-4A26-A17A-09468D17815E}"/>
              </a:ext>
            </a:extLst>
          </p:cNvPr>
          <p:cNvSpPr>
            <a:spLocks noGrp="1" noChangeArrowheads="1"/>
          </p:cNvSpPr>
          <p:nvPr>
            <p:ph sz="quarter" idx="1"/>
          </p:nvPr>
        </p:nvSpPr>
        <p:spPr bwMode="auto">
          <a:xfrm>
            <a:off x="457200" y="1058996"/>
            <a:ext cx="7620000"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ts val="1200"/>
              </a:spcBef>
              <a:spcAft>
                <a:spcPts val="12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Completely Unfiltered and Original:</a:t>
            </a:r>
            <a:r>
              <a:rPr kumimoji="0" lang="en-US" altLang="en-US" sz="1400" b="0" i="0" u="none" strike="noStrike" cap="none" normalizeH="0" baseline="0" dirty="0">
                <a:ln>
                  <a:noFill/>
                </a:ln>
                <a:solidFill>
                  <a:schemeClr val="tx1"/>
                </a:solidFill>
                <a:effectLst/>
                <a:cs typeface="Times New Roman" panose="02020603050405020304" pitchFamily="18" charset="0"/>
              </a:rPr>
              <a:t> Raw data remains in its "as-is" state, untouched and unaltered. This ensures that the original information is preserved exactly as it was captured at the source, without any subjective interpretation.</a:t>
            </a:r>
          </a:p>
          <a:p>
            <a:pPr marR="0" lvl="0" algn="l" defTabSz="914400" rtl="0" eaLnBrk="0" fontAlgn="base" latinLnBrk="0" hangingPunct="0">
              <a:lnSpc>
                <a:spcPct val="100000"/>
              </a:lnSpc>
              <a:spcBef>
                <a:spcPts val="1200"/>
              </a:spcBef>
              <a:spcAft>
                <a:spcPts val="12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Diverse and Complex Formats:</a:t>
            </a:r>
            <a:r>
              <a:rPr kumimoji="0" lang="en-US" altLang="en-US" sz="1400" b="0" i="0" u="none" strike="noStrike" cap="none" normalizeH="0" baseline="0" dirty="0">
                <a:ln>
                  <a:noFill/>
                </a:ln>
                <a:solidFill>
                  <a:schemeClr val="tx1"/>
                </a:solidFill>
                <a:effectLst/>
                <a:cs typeface="Times New Roman" panose="02020603050405020304" pitchFamily="18" charset="0"/>
              </a:rPr>
              <a:t> It manifests in a wide variety of forms—ranging from structured numbers in a log to unstructured text, audio files, or digital images—making the initial collection highly varied and complex to navigate.</a:t>
            </a:r>
          </a:p>
          <a:p>
            <a:pPr marR="0" lvl="0" algn="l" defTabSz="914400" rtl="0" eaLnBrk="0" fontAlgn="base" latinLnBrk="0" hangingPunct="0">
              <a:lnSpc>
                <a:spcPct val="100000"/>
              </a:lnSpc>
              <a:spcBef>
                <a:spcPts val="1200"/>
              </a:spcBef>
              <a:spcAft>
                <a:spcPts val="12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Immense Volume of Information:</a:t>
            </a:r>
            <a:r>
              <a:rPr kumimoji="0" lang="en-US" altLang="en-US" sz="1400" b="0" i="0" u="none" strike="noStrike" cap="none" normalizeH="0" baseline="0" dirty="0">
                <a:ln>
                  <a:noFill/>
                </a:ln>
                <a:solidFill>
                  <a:schemeClr val="tx1"/>
                </a:solidFill>
                <a:effectLst/>
                <a:cs typeface="Times New Roman" panose="02020603050405020304" pitchFamily="18" charset="0"/>
              </a:rPr>
              <a:t> Raw data typically arrives in massive quantities. These "big data" sets consist of vast amounts of information that can be physically and computationally overwhelming to manage without systematic processing.</a:t>
            </a:r>
          </a:p>
          <a:p>
            <a:pPr marR="0" lvl="0" algn="l" defTabSz="914400" rtl="0" eaLnBrk="0" fontAlgn="base" latinLnBrk="0" hangingPunct="0">
              <a:lnSpc>
                <a:spcPct val="100000"/>
              </a:lnSpc>
              <a:spcBef>
                <a:spcPts val="1200"/>
              </a:spcBef>
              <a:spcAft>
                <a:spcPts val="12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High Presence of Potential Errors:</a:t>
            </a:r>
            <a:r>
              <a:rPr kumimoji="0" lang="en-US" altLang="en-US" sz="1400" b="0" i="0" u="none" strike="noStrike" cap="none" normalizeH="0" baseline="0" dirty="0">
                <a:ln>
                  <a:noFill/>
                </a:ln>
                <a:solidFill>
                  <a:schemeClr val="tx1"/>
                </a:solidFill>
                <a:effectLst/>
                <a:cs typeface="Times New Roman" panose="02020603050405020304" pitchFamily="18" charset="0"/>
              </a:rPr>
              <a:t> Because it is collected directly from the source, raw data is prone to inaccuracies. It frequently contains duplicate entries, formatting errors, or completely irrelevant "noise" that must be identified and removed during the cleaning phase.</a:t>
            </a:r>
          </a:p>
        </p:txBody>
      </p:sp>
    </p:spTree>
    <p:extLst>
      <p:ext uri="{BB962C8B-B14F-4D97-AF65-F5344CB8AC3E}">
        <p14:creationId xmlns:p14="http://schemas.microsoft.com/office/powerpoint/2010/main" val="73379360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E3EF3-7F46-42DB-9A06-A602187D5537}"/>
              </a:ext>
            </a:extLst>
          </p:cNvPr>
          <p:cNvSpPr>
            <a:spLocks noGrp="1"/>
          </p:cNvSpPr>
          <p:nvPr>
            <p:ph type="title"/>
          </p:nvPr>
        </p:nvSpPr>
        <p:spPr>
          <a:xfrm>
            <a:off x="457200" y="432051"/>
            <a:ext cx="7467600" cy="507703"/>
          </a:xfrm>
        </p:spPr>
        <p:txBody>
          <a:bodyPr>
            <a:normAutofit/>
          </a:bodyPr>
          <a:lstStyle/>
          <a:p>
            <a:r>
              <a:rPr lang="en-US" sz="2600" b="1" dirty="0">
                <a:solidFill>
                  <a:schemeClr val="accent1">
                    <a:lumMod val="75000"/>
                  </a:schemeClr>
                </a:solidFill>
              </a:rPr>
              <a:t>What is Processed Data?</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2D6FF7C7-F5B7-47E7-B22D-E6F3AEEB4211}"/>
              </a:ext>
            </a:extLst>
          </p:cNvPr>
          <p:cNvSpPr>
            <a:spLocks noGrp="1"/>
          </p:cNvSpPr>
          <p:nvPr>
            <p:ph sz="quarter" idx="1"/>
          </p:nvPr>
        </p:nvSpPr>
        <p:spPr>
          <a:xfrm>
            <a:off x="457200" y="1076676"/>
            <a:ext cx="7715200" cy="3655314"/>
          </a:xfrm>
        </p:spPr>
        <p:txBody>
          <a:bodyPr>
            <a:normAutofit fontScale="92500" lnSpcReduction="20000"/>
          </a:bodyPr>
          <a:lstStyle/>
          <a:p>
            <a:pPr>
              <a:lnSpc>
                <a:spcPct val="110000"/>
              </a:lnSpc>
              <a:spcAft>
                <a:spcPts val="600"/>
              </a:spcAft>
              <a:buSzPct val="100000"/>
            </a:pPr>
            <a:r>
              <a:rPr lang="en-US" sz="1400" b="1" dirty="0"/>
              <a:t>Definition:</a:t>
            </a:r>
            <a:r>
              <a:rPr lang="en-US" sz="1400" dirty="0"/>
              <a:t> Processed data is raw information that has been transformed and analyzed to increase its utility and informative value.</a:t>
            </a:r>
          </a:p>
          <a:p>
            <a:pPr>
              <a:lnSpc>
                <a:spcPct val="110000"/>
              </a:lnSpc>
              <a:spcAft>
                <a:spcPts val="600"/>
              </a:spcAft>
              <a:buSzPct val="100000"/>
            </a:pPr>
            <a:r>
              <a:rPr lang="en-US" sz="1400" b="1" dirty="0"/>
              <a:t>Purpose:</a:t>
            </a:r>
            <a:r>
              <a:rPr lang="en-US" sz="1400" dirty="0"/>
              <a:t> Through systematic refinement, data is turned into a structured format that is suitable for high-level reporting, deep analysis, and strategic decision-making.</a:t>
            </a:r>
          </a:p>
          <a:p>
            <a:pPr>
              <a:lnSpc>
                <a:spcPct val="110000"/>
              </a:lnSpc>
              <a:spcAft>
                <a:spcPts val="600"/>
              </a:spcAft>
              <a:buSzPct val="100000"/>
            </a:pPr>
            <a:r>
              <a:rPr lang="en-US" sz="1400" b="1" dirty="0"/>
              <a:t>Common Data Processing Steps:</a:t>
            </a:r>
          </a:p>
          <a:p>
            <a:pPr marL="539750" indent="-273050">
              <a:lnSpc>
                <a:spcPct val="110000"/>
              </a:lnSpc>
              <a:spcAft>
                <a:spcPts val="600"/>
              </a:spcAft>
              <a:buSzPct val="100000"/>
              <a:buFont typeface="Wingdings" panose="05000000000000000000" pitchFamily="2" charset="2"/>
              <a:buChar char="Ø"/>
            </a:pPr>
            <a:r>
              <a:rPr lang="en-US" sz="1400" b="1" dirty="0"/>
              <a:t>Data Cleaning:</a:t>
            </a:r>
            <a:r>
              <a:rPr lang="en-US" sz="1400" dirty="0"/>
              <a:t> The initial stage of removing duplicate entries, correcting errors, and filtering out irrelevant information to ensure accuracy.</a:t>
            </a:r>
          </a:p>
          <a:p>
            <a:pPr marL="539750" indent="-273050">
              <a:lnSpc>
                <a:spcPct val="110000"/>
              </a:lnSpc>
              <a:spcAft>
                <a:spcPts val="600"/>
              </a:spcAft>
              <a:buSzPct val="100000"/>
              <a:buFont typeface="Wingdings" panose="05000000000000000000" pitchFamily="2" charset="2"/>
              <a:buChar char="Ø"/>
            </a:pPr>
            <a:r>
              <a:rPr lang="en-US" sz="1400" b="1" dirty="0"/>
              <a:t>Data Transformation:</a:t>
            </a:r>
            <a:r>
              <a:rPr lang="en-US" sz="1400" dirty="0"/>
              <a:t> The process of normalizing various data formats and standardizing values to ensure consistency across the entire dataset.</a:t>
            </a:r>
          </a:p>
          <a:p>
            <a:pPr marL="539750" indent="-273050">
              <a:lnSpc>
                <a:spcPct val="110000"/>
              </a:lnSpc>
              <a:spcAft>
                <a:spcPts val="600"/>
              </a:spcAft>
              <a:buSzPct val="100000"/>
              <a:buFont typeface="Wingdings" panose="05000000000000000000" pitchFamily="2" charset="2"/>
              <a:buChar char="Ø"/>
            </a:pPr>
            <a:r>
              <a:rPr lang="en-US" sz="1400" b="1" dirty="0"/>
              <a:t>Data Aggregation:</a:t>
            </a:r>
            <a:r>
              <a:rPr lang="en-US" sz="1400" dirty="0"/>
              <a:t> Summarizing detailed data points into broader, meaningful statistics or categories for easier interpretation.</a:t>
            </a:r>
          </a:p>
          <a:p>
            <a:pPr marL="539750" indent="-273050">
              <a:lnSpc>
                <a:spcPct val="110000"/>
              </a:lnSpc>
              <a:spcAft>
                <a:spcPts val="600"/>
              </a:spcAft>
              <a:buSzPct val="100000"/>
              <a:buFont typeface="Wingdings" panose="05000000000000000000" pitchFamily="2" charset="2"/>
              <a:buChar char="Ø"/>
            </a:pPr>
            <a:r>
              <a:rPr lang="en-US" sz="1400" b="1" dirty="0"/>
              <a:t>Data Analysis:</a:t>
            </a:r>
            <a:r>
              <a:rPr lang="en-US" sz="1400" dirty="0"/>
              <a:t> Applying specific statistical or analytical methods to the organized data to extract actionable insights and trends.</a:t>
            </a:r>
          </a:p>
          <a:p>
            <a:pPr>
              <a:lnSpc>
                <a:spcPct val="110000"/>
              </a:lnSpc>
              <a:spcAft>
                <a:spcPts val="600"/>
              </a:spcAft>
            </a:pPr>
            <a:endParaRPr lang="en-IN" sz="1400" dirty="0"/>
          </a:p>
        </p:txBody>
      </p:sp>
    </p:spTree>
    <p:extLst>
      <p:ext uri="{BB962C8B-B14F-4D97-AF65-F5344CB8AC3E}">
        <p14:creationId xmlns:p14="http://schemas.microsoft.com/office/powerpoint/2010/main" val="427395188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89B45-014B-42AC-A815-7E94134D3D99}"/>
              </a:ext>
            </a:extLst>
          </p:cNvPr>
          <p:cNvSpPr>
            <a:spLocks noGrp="1"/>
          </p:cNvSpPr>
          <p:nvPr>
            <p:ph type="title"/>
          </p:nvPr>
        </p:nvSpPr>
        <p:spPr>
          <a:xfrm>
            <a:off x="457200" y="51470"/>
            <a:ext cx="7467600" cy="857250"/>
          </a:xfrm>
        </p:spPr>
        <p:txBody>
          <a:bodyPr>
            <a:normAutofit/>
          </a:bodyPr>
          <a:lstStyle/>
          <a:p>
            <a:r>
              <a:rPr lang="en-US" sz="2600" b="1" dirty="0">
                <a:solidFill>
                  <a:schemeClr val="accent1">
                    <a:lumMod val="75000"/>
                  </a:schemeClr>
                </a:solidFill>
              </a:rPr>
              <a:t>Characteristics of Processed Data</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968CA46A-F8F9-414D-9D68-A6ACBFBB1C63}"/>
              </a:ext>
            </a:extLst>
          </p:cNvPr>
          <p:cNvSpPr>
            <a:spLocks noGrp="1"/>
          </p:cNvSpPr>
          <p:nvPr>
            <p:ph sz="quarter" idx="1"/>
          </p:nvPr>
        </p:nvSpPr>
        <p:spPr>
          <a:xfrm>
            <a:off x="457200" y="1045641"/>
            <a:ext cx="7467600" cy="3655314"/>
          </a:xfrm>
        </p:spPr>
        <p:txBody>
          <a:bodyPr>
            <a:normAutofit/>
          </a:bodyPr>
          <a:lstStyle/>
          <a:p>
            <a:pPr>
              <a:spcBef>
                <a:spcPts val="1200"/>
              </a:spcBef>
              <a:spcAft>
                <a:spcPts val="1200"/>
              </a:spcAft>
              <a:buSzPct val="100000"/>
            </a:pPr>
            <a:r>
              <a:rPr lang="en-US" sz="1400" b="1" dirty="0"/>
              <a:t>Refined and High-Quality:</a:t>
            </a:r>
            <a:r>
              <a:rPr lang="en-US" sz="1400" dirty="0"/>
              <a:t> Processed data has undergone extensive cleaning to eliminate errors, duplicate records, and inconsistencies. This transformation ensures the information is reliable and of the highest possible quality for business use.</a:t>
            </a:r>
          </a:p>
          <a:p>
            <a:pPr>
              <a:spcBef>
                <a:spcPts val="1200"/>
              </a:spcBef>
              <a:spcAft>
                <a:spcPts val="1200"/>
              </a:spcAft>
              <a:buSzPct val="100000"/>
            </a:pPr>
            <a:r>
              <a:rPr lang="en-US" sz="1400" b="1" dirty="0"/>
              <a:t>Standardized and Structured Format:</a:t>
            </a:r>
            <a:r>
              <a:rPr lang="en-US" sz="1400" dirty="0"/>
              <a:t> Unlike raw data, processed information follows a specific, organized structure—such as relational databases, formatted tables, or spreadsheets. This structure makes the data significantly easier to manipulate, query, and analyze.</a:t>
            </a:r>
          </a:p>
          <a:p>
            <a:pPr>
              <a:spcBef>
                <a:spcPts val="1200"/>
              </a:spcBef>
              <a:spcAft>
                <a:spcPts val="1200"/>
              </a:spcAft>
              <a:buSzPct val="100000"/>
            </a:pPr>
            <a:r>
              <a:rPr lang="en-US" sz="1400" b="1" dirty="0"/>
              <a:t>Insight-Driven and Informative:</a:t>
            </a:r>
            <a:r>
              <a:rPr lang="en-US" sz="1400" dirty="0"/>
              <a:t> The primary goal of processed data is to convey meaning. It is specifically designed to highlight actionable insights, identify emerging trends, and reveal underlying patterns that are essential for strategic decision-making.</a:t>
            </a:r>
          </a:p>
          <a:p>
            <a:pPr>
              <a:spcBef>
                <a:spcPts val="1200"/>
              </a:spcBef>
              <a:spcAft>
                <a:spcPts val="1200"/>
              </a:spcAft>
              <a:buSzPct val="100000"/>
            </a:pPr>
            <a:r>
              <a:rPr lang="en-US" sz="1400" b="1" dirty="0"/>
              <a:t>Aggregated and Summarized:</a:t>
            </a:r>
            <a:r>
              <a:rPr lang="en-US" sz="1400" dirty="0"/>
              <a:t> Processed data distills massive volumes of individual points into clear, high-level summaries. By providing metrics like averages, totals, and percentages, it allows stakeholders to understand complex information at a single glance.</a:t>
            </a:r>
          </a:p>
        </p:txBody>
      </p:sp>
    </p:spTree>
    <p:extLst>
      <p:ext uri="{BB962C8B-B14F-4D97-AF65-F5344CB8AC3E}">
        <p14:creationId xmlns:p14="http://schemas.microsoft.com/office/powerpoint/2010/main" val="267263091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A97C3-2CDB-46D6-A5A4-753ACB422270}"/>
              </a:ext>
            </a:extLst>
          </p:cNvPr>
          <p:cNvSpPr>
            <a:spLocks noGrp="1"/>
          </p:cNvSpPr>
          <p:nvPr>
            <p:ph type="title"/>
          </p:nvPr>
        </p:nvSpPr>
        <p:spPr>
          <a:xfrm>
            <a:off x="457200" y="205979"/>
            <a:ext cx="7467600" cy="565571"/>
          </a:xfrm>
        </p:spPr>
        <p:txBody>
          <a:bodyPr>
            <a:noAutofit/>
          </a:bodyPr>
          <a:lstStyle/>
          <a:p>
            <a:r>
              <a:rPr lang="en-US" sz="2600" b="1" dirty="0">
                <a:solidFill>
                  <a:schemeClr val="accent1">
                    <a:lumMod val="75000"/>
                  </a:schemeClr>
                </a:solidFill>
              </a:rPr>
              <a:t> Raw Data VS Processed Data</a:t>
            </a:r>
            <a:endParaRPr lang="en-IN" sz="2600" dirty="0">
              <a:solidFill>
                <a:schemeClr val="accent1">
                  <a:lumMod val="75000"/>
                </a:schemeClr>
              </a:solidFill>
            </a:endParaRPr>
          </a:p>
        </p:txBody>
      </p:sp>
      <p:graphicFrame>
        <p:nvGraphicFramePr>
          <p:cNvPr id="6" name="Content Placeholder 5">
            <a:extLst>
              <a:ext uri="{FF2B5EF4-FFF2-40B4-BE49-F238E27FC236}">
                <a16:creationId xmlns:a16="http://schemas.microsoft.com/office/drawing/2014/main" id="{1660CF9D-60BE-46C7-AF0D-DCFC0B94EC99}"/>
              </a:ext>
            </a:extLst>
          </p:cNvPr>
          <p:cNvGraphicFramePr>
            <a:graphicFrameLocks noGrp="1"/>
          </p:cNvGraphicFramePr>
          <p:nvPr>
            <p:ph sz="quarter" idx="1"/>
            <p:extLst>
              <p:ext uri="{D42A27DB-BD31-4B8C-83A1-F6EECF244321}">
                <p14:modId xmlns:p14="http://schemas.microsoft.com/office/powerpoint/2010/main" val="2723983322"/>
              </p:ext>
            </p:extLst>
          </p:nvPr>
        </p:nvGraphicFramePr>
        <p:xfrm>
          <a:off x="323528" y="909081"/>
          <a:ext cx="7920880" cy="4028440"/>
        </p:xfrm>
        <a:graphic>
          <a:graphicData uri="http://schemas.openxmlformats.org/drawingml/2006/table">
            <a:tbl>
              <a:tblPr firstRow="1" bandRow="1">
                <a:tableStyleId>{5C22544A-7EE6-4342-B048-85BDC9FD1C3A}</a:tableStyleId>
              </a:tblPr>
              <a:tblGrid>
                <a:gridCol w="1019519">
                  <a:extLst>
                    <a:ext uri="{9D8B030D-6E8A-4147-A177-3AD203B41FA5}">
                      <a16:colId xmlns:a16="http://schemas.microsoft.com/office/drawing/2014/main" val="3634208083"/>
                    </a:ext>
                  </a:extLst>
                </a:gridCol>
                <a:gridCol w="3607530">
                  <a:extLst>
                    <a:ext uri="{9D8B030D-6E8A-4147-A177-3AD203B41FA5}">
                      <a16:colId xmlns:a16="http://schemas.microsoft.com/office/drawing/2014/main" val="42465023"/>
                    </a:ext>
                  </a:extLst>
                </a:gridCol>
                <a:gridCol w="3293831">
                  <a:extLst>
                    <a:ext uri="{9D8B030D-6E8A-4147-A177-3AD203B41FA5}">
                      <a16:colId xmlns:a16="http://schemas.microsoft.com/office/drawing/2014/main" val="1766698875"/>
                    </a:ext>
                  </a:extLst>
                </a:gridCol>
              </a:tblGrid>
              <a:tr h="370840">
                <a:tc>
                  <a:txBody>
                    <a:bodyPr/>
                    <a:lstStyle/>
                    <a:p>
                      <a:pPr algn="ctr"/>
                      <a:r>
                        <a:rPr lang="en-IN" sz="1400" dirty="0">
                          <a:solidFill>
                            <a:schemeClr val="tx1"/>
                          </a:solidFill>
                          <a:latin typeface="Times New Roman" panose="02020603050405020304" pitchFamily="18" charset="0"/>
                          <a:cs typeface="Times New Roman" panose="02020603050405020304" pitchFamily="18" charset="0"/>
                        </a:rPr>
                        <a:t>Feature</a:t>
                      </a:r>
                    </a:p>
                  </a:txBody>
                  <a:tcPr anchor="ctr"/>
                </a:tc>
                <a:tc>
                  <a:txBody>
                    <a:bodyPr/>
                    <a:lstStyle/>
                    <a:p>
                      <a:pPr algn="ctr"/>
                      <a:r>
                        <a:rPr lang="en-IN" sz="1400" b="1" dirty="0">
                          <a:solidFill>
                            <a:schemeClr val="tx1"/>
                          </a:solidFill>
                          <a:latin typeface="Times New Roman" panose="02020603050405020304" pitchFamily="18" charset="0"/>
                          <a:cs typeface="Times New Roman" panose="02020603050405020304" pitchFamily="18" charset="0"/>
                        </a:rPr>
                        <a:t>Raw Data</a:t>
                      </a:r>
                      <a:endParaRPr lang="en-IN" sz="14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r>
                        <a:rPr lang="en-IN" sz="1400" b="1" dirty="0">
                          <a:solidFill>
                            <a:schemeClr val="tx1"/>
                          </a:solidFill>
                          <a:latin typeface="Times New Roman" panose="02020603050405020304" pitchFamily="18" charset="0"/>
                          <a:cs typeface="Times New Roman" panose="02020603050405020304" pitchFamily="18" charset="0"/>
                        </a:rPr>
                        <a:t>Processed Data</a:t>
                      </a:r>
                      <a:endParaRPr lang="en-IN" sz="140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275894184"/>
                  </a:ext>
                </a:extLst>
              </a:tr>
              <a:tr h="370840">
                <a:tc>
                  <a:txBody>
                    <a:bodyPr/>
                    <a:lstStyle/>
                    <a:p>
                      <a:pPr algn="ctr"/>
                      <a:r>
                        <a:rPr lang="en-IN" sz="1400" b="1" dirty="0">
                          <a:solidFill>
                            <a:schemeClr val="tx1"/>
                          </a:solidFill>
                          <a:latin typeface="Times New Roman" panose="02020603050405020304" pitchFamily="18" charset="0"/>
                          <a:cs typeface="Times New Roman" panose="02020603050405020304" pitchFamily="18" charset="0"/>
                        </a:rPr>
                        <a:t>Nature of Data</a:t>
                      </a:r>
                      <a:endParaRPr lang="en-IN" sz="14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r>
                        <a:rPr lang="en-US" sz="1400" dirty="0">
                          <a:solidFill>
                            <a:schemeClr val="tx1"/>
                          </a:solidFill>
                          <a:latin typeface="Times New Roman" panose="02020603050405020304" pitchFamily="18" charset="0"/>
                          <a:cs typeface="Times New Roman" panose="02020603050405020304" pitchFamily="18" charset="0"/>
                        </a:rPr>
                        <a:t>Represents the </a:t>
                      </a:r>
                      <a:r>
                        <a:rPr lang="en-US" sz="1400" b="1" dirty="0">
                          <a:solidFill>
                            <a:schemeClr val="tx1"/>
                          </a:solidFill>
                          <a:latin typeface="Times New Roman" panose="02020603050405020304" pitchFamily="18" charset="0"/>
                          <a:cs typeface="Times New Roman" panose="02020603050405020304" pitchFamily="18" charset="0"/>
                        </a:rPr>
                        <a:t>original, unaltered information</a:t>
                      </a:r>
                      <a:r>
                        <a:rPr lang="en-US" sz="1400" dirty="0">
                          <a:solidFill>
                            <a:schemeClr val="tx1"/>
                          </a:solidFill>
                          <a:latin typeface="Times New Roman" panose="02020603050405020304" pitchFamily="18" charset="0"/>
                          <a:cs typeface="Times New Roman" panose="02020603050405020304" pitchFamily="18" charset="0"/>
                        </a:rPr>
                        <a:t> collected directly from various sources without modification.</a:t>
                      </a:r>
                    </a:p>
                  </a:txBody>
                  <a:tcPr anchor="ctr"/>
                </a:tc>
                <a:tc>
                  <a:txBody>
                    <a:bodyPr/>
                    <a:lstStyle/>
                    <a:p>
                      <a:r>
                        <a:rPr lang="en-US" sz="1400">
                          <a:solidFill>
                            <a:schemeClr val="tx1"/>
                          </a:solidFill>
                          <a:latin typeface="Times New Roman" panose="02020603050405020304" pitchFamily="18" charset="0"/>
                          <a:cs typeface="Times New Roman" panose="02020603050405020304" pitchFamily="18" charset="0"/>
                        </a:rPr>
                        <a:t>Represents </a:t>
                      </a:r>
                      <a:r>
                        <a:rPr lang="en-US" sz="1400" b="1">
                          <a:solidFill>
                            <a:schemeClr val="tx1"/>
                          </a:solidFill>
                          <a:latin typeface="Times New Roman" panose="02020603050405020304" pitchFamily="18" charset="0"/>
                          <a:cs typeface="Times New Roman" panose="02020603050405020304" pitchFamily="18" charset="0"/>
                        </a:rPr>
                        <a:t>refined information</a:t>
                      </a:r>
                      <a:r>
                        <a:rPr lang="en-US" sz="1400">
                          <a:solidFill>
                            <a:schemeClr val="tx1"/>
                          </a:solidFill>
                          <a:latin typeface="Times New Roman" panose="02020603050405020304" pitchFamily="18" charset="0"/>
                          <a:cs typeface="Times New Roman" panose="02020603050405020304" pitchFamily="18" charset="0"/>
                        </a:rPr>
                        <a:t> that has been systematically transformed and analyzed for usability.</a:t>
                      </a:r>
                    </a:p>
                  </a:txBody>
                  <a:tcPr anchor="ctr"/>
                </a:tc>
                <a:extLst>
                  <a:ext uri="{0D108BD9-81ED-4DB2-BD59-A6C34878D82A}">
                    <a16:rowId xmlns:a16="http://schemas.microsoft.com/office/drawing/2014/main" val="794117481"/>
                  </a:ext>
                </a:extLst>
              </a:tr>
              <a:tr h="370840">
                <a:tc>
                  <a:txBody>
                    <a:bodyPr/>
                    <a:lstStyle/>
                    <a:p>
                      <a:pPr algn="ctr"/>
                      <a:r>
                        <a:rPr lang="en-IN" sz="1400" b="1" dirty="0">
                          <a:solidFill>
                            <a:schemeClr val="tx1"/>
                          </a:solidFill>
                          <a:latin typeface="Times New Roman" panose="02020603050405020304" pitchFamily="18" charset="0"/>
                          <a:cs typeface="Times New Roman" panose="02020603050405020304" pitchFamily="18" charset="0"/>
                        </a:rPr>
                        <a:t>Quality &amp; Usability</a:t>
                      </a:r>
                      <a:endParaRPr lang="en-IN" sz="14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r>
                        <a:rPr lang="en-US" sz="1400" dirty="0">
                          <a:solidFill>
                            <a:schemeClr val="tx1"/>
                          </a:solidFill>
                          <a:latin typeface="Times New Roman" panose="02020603050405020304" pitchFamily="18" charset="0"/>
                          <a:cs typeface="Times New Roman" panose="02020603050405020304" pitchFamily="18" charset="0"/>
                        </a:rPr>
                        <a:t>Usually </a:t>
                      </a:r>
                      <a:r>
                        <a:rPr lang="en-US" sz="1400" b="1" dirty="0">
                          <a:solidFill>
                            <a:schemeClr val="tx1"/>
                          </a:solidFill>
                          <a:latin typeface="Times New Roman" panose="02020603050405020304" pitchFamily="18" charset="0"/>
                          <a:cs typeface="Times New Roman" panose="02020603050405020304" pitchFamily="18" charset="0"/>
                        </a:rPr>
                        <a:t>messy and inconsistent</a:t>
                      </a:r>
                      <a:r>
                        <a:rPr lang="en-US" sz="1400" dirty="0">
                          <a:solidFill>
                            <a:schemeClr val="tx1"/>
                          </a:solidFill>
                          <a:latin typeface="Times New Roman" panose="02020603050405020304" pitchFamily="18" charset="0"/>
                          <a:cs typeface="Times New Roman" panose="02020603050405020304" pitchFamily="18" charset="0"/>
                        </a:rPr>
                        <a:t>, containing noise that makes it difficult to use for direct business tasks.</a:t>
                      </a:r>
                    </a:p>
                  </a:txBody>
                  <a:tcPr anchor="ctr"/>
                </a:tc>
                <a:tc>
                  <a:txBody>
                    <a:bodyPr/>
                    <a:lstStyle/>
                    <a:p>
                      <a:r>
                        <a:rPr lang="en-US" sz="1400">
                          <a:solidFill>
                            <a:schemeClr val="tx1"/>
                          </a:solidFill>
                          <a:latin typeface="Times New Roman" panose="02020603050405020304" pitchFamily="18" charset="0"/>
                          <a:cs typeface="Times New Roman" panose="02020603050405020304" pitchFamily="18" charset="0"/>
                        </a:rPr>
                        <a:t>Defined as </a:t>
                      </a:r>
                      <a:r>
                        <a:rPr lang="en-US" sz="1400" b="1">
                          <a:solidFill>
                            <a:schemeClr val="tx1"/>
                          </a:solidFill>
                          <a:latin typeface="Times New Roman" panose="02020603050405020304" pitchFamily="18" charset="0"/>
                          <a:cs typeface="Times New Roman" panose="02020603050405020304" pitchFamily="18" charset="0"/>
                        </a:rPr>
                        <a:t>clean and organized</a:t>
                      </a:r>
                      <a:r>
                        <a:rPr lang="en-US" sz="1400">
                          <a:solidFill>
                            <a:schemeClr val="tx1"/>
                          </a:solidFill>
                          <a:latin typeface="Times New Roman" panose="02020603050405020304" pitchFamily="18" charset="0"/>
                          <a:cs typeface="Times New Roman" panose="02020603050405020304" pitchFamily="18" charset="0"/>
                        </a:rPr>
                        <a:t>, ensuring the information is ready for immediate analysis and reporting.</a:t>
                      </a:r>
                    </a:p>
                  </a:txBody>
                  <a:tcPr anchor="ctr"/>
                </a:tc>
                <a:extLst>
                  <a:ext uri="{0D108BD9-81ED-4DB2-BD59-A6C34878D82A}">
                    <a16:rowId xmlns:a16="http://schemas.microsoft.com/office/drawing/2014/main" val="1076593469"/>
                  </a:ext>
                </a:extLst>
              </a:tr>
              <a:tr h="370840">
                <a:tc>
                  <a:txBody>
                    <a:bodyPr/>
                    <a:lstStyle/>
                    <a:p>
                      <a:pPr algn="ctr"/>
                      <a:r>
                        <a:rPr lang="en-IN" sz="1400" b="1" dirty="0">
                          <a:solidFill>
                            <a:schemeClr val="tx1"/>
                          </a:solidFill>
                          <a:latin typeface="Times New Roman" panose="02020603050405020304" pitchFamily="18" charset="0"/>
                          <a:cs typeface="Times New Roman" panose="02020603050405020304" pitchFamily="18" charset="0"/>
                        </a:rPr>
                        <a:t>Analysis Readiness</a:t>
                      </a:r>
                      <a:endParaRPr lang="en-IN" sz="14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r>
                        <a:rPr lang="en-US" sz="1400" dirty="0">
                          <a:solidFill>
                            <a:schemeClr val="tx1"/>
                          </a:solidFill>
                          <a:latin typeface="Times New Roman" panose="02020603050405020304" pitchFamily="18" charset="0"/>
                          <a:cs typeface="Times New Roman" panose="02020603050405020304" pitchFamily="18" charset="0"/>
                        </a:rPr>
                        <a:t>Requires </a:t>
                      </a:r>
                      <a:r>
                        <a:rPr lang="en-US" sz="1400" b="1" dirty="0">
                          <a:solidFill>
                            <a:schemeClr val="tx1"/>
                          </a:solidFill>
                          <a:latin typeface="Times New Roman" panose="02020603050405020304" pitchFamily="18" charset="0"/>
                          <a:cs typeface="Times New Roman" panose="02020603050405020304" pitchFamily="18" charset="0"/>
                        </a:rPr>
                        <a:t>extensive preparation and cleaning</a:t>
                      </a:r>
                      <a:r>
                        <a:rPr lang="en-US" sz="1400" dirty="0">
                          <a:solidFill>
                            <a:schemeClr val="tx1"/>
                          </a:solidFill>
                          <a:latin typeface="Times New Roman" panose="02020603050405020304" pitchFamily="18" charset="0"/>
                          <a:cs typeface="Times New Roman" panose="02020603050405020304" pitchFamily="18" charset="0"/>
                        </a:rPr>
                        <a:t> before any meaningful interpretation or calculation can occur.</a:t>
                      </a:r>
                    </a:p>
                  </a:txBody>
                  <a:tcPr anchor="ctr"/>
                </a:tc>
                <a:tc>
                  <a:txBody>
                    <a:bodyPr/>
                    <a:lstStyle/>
                    <a:p>
                      <a:r>
                        <a:rPr lang="en-US" sz="1400" dirty="0">
                          <a:solidFill>
                            <a:schemeClr val="tx1"/>
                          </a:solidFill>
                          <a:latin typeface="Times New Roman" panose="02020603050405020304" pitchFamily="18" charset="0"/>
                          <a:cs typeface="Times New Roman" panose="02020603050405020304" pitchFamily="18" charset="0"/>
                        </a:rPr>
                        <a:t>Engineered to be </a:t>
                      </a:r>
                      <a:r>
                        <a:rPr lang="en-US" sz="1400" b="1" dirty="0">
                          <a:solidFill>
                            <a:schemeClr val="tx1"/>
                          </a:solidFill>
                          <a:latin typeface="Times New Roman" panose="02020603050405020304" pitchFamily="18" charset="0"/>
                          <a:cs typeface="Times New Roman" panose="02020603050405020304" pitchFamily="18" charset="0"/>
                        </a:rPr>
                        <a:t>immediately usable</a:t>
                      </a:r>
                      <a:r>
                        <a:rPr lang="en-US" sz="1400" dirty="0">
                          <a:solidFill>
                            <a:schemeClr val="tx1"/>
                          </a:solidFill>
                          <a:latin typeface="Times New Roman" panose="02020603050405020304" pitchFamily="18" charset="0"/>
                          <a:cs typeface="Times New Roman" panose="02020603050405020304" pitchFamily="18" charset="0"/>
                        </a:rPr>
                        <a:t> for high-level statistical modeling and strategic decision-making.</a:t>
                      </a:r>
                    </a:p>
                  </a:txBody>
                  <a:tcPr anchor="ctr"/>
                </a:tc>
                <a:extLst>
                  <a:ext uri="{0D108BD9-81ED-4DB2-BD59-A6C34878D82A}">
                    <a16:rowId xmlns:a16="http://schemas.microsoft.com/office/drawing/2014/main" val="3917695072"/>
                  </a:ext>
                </a:extLst>
              </a:tr>
              <a:tr h="370840">
                <a:tc>
                  <a:txBody>
                    <a:bodyPr/>
                    <a:lstStyle/>
                    <a:p>
                      <a:pPr algn="ctr"/>
                      <a:r>
                        <a:rPr lang="en-IN" sz="1400" b="1" dirty="0">
                          <a:solidFill>
                            <a:schemeClr val="tx1"/>
                          </a:solidFill>
                          <a:latin typeface="Times New Roman" panose="02020603050405020304" pitchFamily="18" charset="0"/>
                          <a:cs typeface="Times New Roman" panose="02020603050405020304" pitchFamily="18" charset="0"/>
                        </a:rPr>
                        <a:t>Data Volume</a:t>
                      </a:r>
                      <a:endParaRPr lang="en-IN" sz="14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r>
                        <a:rPr lang="en-US" sz="1400" dirty="0">
                          <a:solidFill>
                            <a:schemeClr val="tx1"/>
                          </a:solidFill>
                          <a:latin typeface="Times New Roman" panose="02020603050405020304" pitchFamily="18" charset="0"/>
                          <a:cs typeface="Times New Roman" panose="02020603050405020304" pitchFamily="18" charset="0"/>
                        </a:rPr>
                        <a:t>Typically consists of </a:t>
                      </a:r>
                      <a:r>
                        <a:rPr lang="en-US" sz="1400" b="1" dirty="0">
                          <a:solidFill>
                            <a:schemeClr val="tx1"/>
                          </a:solidFill>
                          <a:latin typeface="Times New Roman" panose="02020603050405020304" pitchFamily="18" charset="0"/>
                          <a:cs typeface="Times New Roman" panose="02020603050405020304" pitchFamily="18" charset="0"/>
                        </a:rPr>
                        <a:t>massive, unrefined volumes</a:t>
                      </a:r>
                      <a:r>
                        <a:rPr lang="en-US" sz="1400" dirty="0">
                          <a:solidFill>
                            <a:schemeClr val="tx1"/>
                          </a:solidFill>
                          <a:latin typeface="Times New Roman" panose="02020603050405020304" pitchFamily="18" charset="0"/>
                          <a:cs typeface="Times New Roman" panose="02020603050405020304" pitchFamily="18" charset="0"/>
                        </a:rPr>
                        <a:t> that can be overwhelming to store and manage effectively.</a:t>
                      </a:r>
                    </a:p>
                  </a:txBody>
                  <a:tcPr anchor="ctr"/>
                </a:tc>
                <a:tc>
                  <a:txBody>
                    <a:bodyPr/>
                    <a:lstStyle/>
                    <a:p>
                      <a:r>
                        <a:rPr lang="en-US" sz="1400">
                          <a:solidFill>
                            <a:schemeClr val="tx1"/>
                          </a:solidFill>
                          <a:latin typeface="Times New Roman" panose="02020603050405020304" pitchFamily="18" charset="0"/>
                          <a:cs typeface="Times New Roman" panose="02020603050405020304" pitchFamily="18" charset="0"/>
                        </a:rPr>
                        <a:t>Features a </a:t>
                      </a:r>
                      <a:r>
                        <a:rPr lang="en-US" sz="1400" b="1">
                          <a:solidFill>
                            <a:schemeClr val="tx1"/>
                          </a:solidFill>
                          <a:latin typeface="Times New Roman" panose="02020603050405020304" pitchFamily="18" charset="0"/>
                          <a:cs typeface="Times New Roman" panose="02020603050405020304" pitchFamily="18" charset="0"/>
                        </a:rPr>
                        <a:t>streamlined and reduced volume</a:t>
                      </a:r>
                      <a:r>
                        <a:rPr lang="en-US" sz="1400">
                          <a:solidFill>
                            <a:schemeClr val="tx1"/>
                          </a:solidFill>
                          <a:latin typeface="Times New Roman" panose="02020603050405020304" pitchFamily="18" charset="0"/>
                          <a:cs typeface="Times New Roman" panose="02020603050405020304" pitchFamily="18" charset="0"/>
                        </a:rPr>
                        <a:t> through the use of filtering, deduplication, and aggregation.</a:t>
                      </a:r>
                    </a:p>
                  </a:txBody>
                  <a:tcPr anchor="ctr"/>
                </a:tc>
                <a:extLst>
                  <a:ext uri="{0D108BD9-81ED-4DB2-BD59-A6C34878D82A}">
                    <a16:rowId xmlns:a16="http://schemas.microsoft.com/office/drawing/2014/main" val="3294907115"/>
                  </a:ext>
                </a:extLst>
              </a:tr>
              <a:tr h="370840">
                <a:tc>
                  <a:txBody>
                    <a:bodyPr/>
                    <a:lstStyle/>
                    <a:p>
                      <a:pPr algn="ctr"/>
                      <a:r>
                        <a:rPr lang="en-IN" sz="1400" b="1" dirty="0">
                          <a:solidFill>
                            <a:schemeClr val="tx1"/>
                          </a:solidFill>
                          <a:latin typeface="Times New Roman" panose="02020603050405020304" pitchFamily="18" charset="0"/>
                          <a:cs typeface="Times New Roman" panose="02020603050405020304" pitchFamily="18" charset="0"/>
                        </a:rPr>
                        <a:t>Actionable Insights</a:t>
                      </a:r>
                      <a:endParaRPr lang="en-IN" sz="14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r>
                        <a:rPr lang="en-US" sz="1400">
                          <a:solidFill>
                            <a:schemeClr val="tx1"/>
                          </a:solidFill>
                          <a:latin typeface="Times New Roman" panose="02020603050405020304" pitchFamily="18" charset="0"/>
                          <a:cs typeface="Times New Roman" panose="02020603050405020304" pitchFamily="18" charset="0"/>
                        </a:rPr>
                        <a:t>Provides </a:t>
                      </a:r>
                      <a:r>
                        <a:rPr lang="en-US" sz="1400" b="1">
                          <a:solidFill>
                            <a:schemeClr val="tx1"/>
                          </a:solidFill>
                          <a:latin typeface="Times New Roman" panose="02020603050405020304" pitchFamily="18" charset="0"/>
                          <a:cs typeface="Times New Roman" panose="02020603050405020304" pitchFamily="18" charset="0"/>
                        </a:rPr>
                        <a:t>little to no immediate insight</a:t>
                      </a:r>
                      <a:r>
                        <a:rPr lang="en-US" sz="1400">
                          <a:solidFill>
                            <a:schemeClr val="tx1"/>
                          </a:solidFill>
                          <a:latin typeface="Times New Roman" panose="02020603050405020304" pitchFamily="18" charset="0"/>
                          <a:cs typeface="Times New Roman" panose="02020603050405020304" pitchFamily="18" charset="0"/>
                        </a:rPr>
                        <a:t>, as the data lacks the context needed to guide business strategies.</a:t>
                      </a:r>
                    </a:p>
                  </a:txBody>
                  <a:tcPr anchor="ctr"/>
                </a:tc>
                <a:tc>
                  <a:txBody>
                    <a:bodyPr/>
                    <a:lstStyle/>
                    <a:p>
                      <a:r>
                        <a:rPr lang="en-US" sz="1400" dirty="0">
                          <a:solidFill>
                            <a:schemeClr val="tx1"/>
                          </a:solidFill>
                          <a:latin typeface="Times New Roman" panose="02020603050405020304" pitchFamily="18" charset="0"/>
                          <a:cs typeface="Times New Roman" panose="02020603050405020304" pitchFamily="18" charset="0"/>
                        </a:rPr>
                        <a:t>Offers </a:t>
                      </a:r>
                      <a:r>
                        <a:rPr lang="en-US" sz="1400" b="1" dirty="0">
                          <a:solidFill>
                            <a:schemeClr val="tx1"/>
                          </a:solidFill>
                          <a:latin typeface="Times New Roman" panose="02020603050405020304" pitchFamily="18" charset="0"/>
                          <a:cs typeface="Times New Roman" panose="02020603050405020304" pitchFamily="18" charset="0"/>
                        </a:rPr>
                        <a:t>valuable trends and patterns</a:t>
                      </a:r>
                      <a:r>
                        <a:rPr lang="en-US" sz="1400" dirty="0">
                          <a:solidFill>
                            <a:schemeClr val="tx1"/>
                          </a:solidFill>
                          <a:latin typeface="Times New Roman" panose="02020603050405020304" pitchFamily="18" charset="0"/>
                          <a:cs typeface="Times New Roman" panose="02020603050405020304" pitchFamily="18" charset="0"/>
                        </a:rPr>
                        <a:t> that serve as a clear foundation for making informed, data-driven decisions.</a:t>
                      </a:r>
                    </a:p>
                  </a:txBody>
                  <a:tcPr anchor="ctr"/>
                </a:tc>
                <a:extLst>
                  <a:ext uri="{0D108BD9-81ED-4DB2-BD59-A6C34878D82A}">
                    <a16:rowId xmlns:a16="http://schemas.microsoft.com/office/drawing/2014/main" val="3201600373"/>
                  </a:ext>
                </a:extLst>
              </a:tr>
            </a:tbl>
          </a:graphicData>
        </a:graphic>
      </p:graphicFrame>
    </p:spTree>
    <p:extLst>
      <p:ext uri="{BB962C8B-B14F-4D97-AF65-F5344CB8AC3E}">
        <p14:creationId xmlns:p14="http://schemas.microsoft.com/office/powerpoint/2010/main" val="238041047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74A37-A0BA-4008-ABA8-47D93CF05277}"/>
              </a:ext>
            </a:extLst>
          </p:cNvPr>
          <p:cNvSpPr>
            <a:spLocks noGrp="1"/>
          </p:cNvSpPr>
          <p:nvPr>
            <p:ph type="title"/>
          </p:nvPr>
        </p:nvSpPr>
        <p:spPr>
          <a:xfrm>
            <a:off x="457200" y="302395"/>
            <a:ext cx="7467600" cy="613171"/>
          </a:xfrm>
        </p:spPr>
        <p:txBody>
          <a:bodyPr>
            <a:normAutofit/>
          </a:bodyPr>
          <a:lstStyle/>
          <a:p>
            <a:r>
              <a:rPr lang="en-US" sz="2600" b="1" dirty="0">
                <a:solidFill>
                  <a:schemeClr val="accent1">
                    <a:lumMod val="75000"/>
                  </a:schemeClr>
                </a:solidFill>
                <a:cs typeface="Times New Roman" panose="02020603050405020304" pitchFamily="18" charset="0"/>
              </a:rPr>
              <a:t>The Importance of Processing Data</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66EE6DD4-1527-433E-A2CB-27E99892D738}"/>
              </a:ext>
            </a:extLst>
          </p:cNvPr>
          <p:cNvSpPr>
            <a:spLocks noGrp="1"/>
          </p:cNvSpPr>
          <p:nvPr>
            <p:ph sz="quarter" idx="1"/>
          </p:nvPr>
        </p:nvSpPr>
        <p:spPr>
          <a:xfrm>
            <a:off x="457200" y="1047750"/>
            <a:ext cx="7620000" cy="3807714"/>
          </a:xfrm>
        </p:spPr>
        <p:txBody>
          <a:bodyPr>
            <a:normAutofit/>
          </a:bodyPr>
          <a:lstStyle/>
          <a:p>
            <a:pPr>
              <a:spcAft>
                <a:spcPts val="1200"/>
              </a:spcAft>
              <a:buSzPct val="100000"/>
              <a:buFont typeface="Wingdings" panose="05000000000000000000" pitchFamily="2" charset="2"/>
              <a:buChar char=""/>
            </a:pPr>
            <a:r>
              <a:rPr lang="en-US" sz="1400" b="1" dirty="0">
                <a:cs typeface="Times New Roman" panose="02020603050405020304" pitchFamily="18" charset="0"/>
              </a:rPr>
              <a:t>Enhancing Data Quality:</a:t>
            </a:r>
            <a:r>
              <a:rPr lang="en-US" sz="1400" dirty="0">
                <a:cs typeface="Times New Roman" panose="02020603050405020304" pitchFamily="18" charset="0"/>
              </a:rPr>
              <a:t> Processing is the first line of defense against misinformation; it identifies and corrects errors, ensuring that the data used for analysis is both accurate and reliable.</a:t>
            </a:r>
          </a:p>
          <a:p>
            <a:pPr>
              <a:spcAft>
                <a:spcPts val="1200"/>
              </a:spcAft>
              <a:buSzPct val="100000"/>
              <a:buFont typeface="Wingdings" panose="05000000000000000000" pitchFamily="2" charset="2"/>
              <a:buChar char=""/>
            </a:pPr>
            <a:r>
              <a:rPr lang="en-US" sz="1400" b="1" dirty="0">
                <a:cs typeface="Times New Roman" panose="02020603050405020304" pitchFamily="18" charset="0"/>
              </a:rPr>
              <a:t>Improving Operational Efficiency:</a:t>
            </a:r>
            <a:r>
              <a:rPr lang="en-US" sz="1400" dirty="0">
                <a:cs typeface="Times New Roman" panose="02020603050405020304" pitchFamily="18" charset="0"/>
              </a:rPr>
              <a:t> Working with cleaned and organized data drastically reduces the time spent on manual preparation, allowing for faster reporting and a more efficient use of organizational resources.</a:t>
            </a:r>
          </a:p>
          <a:p>
            <a:pPr>
              <a:spcAft>
                <a:spcPts val="1200"/>
              </a:spcAft>
              <a:buSzPct val="100000"/>
              <a:buFont typeface="Wingdings" panose="05000000000000000000" pitchFamily="2" charset="2"/>
              <a:buChar char=""/>
            </a:pPr>
            <a:r>
              <a:rPr lang="en-US" sz="1400" b="1" dirty="0">
                <a:cs typeface="Times New Roman" panose="02020603050405020304" pitchFamily="18" charset="0"/>
              </a:rPr>
              <a:t>Facilitating Strategic Decision-Making:</a:t>
            </a:r>
            <a:r>
              <a:rPr lang="en-US" sz="1400" dirty="0">
                <a:cs typeface="Times New Roman" panose="02020603050405020304" pitchFamily="18" charset="0"/>
              </a:rPr>
              <a:t> By turning raw facts into actionable insights, processed data enables leaders to respond effectively to market trends and internal changes with confidence.</a:t>
            </a:r>
          </a:p>
          <a:p>
            <a:pPr lvl="0" eaLnBrk="0" fontAlgn="base" hangingPunct="0">
              <a:spcAft>
                <a:spcPts val="1200"/>
              </a:spcAft>
              <a:buSzTx/>
              <a:buFont typeface="Wingdings" panose="05000000000000000000" pitchFamily="2" charset="2"/>
              <a:buChar char=""/>
            </a:pPr>
            <a:r>
              <a:rPr lang="en-US" altLang="en-US" sz="1400" b="1" dirty="0">
                <a:cs typeface="Times New Roman" panose="02020603050405020304" pitchFamily="18" charset="0"/>
              </a:rPr>
              <a:t>Ensuring Compliance and Regulatory Reporting:</a:t>
            </a:r>
            <a:r>
              <a:rPr lang="en-US" altLang="en-US" sz="1400" dirty="0">
                <a:cs typeface="Times New Roman" panose="02020603050405020304" pitchFamily="18" charset="0"/>
              </a:rPr>
              <a:t> In many highly regulated industries, using processed and verified data is a legal requirement for compliance audits and official financial reporting.</a:t>
            </a:r>
          </a:p>
          <a:p>
            <a:pPr lvl="0" eaLnBrk="0" fontAlgn="base" hangingPunct="0">
              <a:spcAft>
                <a:spcPts val="1200"/>
              </a:spcAft>
              <a:buSzTx/>
              <a:buFont typeface="Wingdings" panose="05000000000000000000" pitchFamily="2" charset="2"/>
              <a:buChar char=""/>
            </a:pPr>
            <a:r>
              <a:rPr lang="en-US" altLang="en-US" sz="1400" b="1" dirty="0">
                <a:cs typeface="Times New Roman" panose="02020603050405020304" pitchFamily="18" charset="0"/>
              </a:rPr>
              <a:t>Enabling Seamless Data Integration:</a:t>
            </a:r>
            <a:r>
              <a:rPr lang="en-US" altLang="en-US" sz="1400" dirty="0">
                <a:cs typeface="Times New Roman" panose="02020603050405020304" pitchFamily="18" charset="0"/>
              </a:rPr>
              <a:t> Processing allows for the merging of information from various disparate sources, creating a unified and comprehensive view of all available data for deeper analysis.</a:t>
            </a:r>
          </a:p>
        </p:txBody>
      </p:sp>
    </p:spTree>
    <p:extLst>
      <p:ext uri="{BB962C8B-B14F-4D97-AF65-F5344CB8AC3E}">
        <p14:creationId xmlns:p14="http://schemas.microsoft.com/office/powerpoint/2010/main" val="57493533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4F92B-26C0-4870-8054-75B333697F25}"/>
              </a:ext>
            </a:extLst>
          </p:cNvPr>
          <p:cNvSpPr>
            <a:spLocks noGrp="1"/>
          </p:cNvSpPr>
          <p:nvPr>
            <p:ph type="title"/>
          </p:nvPr>
        </p:nvSpPr>
        <p:spPr>
          <a:xfrm>
            <a:off x="457200" y="134838"/>
            <a:ext cx="7467600" cy="536971"/>
          </a:xfrm>
        </p:spPr>
        <p:txBody>
          <a:bodyPr>
            <a:normAutofit/>
          </a:bodyPr>
          <a:lstStyle/>
          <a:p>
            <a:r>
              <a:rPr lang="en-US" sz="2600" b="1" dirty="0">
                <a:solidFill>
                  <a:schemeClr val="accent1">
                    <a:lumMod val="75000"/>
                  </a:schemeClr>
                </a:solidFill>
              </a:rPr>
              <a:t>Transforming Information into Knowledge</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85930918-DE91-45BD-9106-901CE8E600F5}"/>
              </a:ext>
            </a:extLst>
          </p:cNvPr>
          <p:cNvSpPr>
            <a:spLocks noGrp="1"/>
          </p:cNvSpPr>
          <p:nvPr>
            <p:ph sz="quarter" idx="1"/>
          </p:nvPr>
        </p:nvSpPr>
        <p:spPr>
          <a:xfrm>
            <a:off x="457200" y="671809"/>
            <a:ext cx="7467600" cy="4492229"/>
          </a:xfrm>
        </p:spPr>
        <p:txBody>
          <a:bodyPr>
            <a:normAutofit lnSpcReduction="10000"/>
          </a:bodyPr>
          <a:lstStyle/>
          <a:p>
            <a:pPr marL="0" indent="0">
              <a:lnSpc>
                <a:spcPct val="110000"/>
              </a:lnSpc>
              <a:spcBef>
                <a:spcPts val="0"/>
              </a:spcBef>
              <a:spcAft>
                <a:spcPts val="600"/>
              </a:spcAft>
              <a:buSzPct val="100000"/>
              <a:buNone/>
            </a:pPr>
            <a:r>
              <a:rPr lang="en-US" sz="1400" dirty="0"/>
              <a:t>The journey from raw data to organizational intelligence requires a structured, long-term program. These core pillars define the essential steps for a successful transformation:</a:t>
            </a:r>
          </a:p>
          <a:p>
            <a:pPr>
              <a:lnSpc>
                <a:spcPct val="110000"/>
              </a:lnSpc>
              <a:spcBef>
                <a:spcPts val="0"/>
              </a:spcBef>
              <a:spcAft>
                <a:spcPts val="600"/>
              </a:spcAft>
              <a:buSzPct val="100000"/>
              <a:buFont typeface="Wingdings" panose="05000000000000000000" pitchFamily="2" charset="2"/>
              <a:buChar char="¢"/>
            </a:pPr>
            <a:r>
              <a:rPr lang="en-US" sz="1400" b="1" dirty="0"/>
              <a:t>Target Specific Processes:</a:t>
            </a:r>
            <a:r>
              <a:rPr lang="en-US" sz="1400" dirty="0"/>
              <a:t> Avoid overextending by starting with a few high-impact, business-critical processes. This allows for measurable success before scaling across the entire enterprise.</a:t>
            </a:r>
          </a:p>
          <a:p>
            <a:pPr>
              <a:lnSpc>
                <a:spcPct val="110000"/>
              </a:lnSpc>
              <a:spcBef>
                <a:spcPts val="0"/>
              </a:spcBef>
              <a:spcAft>
                <a:spcPts val="600"/>
              </a:spcAft>
              <a:buSzPct val="100000"/>
              <a:buFont typeface="Wingdings" panose="05000000000000000000" pitchFamily="2" charset="2"/>
              <a:buChar char=""/>
            </a:pPr>
            <a:r>
              <a:rPr lang="en-US" sz="1400" b="1" dirty="0"/>
              <a:t>Establish a Common Language:</a:t>
            </a:r>
            <a:r>
              <a:rPr lang="en-US" sz="1400" dirty="0"/>
              <a:t> Develop a unified business taxonomy and metadata strategy. It is vital that business users, not just IT, own the definitions of products, markets, and risks.</a:t>
            </a:r>
          </a:p>
          <a:p>
            <a:pPr>
              <a:lnSpc>
                <a:spcPct val="110000"/>
              </a:lnSpc>
              <a:spcBef>
                <a:spcPts val="0"/>
              </a:spcBef>
              <a:spcAft>
                <a:spcPts val="600"/>
              </a:spcAft>
              <a:buSzPct val="100000"/>
              <a:buFont typeface="Wingdings" panose="05000000000000000000" pitchFamily="2" charset="2"/>
              <a:buChar char="¢"/>
            </a:pPr>
            <a:r>
              <a:rPr lang="en-US" sz="1400" b="1" dirty="0"/>
              <a:t>Integrate Language into Tools:</a:t>
            </a:r>
            <a:r>
              <a:rPr lang="en-US" sz="1400" dirty="0"/>
              <a:t> Embed the common business vocabulary directly into search engines, CRMs, and portals to ensure information remains consistent and easily discoverable.</a:t>
            </a:r>
          </a:p>
          <a:p>
            <a:pPr>
              <a:lnSpc>
                <a:spcPct val="110000"/>
              </a:lnSpc>
              <a:spcBef>
                <a:spcPts val="0"/>
              </a:spcBef>
              <a:spcAft>
                <a:spcPts val="600"/>
              </a:spcAft>
              <a:buSzPct val="100000"/>
              <a:buFont typeface="Wingdings" panose="05000000000000000000" pitchFamily="2" charset="2"/>
              <a:buChar char="¢"/>
            </a:pPr>
            <a:r>
              <a:rPr lang="en-US" sz="1400" b="1" dirty="0"/>
              <a:t>Implement Governance:</a:t>
            </a:r>
            <a:r>
              <a:rPr lang="en-US" sz="1400" dirty="0"/>
              <a:t> Create leadership-backed programs to monitor and update terminology over time. Clear policies ensure that the data architecture evolves alongside the business.</a:t>
            </a:r>
          </a:p>
          <a:p>
            <a:pPr>
              <a:lnSpc>
                <a:spcPct val="110000"/>
              </a:lnSpc>
              <a:spcBef>
                <a:spcPts val="0"/>
              </a:spcBef>
              <a:spcAft>
                <a:spcPts val="600"/>
              </a:spcAft>
              <a:buSzPct val="100000"/>
              <a:buFont typeface="Wingdings" panose="05000000000000000000" pitchFamily="2" charset="2"/>
              <a:buChar char="¢"/>
            </a:pPr>
            <a:r>
              <a:rPr lang="en-US" sz="1400" b="1" dirty="0"/>
              <a:t>Practice Information Hygiene:</a:t>
            </a:r>
            <a:r>
              <a:rPr lang="en-US" sz="1400" dirty="0"/>
              <a:t> Manage the full lifecycle of unstructured content—from creation to disposal. Assign clear ownership to prevent data sprawl and ensure repositories remain relevant.</a:t>
            </a:r>
          </a:p>
          <a:p>
            <a:pPr>
              <a:lnSpc>
                <a:spcPct val="110000"/>
              </a:lnSpc>
              <a:spcBef>
                <a:spcPts val="0"/>
              </a:spcBef>
              <a:spcAft>
                <a:spcPts val="600"/>
              </a:spcAft>
              <a:buSzPct val="100000"/>
              <a:buFont typeface="Wingdings" panose="05000000000000000000" pitchFamily="2" charset="2"/>
              <a:buChar char="¢"/>
            </a:pPr>
            <a:r>
              <a:rPr lang="en-US" sz="1400" b="1" dirty="0"/>
              <a:t>Measure Business Impact:</a:t>
            </a:r>
            <a:r>
              <a:rPr lang="en-US" sz="1400" dirty="0"/>
              <a:t> Track how content quality affects specific outcomes, such as customer service speed, sales efficiency, or overall time-to-market.</a:t>
            </a:r>
          </a:p>
          <a:p>
            <a:pPr>
              <a:lnSpc>
                <a:spcPct val="110000"/>
              </a:lnSpc>
              <a:spcBef>
                <a:spcPts val="0"/>
              </a:spcBef>
              <a:spcAft>
                <a:spcPts val="600"/>
              </a:spcAft>
              <a:buSzPct val="100000"/>
              <a:buFont typeface="Wingdings" panose="05000000000000000000" pitchFamily="2" charset="2"/>
              <a:buChar char="¢"/>
            </a:pPr>
            <a:r>
              <a:rPr lang="en-US" sz="1400" b="1" dirty="0"/>
              <a:t>Scale Iteratively:</a:t>
            </a:r>
            <a:r>
              <a:rPr lang="en-US" sz="1400" dirty="0"/>
              <a:t> Use successful initial projects as a blueprint. Establish a "Center of Excellence" to replicate these practices across other departments systematically.</a:t>
            </a:r>
          </a:p>
        </p:txBody>
      </p:sp>
    </p:spTree>
    <p:extLst>
      <p:ext uri="{BB962C8B-B14F-4D97-AF65-F5344CB8AC3E}">
        <p14:creationId xmlns:p14="http://schemas.microsoft.com/office/powerpoint/2010/main" val="230744103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C4018-FA86-47F8-891A-17E51E044F47}"/>
              </a:ext>
            </a:extLst>
          </p:cNvPr>
          <p:cNvSpPr>
            <a:spLocks noGrp="1"/>
          </p:cNvSpPr>
          <p:nvPr>
            <p:ph type="title"/>
          </p:nvPr>
        </p:nvSpPr>
        <p:spPr>
          <a:xfrm>
            <a:off x="457200" y="277987"/>
            <a:ext cx="7931224" cy="565571"/>
          </a:xfrm>
        </p:spPr>
        <p:txBody>
          <a:bodyPr>
            <a:noAutofit/>
          </a:bodyPr>
          <a:lstStyle/>
          <a:p>
            <a:r>
              <a:rPr lang="en-US" sz="2600" b="1" dirty="0">
                <a:solidFill>
                  <a:schemeClr val="accent1">
                    <a:lumMod val="75000"/>
                  </a:schemeClr>
                </a:solidFill>
              </a:rPr>
              <a:t>Importance of Information </a:t>
            </a:r>
            <a:r>
              <a:rPr lang="en-IN" sz="2600" b="1" dirty="0">
                <a:solidFill>
                  <a:schemeClr val="accent1">
                    <a:lumMod val="75000"/>
                  </a:schemeClr>
                </a:solidFill>
              </a:rPr>
              <a:t>for Decision Making</a:t>
            </a:r>
          </a:p>
        </p:txBody>
      </p:sp>
      <p:sp>
        <p:nvSpPr>
          <p:cNvPr id="3" name="Content Placeholder 2">
            <a:extLst>
              <a:ext uri="{FF2B5EF4-FFF2-40B4-BE49-F238E27FC236}">
                <a16:creationId xmlns:a16="http://schemas.microsoft.com/office/drawing/2014/main" id="{CBF05891-3E2A-4C70-BB37-41315DE44007}"/>
              </a:ext>
            </a:extLst>
          </p:cNvPr>
          <p:cNvSpPr>
            <a:spLocks noGrp="1"/>
          </p:cNvSpPr>
          <p:nvPr>
            <p:ph sz="quarter" idx="1"/>
          </p:nvPr>
        </p:nvSpPr>
        <p:spPr>
          <a:xfrm>
            <a:off x="457200" y="915566"/>
            <a:ext cx="7467600" cy="3655314"/>
          </a:xfrm>
        </p:spPr>
        <p:txBody>
          <a:bodyPr>
            <a:noAutofit/>
          </a:bodyPr>
          <a:lstStyle/>
          <a:p>
            <a:pPr>
              <a:spcAft>
                <a:spcPts val="600"/>
              </a:spcAft>
              <a:buSzPct val="100000"/>
              <a:buFont typeface="Wingdings" panose="05000000000000000000" pitchFamily="2" charset="2"/>
              <a:buChar char="¢"/>
            </a:pPr>
            <a:r>
              <a:rPr lang="en-US" sz="1400" b="1" dirty="0">
                <a:cs typeface="Times New Roman" panose="02020603050405020304" pitchFamily="18" charset="0"/>
              </a:rPr>
              <a:t>Optimal Resource Allocation:</a:t>
            </a:r>
            <a:r>
              <a:rPr lang="en-US" sz="1400" dirty="0">
                <a:cs typeface="Times New Roman" panose="02020603050405020304" pitchFamily="18" charset="0"/>
              </a:rPr>
              <a:t> Information allows decision-makers to understand market demand and production capabilities. This ensures that resources—such as labor, capital, and land—are directed toward their most productive uses.</a:t>
            </a:r>
          </a:p>
          <a:p>
            <a:pPr lvl="0" eaLnBrk="0" fontAlgn="base" hangingPunct="0">
              <a:spcAft>
                <a:spcPts val="600"/>
              </a:spcAft>
              <a:buSzTx/>
              <a:buFont typeface="Wingdings" panose="05000000000000000000" pitchFamily="2" charset="2"/>
              <a:buChar char="¢"/>
            </a:pPr>
            <a:r>
              <a:rPr lang="en-US" altLang="en-US" sz="1400" b="1" dirty="0">
                <a:cs typeface="Times New Roman" panose="02020603050405020304" pitchFamily="18" charset="0"/>
              </a:rPr>
              <a:t>Risk Management:</a:t>
            </a:r>
            <a:r>
              <a:rPr lang="en-US" altLang="en-US" sz="1400" dirty="0">
                <a:cs typeface="Times New Roman" panose="02020603050405020304" pitchFamily="18" charset="0"/>
              </a:rPr>
              <a:t> Informed choices facilitate better risk assessment. By analyzing data, decision-makers can anticipate economic shifts or supply chain disruptions, allowing them to implement strategies that mitigate potential losses.</a:t>
            </a:r>
          </a:p>
          <a:p>
            <a:pPr lvl="0" eaLnBrk="0" fontAlgn="base" hangingPunct="0">
              <a:spcAft>
                <a:spcPts val="600"/>
              </a:spcAft>
              <a:buSzTx/>
              <a:buFont typeface="Wingdings" panose="05000000000000000000" pitchFamily="2" charset="2"/>
              <a:buChar char="¢"/>
            </a:pPr>
            <a:r>
              <a:rPr lang="en-US" altLang="en-US" sz="1400" b="1" dirty="0">
                <a:cs typeface="Times New Roman" panose="02020603050405020304" pitchFamily="18" charset="0"/>
              </a:rPr>
              <a:t>Market Analysis for Firms:</a:t>
            </a:r>
            <a:r>
              <a:rPr lang="en-US" altLang="en-US" sz="1400" dirty="0">
                <a:cs typeface="Times New Roman" panose="02020603050405020304" pitchFamily="18" charset="0"/>
              </a:rPr>
              <a:t> Accurate data regarding consumer preferences and competitor behavior is vital. It enables businesses to set competitive pricing, optimize production levels, and refine marketing strategies to capture market share.</a:t>
            </a:r>
          </a:p>
          <a:p>
            <a:pPr lvl="0" eaLnBrk="0" fontAlgn="base" hangingPunct="0">
              <a:spcAft>
                <a:spcPts val="600"/>
              </a:spcAft>
              <a:buSzTx/>
              <a:buFont typeface="Wingdings" panose="05000000000000000000" pitchFamily="2" charset="2"/>
              <a:buChar char="¢"/>
            </a:pPr>
            <a:r>
              <a:rPr lang="en-US" altLang="en-US" sz="1400" b="1" dirty="0">
                <a:cs typeface="Times New Roman" panose="02020603050405020304" pitchFamily="18" charset="0"/>
              </a:rPr>
              <a:t>Effective Policy Formulation:</a:t>
            </a:r>
            <a:r>
              <a:rPr lang="en-US" altLang="en-US" sz="1400" dirty="0">
                <a:cs typeface="Times New Roman" panose="02020603050405020304" pitchFamily="18" charset="0"/>
              </a:rPr>
              <a:t> Governments utilize macroeconomic indicators—such as inflation, GDP growth, and unemployment rates—to design policies. This data-driven approach is essential for maintaining economic stability and addressing systemic issues.</a:t>
            </a:r>
          </a:p>
          <a:p>
            <a:pPr lvl="0" eaLnBrk="0" fontAlgn="base" hangingPunct="0">
              <a:spcAft>
                <a:spcPts val="600"/>
              </a:spcAft>
              <a:buSzTx/>
              <a:buFont typeface="Wingdings" panose="05000000000000000000" pitchFamily="2" charset="2"/>
              <a:buChar char="¢"/>
            </a:pPr>
            <a:r>
              <a:rPr lang="en-US" altLang="en-US" sz="1400" b="1" dirty="0">
                <a:cs typeface="Times New Roman" panose="02020603050405020304" pitchFamily="18" charset="0"/>
              </a:rPr>
              <a:t>Efficient Investment Decisions:</a:t>
            </a:r>
            <a:r>
              <a:rPr lang="en-US" altLang="en-US" sz="1400" dirty="0">
                <a:cs typeface="Times New Roman" panose="02020603050405020304" pitchFamily="18" charset="0"/>
              </a:rPr>
              <a:t> Investors rely on financial market data, interest rates, and corporate performance reports. High-quality information ensures that capital is allocated to the most promising ventures, enhancing the overall efficiency of financial markets.</a:t>
            </a:r>
          </a:p>
          <a:p>
            <a:pPr>
              <a:buFont typeface="Wingdings" panose="05000000000000000000" pitchFamily="2" charset="2"/>
              <a:buChar char="Ø"/>
            </a:pPr>
            <a:endParaRPr lang="en-IN" sz="1400" dirty="0"/>
          </a:p>
        </p:txBody>
      </p:sp>
    </p:spTree>
    <p:extLst>
      <p:ext uri="{BB962C8B-B14F-4D97-AF65-F5344CB8AC3E}">
        <p14:creationId xmlns:p14="http://schemas.microsoft.com/office/powerpoint/2010/main" val="190106840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19062-DF30-4AE0-B5FC-DD93247DE5F5}"/>
              </a:ext>
            </a:extLst>
          </p:cNvPr>
          <p:cNvSpPr>
            <a:spLocks noGrp="1"/>
          </p:cNvSpPr>
          <p:nvPr>
            <p:ph type="title"/>
          </p:nvPr>
        </p:nvSpPr>
        <p:spPr>
          <a:xfrm>
            <a:off x="457200" y="205979"/>
            <a:ext cx="7467600" cy="613171"/>
          </a:xfrm>
        </p:spPr>
        <p:txBody>
          <a:bodyPr>
            <a:normAutofit/>
          </a:bodyPr>
          <a:lstStyle/>
          <a:p>
            <a:r>
              <a:rPr lang="en-US" sz="2600" b="1" dirty="0">
                <a:solidFill>
                  <a:schemeClr val="accent1">
                    <a:lumMod val="75000"/>
                  </a:schemeClr>
                </a:solidFill>
              </a:rPr>
              <a:t>Challenges in Information Gathering</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BDD008AF-B17A-43BF-A796-1BCFF8395694}"/>
              </a:ext>
            </a:extLst>
          </p:cNvPr>
          <p:cNvSpPr>
            <a:spLocks noGrp="1"/>
          </p:cNvSpPr>
          <p:nvPr>
            <p:ph sz="quarter" idx="1"/>
          </p:nvPr>
        </p:nvSpPr>
        <p:spPr>
          <a:xfrm>
            <a:off x="457200" y="1047750"/>
            <a:ext cx="7467600" cy="3807714"/>
          </a:xfrm>
        </p:spPr>
        <p:txBody>
          <a:bodyPr>
            <a:normAutofit/>
          </a:bodyPr>
          <a:lstStyle/>
          <a:p>
            <a:pPr marL="0" indent="0">
              <a:spcBef>
                <a:spcPts val="1200"/>
              </a:spcBef>
              <a:spcAft>
                <a:spcPts val="1200"/>
              </a:spcAft>
              <a:buNone/>
            </a:pPr>
            <a:r>
              <a:rPr lang="en-US" sz="1400" dirty="0"/>
              <a:t>While information is vital for economic efficiency, the process of acquiring it presents significant hurdles for individuals and organizations.</a:t>
            </a:r>
          </a:p>
          <a:p>
            <a:pPr>
              <a:spcBef>
                <a:spcPts val="1200"/>
              </a:spcBef>
              <a:spcAft>
                <a:spcPts val="1200"/>
              </a:spcAft>
              <a:buSzPct val="100000"/>
            </a:pPr>
            <a:r>
              <a:rPr lang="en-US" sz="1400" b="1" dirty="0"/>
              <a:t>Information Costs:</a:t>
            </a:r>
            <a:r>
              <a:rPr lang="en-US" sz="1400" dirty="0"/>
              <a:t> Gathering, verifying, and analyzing data requires an investment of time, technology, and human resources. Decision-makers must constantly evaluate the </a:t>
            </a:r>
            <a:r>
              <a:rPr lang="en-US" sz="1400" b="1" dirty="0"/>
              <a:t>marginal benefit</a:t>
            </a:r>
            <a:r>
              <a:rPr lang="en-US" sz="1400" dirty="0"/>
              <a:t> of obtaining more accurate or timely data against the </a:t>
            </a:r>
            <a:r>
              <a:rPr lang="en-US" sz="1400" b="1" dirty="0"/>
              <a:t>marginal cost</a:t>
            </a:r>
            <a:r>
              <a:rPr lang="en-US" sz="1400" dirty="0"/>
              <a:t> of the search itself.</a:t>
            </a:r>
          </a:p>
          <a:p>
            <a:pPr>
              <a:spcBef>
                <a:spcPts val="1200"/>
              </a:spcBef>
              <a:spcAft>
                <a:spcPts val="1200"/>
              </a:spcAft>
              <a:buSzPct val="100000"/>
            </a:pPr>
            <a:r>
              <a:rPr lang="en-US" sz="1400" b="1" dirty="0"/>
              <a:t>Incomplete Information and Uncertainty:</a:t>
            </a:r>
            <a:r>
              <a:rPr lang="en-US" sz="1400" dirty="0"/>
              <a:t> In many scenarios, decision-makers simply cannot access all the relevant facts. This is especially prevalent in dynamic markets where conditions shift rapidly, leading to "information asymmetry" or situations where choices must be made based on probabilities rather than certainties.</a:t>
            </a:r>
          </a:p>
        </p:txBody>
      </p:sp>
    </p:spTree>
    <p:extLst>
      <p:ext uri="{BB962C8B-B14F-4D97-AF65-F5344CB8AC3E}">
        <p14:creationId xmlns:p14="http://schemas.microsoft.com/office/powerpoint/2010/main" val="390151966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59754-ED99-4545-8249-D98544DEF64A}"/>
              </a:ext>
            </a:extLst>
          </p:cNvPr>
          <p:cNvSpPr>
            <a:spLocks noGrp="1"/>
          </p:cNvSpPr>
          <p:nvPr>
            <p:ph type="title"/>
          </p:nvPr>
        </p:nvSpPr>
        <p:spPr>
          <a:xfrm>
            <a:off x="457200" y="209550"/>
            <a:ext cx="8305800" cy="613171"/>
          </a:xfrm>
        </p:spPr>
        <p:txBody>
          <a:bodyPr>
            <a:normAutofit/>
          </a:bodyPr>
          <a:lstStyle/>
          <a:p>
            <a:r>
              <a:rPr lang="en-US" sz="2600" b="1" dirty="0">
                <a:solidFill>
                  <a:schemeClr val="accent1">
                    <a:lumMod val="75000"/>
                  </a:schemeClr>
                </a:solidFill>
              </a:rPr>
              <a:t>The Significance of Asymmetric Information</a:t>
            </a:r>
          </a:p>
        </p:txBody>
      </p:sp>
      <p:sp>
        <p:nvSpPr>
          <p:cNvPr id="3" name="Content Placeholder 2">
            <a:extLst>
              <a:ext uri="{FF2B5EF4-FFF2-40B4-BE49-F238E27FC236}">
                <a16:creationId xmlns:a16="http://schemas.microsoft.com/office/drawing/2014/main" id="{7DD5CAA0-055D-4499-BCE5-D6A719E0F6D5}"/>
              </a:ext>
            </a:extLst>
          </p:cNvPr>
          <p:cNvSpPr>
            <a:spLocks noGrp="1"/>
          </p:cNvSpPr>
          <p:nvPr>
            <p:ph sz="quarter" idx="1"/>
          </p:nvPr>
        </p:nvSpPr>
        <p:spPr>
          <a:xfrm>
            <a:off x="457200" y="971550"/>
            <a:ext cx="7467600" cy="3655314"/>
          </a:xfrm>
        </p:spPr>
        <p:txBody>
          <a:bodyPr>
            <a:noAutofit/>
          </a:bodyPr>
          <a:lstStyle/>
          <a:p>
            <a:pPr>
              <a:spcBef>
                <a:spcPts val="0"/>
              </a:spcBef>
              <a:spcAft>
                <a:spcPts val="600"/>
              </a:spcAft>
              <a:buSzPct val="100000"/>
            </a:pPr>
            <a:r>
              <a:rPr lang="en-US" sz="1400" b="1" dirty="0"/>
              <a:t>Core Definition:</a:t>
            </a:r>
            <a:r>
              <a:rPr lang="en-US" sz="1400" dirty="0"/>
              <a:t> Asymmetric information occurs when there is an imbalance in a transaction, specifically when one party possesses more or better information than the other.</a:t>
            </a:r>
          </a:p>
          <a:p>
            <a:pPr>
              <a:spcBef>
                <a:spcPts val="0"/>
              </a:spcBef>
              <a:spcAft>
                <a:spcPts val="600"/>
              </a:spcAft>
              <a:buSzPct val="100000"/>
            </a:pPr>
            <a:r>
              <a:rPr lang="en-US" sz="1400" b="1" dirty="0"/>
              <a:t>Market Inefficiency:</a:t>
            </a:r>
            <a:r>
              <a:rPr lang="en-US" sz="1400" dirty="0"/>
              <a:t> This disparity can distort economic incentives, often preventing markets from functioning at peak efficiency and leading to suboptimal resource allocation.</a:t>
            </a:r>
          </a:p>
          <a:p>
            <a:pPr>
              <a:spcBef>
                <a:spcPts val="0"/>
              </a:spcBef>
              <a:spcAft>
                <a:spcPts val="600"/>
              </a:spcAft>
              <a:buSzPct val="100000"/>
            </a:pPr>
            <a:r>
              <a:rPr lang="en-US" sz="1400" b="1" dirty="0"/>
              <a:t>Market Failure:</a:t>
            </a:r>
            <a:r>
              <a:rPr lang="en-US" sz="1400" dirty="0"/>
              <a:t> A significant consequence of this imbalance is market failure. In sectors like insurance, if a provider cannot accurately assess a customer's risk, the market may fail to provide coverage at a fair price.</a:t>
            </a:r>
          </a:p>
          <a:p>
            <a:pPr>
              <a:spcBef>
                <a:spcPts val="0"/>
              </a:spcBef>
              <a:spcAft>
                <a:spcPts val="600"/>
              </a:spcAft>
              <a:buSzPct val="100000"/>
            </a:pPr>
            <a:r>
              <a:rPr lang="en-US" sz="1400" b="1" dirty="0"/>
              <a:t>Adverse Selection:</a:t>
            </a:r>
            <a:r>
              <a:rPr lang="en-US" sz="1400" dirty="0"/>
              <a:t> This occurs </a:t>
            </a:r>
            <a:r>
              <a:rPr lang="en-US" sz="1400" b="1" dirty="0"/>
              <a:t>before</a:t>
            </a:r>
            <a:r>
              <a:rPr lang="en-US" sz="1400" dirty="0"/>
              <a:t> a transaction. High-risk individuals are more likely to participate in certain agreements (like insurance) because they have private knowledge of their risk, which can lead to higher premiums for everyone.</a:t>
            </a:r>
          </a:p>
          <a:p>
            <a:pPr>
              <a:spcBef>
                <a:spcPts val="0"/>
              </a:spcBef>
              <a:spcAft>
                <a:spcPts val="600"/>
              </a:spcAft>
              <a:buSzPct val="100000"/>
            </a:pPr>
            <a:r>
              <a:rPr lang="en-US" sz="1400" b="1" dirty="0"/>
              <a:t>Moral Hazard:</a:t>
            </a:r>
            <a:r>
              <a:rPr lang="en-US" sz="1400" dirty="0"/>
              <a:t> This occurs </a:t>
            </a:r>
            <a:r>
              <a:rPr lang="en-US" sz="1400" b="1" dirty="0"/>
              <a:t>after</a:t>
            </a:r>
            <a:r>
              <a:rPr lang="en-US" sz="1400" dirty="0"/>
              <a:t> a transaction. One party may change their behavior and take on more risk because they are shielded from the consequences, often because the other party cannot monitor their actions.</a:t>
            </a:r>
          </a:p>
          <a:p>
            <a:pPr>
              <a:spcBef>
                <a:spcPts val="0"/>
              </a:spcBef>
              <a:spcAft>
                <a:spcPts val="600"/>
              </a:spcAft>
              <a:buSzPct val="100000"/>
            </a:pPr>
            <a:r>
              <a:rPr lang="en-US" sz="1400" b="1" dirty="0"/>
              <a:t>Role in Contract Design:</a:t>
            </a:r>
            <a:r>
              <a:rPr lang="en-US" sz="1400" dirty="0"/>
              <a:t> To mitigate these imbalances, contracts are often structured with specific safeguards, such as warranties, deductibles, or penalties, to ensure both parties act in good faith.</a:t>
            </a:r>
          </a:p>
        </p:txBody>
      </p:sp>
    </p:spTree>
    <p:extLst>
      <p:ext uri="{BB962C8B-B14F-4D97-AF65-F5344CB8AC3E}">
        <p14:creationId xmlns:p14="http://schemas.microsoft.com/office/powerpoint/2010/main" val="157957803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F1138-0E82-4E57-BF96-C7E82BDBE1C1}"/>
              </a:ext>
            </a:extLst>
          </p:cNvPr>
          <p:cNvSpPr>
            <a:spLocks noGrp="1"/>
          </p:cNvSpPr>
          <p:nvPr>
            <p:ph type="title"/>
          </p:nvPr>
        </p:nvSpPr>
        <p:spPr>
          <a:xfrm>
            <a:off x="457200" y="205979"/>
            <a:ext cx="7467600" cy="689371"/>
          </a:xfrm>
        </p:spPr>
        <p:txBody>
          <a:bodyPr>
            <a:normAutofit/>
          </a:bodyPr>
          <a:lstStyle/>
          <a:p>
            <a:r>
              <a:rPr lang="en-US" sz="2600" b="1" dirty="0">
                <a:solidFill>
                  <a:schemeClr val="accent1">
                    <a:lumMod val="75000"/>
                  </a:schemeClr>
                </a:solidFill>
              </a:rPr>
              <a:t>Mitigating Asymmetric Information</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766997F3-9A18-4ECD-AD4A-BCDF1204CE98}"/>
              </a:ext>
            </a:extLst>
          </p:cNvPr>
          <p:cNvSpPr>
            <a:spLocks noGrp="1"/>
          </p:cNvSpPr>
          <p:nvPr>
            <p:ph sz="quarter" idx="1"/>
          </p:nvPr>
        </p:nvSpPr>
        <p:spPr/>
        <p:txBody>
          <a:bodyPr>
            <a:normAutofit/>
          </a:bodyPr>
          <a:lstStyle/>
          <a:p>
            <a:pPr>
              <a:spcBef>
                <a:spcPts val="1200"/>
              </a:spcBef>
              <a:spcAft>
                <a:spcPts val="1200"/>
              </a:spcAft>
              <a:buSzPct val="100000"/>
            </a:pPr>
            <a:r>
              <a:rPr lang="en-US" sz="1400" b="1" dirty="0"/>
              <a:t>Screening and Signaling Strategies: </a:t>
            </a:r>
            <a:r>
              <a:rPr lang="en-US" sz="1400" dirty="0"/>
              <a:t>Screening occurs when the uninformed party creates hurdles or tests to uncover the true risk or quality of the other party, such as a bank requiring a detailed credit history. Conversely, signaling is when the informed party takes proactive, often costly steps to prove their credibility, such as a company providing a high-end warranty to signal product reliability or an individual obtaining a specialized certification to demonstrate expertise.</a:t>
            </a:r>
          </a:p>
          <a:p>
            <a:pPr>
              <a:spcBef>
                <a:spcPts val="1200"/>
              </a:spcBef>
              <a:spcAft>
                <a:spcPts val="1200"/>
              </a:spcAft>
              <a:buSzPct val="100000"/>
            </a:pPr>
            <a:r>
              <a:rPr lang="en-US" sz="1400" b="1" dirty="0"/>
              <a:t>Regulation and Mandatory Disclosure: </a:t>
            </a:r>
            <a:r>
              <a:rPr lang="en-US" sz="1400" dirty="0"/>
              <a:t>To protect the integrity of the market, government bodies often implement strict disclosure requirements and transparency laws. These regulations mandate that relevant facts - such as financial risks, product ingredients, or lending terms - must be made accessible to all parties involved. This reduces the information gap, prevents exploitation, and ensures that participants can make choices based on a complete and accurate understanding of the transaction.</a:t>
            </a:r>
          </a:p>
        </p:txBody>
      </p:sp>
    </p:spTree>
    <p:extLst>
      <p:ext uri="{BB962C8B-B14F-4D97-AF65-F5344CB8AC3E}">
        <p14:creationId xmlns:p14="http://schemas.microsoft.com/office/powerpoint/2010/main" val="391978005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5A46BB6-B1AA-7344-F013-1094F05B7284}"/>
              </a:ext>
            </a:extLst>
          </p:cNvPr>
          <p:cNvSpPr>
            <a:spLocks noGrp="1"/>
          </p:cNvSpPr>
          <p:nvPr>
            <p:ph type="ctrTitle"/>
          </p:nvPr>
        </p:nvSpPr>
        <p:spPr>
          <a:xfrm>
            <a:off x="2483768" y="2343150"/>
            <a:ext cx="5974432" cy="1420772"/>
          </a:xfrm>
        </p:spPr>
        <p:txBody>
          <a:bodyPr>
            <a:noAutofit/>
          </a:bodyPr>
          <a:lstStyle/>
          <a:p>
            <a:r>
              <a:rPr lang="en-US" sz="5400" b="1" i="0" dirty="0">
                <a:solidFill>
                  <a:schemeClr val="tx1"/>
                </a:solidFill>
                <a:effectLst/>
                <a:cs typeface="Times New Roman" panose="02020603050405020304" pitchFamily="18" charset="0"/>
              </a:rPr>
              <a:t>Overview of Data-Driven Decision Making</a:t>
            </a:r>
          </a:p>
        </p:txBody>
      </p:sp>
    </p:spTree>
    <p:extLst>
      <p:ext uri="{BB962C8B-B14F-4D97-AF65-F5344CB8AC3E}">
        <p14:creationId xmlns:p14="http://schemas.microsoft.com/office/powerpoint/2010/main" val="400109476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4CA87-F3A4-445A-8C43-0613A59BB16F}"/>
              </a:ext>
            </a:extLst>
          </p:cNvPr>
          <p:cNvSpPr>
            <a:spLocks noGrp="1"/>
          </p:cNvSpPr>
          <p:nvPr>
            <p:ph type="title"/>
          </p:nvPr>
        </p:nvSpPr>
        <p:spPr>
          <a:xfrm>
            <a:off x="457200" y="411510"/>
            <a:ext cx="7467600" cy="857250"/>
          </a:xfrm>
        </p:spPr>
        <p:txBody>
          <a:bodyPr>
            <a:noAutofit/>
          </a:bodyPr>
          <a:lstStyle/>
          <a:p>
            <a:r>
              <a:rPr lang="en-US" sz="2600" b="1" dirty="0">
                <a:solidFill>
                  <a:schemeClr val="accent1">
                    <a:lumMod val="75000"/>
                  </a:schemeClr>
                </a:solidFill>
              </a:rPr>
              <a:t>Understanding Data-Driven Decision-Making (DDDM)</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6BF68091-5377-4A98-A487-0750596BC9EF}"/>
              </a:ext>
            </a:extLst>
          </p:cNvPr>
          <p:cNvSpPr>
            <a:spLocks noGrp="1"/>
          </p:cNvSpPr>
          <p:nvPr>
            <p:ph sz="quarter" idx="1"/>
          </p:nvPr>
        </p:nvSpPr>
        <p:spPr>
          <a:xfrm>
            <a:off x="457200" y="1405681"/>
            <a:ext cx="7467600" cy="3655314"/>
          </a:xfrm>
        </p:spPr>
        <p:txBody>
          <a:bodyPr>
            <a:normAutofit/>
          </a:bodyPr>
          <a:lstStyle/>
          <a:p>
            <a:pPr>
              <a:spcAft>
                <a:spcPts val="600"/>
              </a:spcAft>
              <a:buSzPct val="100000"/>
            </a:pPr>
            <a:r>
              <a:rPr lang="en-US" sz="1400" b="1" dirty="0"/>
              <a:t>Evidence-Based Strategy:</a:t>
            </a:r>
            <a:r>
              <a:rPr lang="en-US" sz="1400" dirty="0"/>
              <a:t> DDDM is the practice of basing organizational choices on verified data rather than intuition or simple observation. It involves a deep dive into both structured and unstructured data to extract meaningful, actionable insights.</a:t>
            </a:r>
          </a:p>
          <a:p>
            <a:pPr>
              <a:spcAft>
                <a:spcPts val="600"/>
              </a:spcAft>
              <a:buSzPct val="100000"/>
            </a:pPr>
            <a:r>
              <a:rPr lang="en-US" sz="1400" b="1" dirty="0"/>
              <a:t>The Core Principles:</a:t>
            </a:r>
            <a:r>
              <a:rPr lang="en-US" sz="1400" dirty="0"/>
              <a:t> The methodology follows a logical, four-step cycle:</a:t>
            </a:r>
          </a:p>
          <a:p>
            <a:pPr lvl="1">
              <a:spcBef>
                <a:spcPts val="600"/>
              </a:spcBef>
              <a:spcAft>
                <a:spcPts val="600"/>
              </a:spcAft>
              <a:buSzPct val="100000"/>
            </a:pPr>
            <a:r>
              <a:rPr lang="en-US" sz="1400" b="1" dirty="0"/>
              <a:t>Gather:</a:t>
            </a:r>
            <a:r>
              <a:rPr lang="en-US" sz="1400" dirty="0"/>
              <a:t> Collect relevant data from various internal and external sources.</a:t>
            </a:r>
          </a:p>
          <a:p>
            <a:pPr lvl="1">
              <a:spcBef>
                <a:spcPts val="600"/>
              </a:spcBef>
              <a:spcAft>
                <a:spcPts val="600"/>
              </a:spcAft>
              <a:buSzPct val="100000"/>
            </a:pPr>
            <a:r>
              <a:rPr lang="en-US" sz="1400" b="1" dirty="0"/>
              <a:t>Verify:</a:t>
            </a:r>
            <a:r>
              <a:rPr lang="en-US" sz="1400" dirty="0"/>
              <a:t> Ensure the data is of the highest quality, accuracy, and integrity.</a:t>
            </a:r>
          </a:p>
          <a:p>
            <a:pPr lvl="1">
              <a:spcBef>
                <a:spcPts val="600"/>
              </a:spcBef>
              <a:spcAft>
                <a:spcPts val="600"/>
              </a:spcAft>
              <a:buSzPct val="100000"/>
            </a:pPr>
            <a:r>
              <a:rPr lang="en-US" sz="1400" b="1" dirty="0"/>
              <a:t>Analyze:</a:t>
            </a:r>
            <a:r>
              <a:rPr lang="en-US" sz="1400" dirty="0"/>
              <a:t> Process the collected information to identify trends and draw insights.</a:t>
            </a:r>
          </a:p>
          <a:p>
            <a:pPr lvl="1">
              <a:spcBef>
                <a:spcPts val="600"/>
              </a:spcBef>
              <a:spcAft>
                <a:spcPts val="600"/>
              </a:spcAft>
              <a:buSzPct val="100000"/>
            </a:pPr>
            <a:r>
              <a:rPr lang="en-US" sz="1400" b="1" dirty="0"/>
              <a:t>Execute:</a:t>
            </a:r>
            <a:r>
              <a:rPr lang="en-US" sz="1400" dirty="0"/>
              <a:t> Use the data as "fuel" to drive smarter, more effective decisions.</a:t>
            </a:r>
          </a:p>
          <a:p>
            <a:pPr>
              <a:spcAft>
                <a:spcPts val="600"/>
              </a:spcAft>
              <a:buSzPct val="100000"/>
            </a:pPr>
            <a:r>
              <a:rPr lang="en-US" sz="1400" b="1" dirty="0"/>
              <a:t>Calculated Risk-Taking:</a:t>
            </a:r>
            <a:r>
              <a:rPr lang="en-US" sz="1400" dirty="0"/>
              <a:t> By ensuring every move is backed by empirical evidence, organizations transition from making "shots in the dark" to taking calculated, strategic risks.</a:t>
            </a:r>
          </a:p>
        </p:txBody>
      </p:sp>
    </p:spTree>
    <p:extLst>
      <p:ext uri="{BB962C8B-B14F-4D97-AF65-F5344CB8AC3E}">
        <p14:creationId xmlns:p14="http://schemas.microsoft.com/office/powerpoint/2010/main" val="309422483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1CED8-64ED-4471-9B9F-AEE771F4F59D}"/>
              </a:ext>
            </a:extLst>
          </p:cNvPr>
          <p:cNvSpPr>
            <a:spLocks noGrp="1"/>
          </p:cNvSpPr>
          <p:nvPr>
            <p:ph type="title"/>
          </p:nvPr>
        </p:nvSpPr>
        <p:spPr>
          <a:xfrm>
            <a:off x="457200" y="205979"/>
            <a:ext cx="8686800" cy="637579"/>
          </a:xfrm>
        </p:spPr>
        <p:txBody>
          <a:bodyPr>
            <a:normAutofit/>
          </a:bodyPr>
          <a:lstStyle/>
          <a:p>
            <a:r>
              <a:rPr lang="en-US" sz="2600" b="1" dirty="0">
                <a:solidFill>
                  <a:schemeClr val="accent1">
                    <a:lumMod val="75000"/>
                  </a:schemeClr>
                </a:solidFill>
              </a:rPr>
              <a:t>DDDM vs. Traditional Decision-Making Methods</a:t>
            </a:r>
            <a:endParaRPr lang="en-IN" sz="2600" dirty="0">
              <a:solidFill>
                <a:schemeClr val="accent1">
                  <a:lumMod val="75000"/>
                </a:schemeClr>
              </a:solidFill>
            </a:endParaRPr>
          </a:p>
        </p:txBody>
      </p:sp>
      <p:sp>
        <p:nvSpPr>
          <p:cNvPr id="5" name="Rectangle 2">
            <a:extLst>
              <a:ext uri="{FF2B5EF4-FFF2-40B4-BE49-F238E27FC236}">
                <a16:creationId xmlns:a16="http://schemas.microsoft.com/office/drawing/2014/main" id="{383A6122-0462-4BCF-844D-BBACE4A84109}"/>
              </a:ext>
            </a:extLst>
          </p:cNvPr>
          <p:cNvSpPr>
            <a:spLocks noGrp="1" noChangeArrowheads="1"/>
          </p:cNvSpPr>
          <p:nvPr>
            <p:ph sz="quarter" idx="1"/>
          </p:nvPr>
        </p:nvSpPr>
        <p:spPr bwMode="auto">
          <a:xfrm>
            <a:off x="457200" y="1061759"/>
            <a:ext cx="7715200" cy="38010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ts val="0"/>
              </a:spcBef>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Traditional Decision-Making:</a:t>
            </a:r>
            <a:endParaRPr kumimoji="0" lang="en-US" altLang="en-US" sz="1400" b="0" i="0" u="none" strike="noStrike" cap="none" normalizeH="0" baseline="0" dirty="0">
              <a:ln>
                <a:noFill/>
              </a:ln>
              <a:solidFill>
                <a:schemeClr val="tx1"/>
              </a:solidFill>
              <a:effectLst/>
              <a:cs typeface="Times New Roman" panose="02020603050405020304" pitchFamily="18" charset="0"/>
            </a:endParaRPr>
          </a:p>
          <a:p>
            <a:pPr marL="446088" marR="0" lvl="0" indent="-273050" algn="l" defTabSz="914400" rtl="0" eaLnBrk="0" fontAlgn="base" latinLnBrk="0" hangingPunct="0">
              <a:lnSpc>
                <a:spcPct val="100000"/>
              </a:lnSpc>
              <a:spcBef>
                <a:spcPts val="0"/>
              </a:spcBef>
              <a:spcAft>
                <a:spcPts val="600"/>
              </a:spcAft>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Basis:</a:t>
            </a:r>
            <a:r>
              <a:rPr kumimoji="0" lang="en-US" altLang="en-US" sz="1400" b="0" i="0" u="none" strike="noStrike" cap="none" normalizeH="0" baseline="0" dirty="0">
                <a:ln>
                  <a:noFill/>
                </a:ln>
                <a:solidFill>
                  <a:schemeClr val="tx1"/>
                </a:solidFill>
                <a:effectLst/>
                <a:cs typeface="Times New Roman" panose="02020603050405020304" pitchFamily="18" charset="0"/>
              </a:rPr>
              <a:t> Relies heavily on </a:t>
            </a:r>
            <a:r>
              <a:rPr kumimoji="0" lang="en-US" altLang="en-US" sz="1400" b="1" i="0" u="none" strike="noStrike" cap="none" normalizeH="0" baseline="0" dirty="0">
                <a:ln>
                  <a:noFill/>
                </a:ln>
                <a:solidFill>
                  <a:schemeClr val="tx1"/>
                </a:solidFill>
                <a:effectLst/>
                <a:cs typeface="Times New Roman" panose="02020603050405020304" pitchFamily="18" charset="0"/>
              </a:rPr>
              <a:t>human judgment, experience, and intuition</a:t>
            </a:r>
            <a:r>
              <a:rPr kumimoji="0" lang="en-US" altLang="en-US" sz="1400" b="0" i="0" u="none" strike="noStrike" cap="none" normalizeH="0" baseline="0" dirty="0">
                <a:ln>
                  <a:noFill/>
                </a:ln>
                <a:solidFill>
                  <a:schemeClr val="tx1"/>
                </a:solidFill>
                <a:effectLst/>
                <a:cs typeface="Times New Roman" panose="02020603050405020304" pitchFamily="18" charset="0"/>
              </a:rPr>
              <a:t>.</a:t>
            </a:r>
          </a:p>
          <a:p>
            <a:pPr marL="446088" marR="0" lvl="0" indent="-273050" algn="l" defTabSz="914400" rtl="0" eaLnBrk="0" fontAlgn="base" latinLnBrk="0" hangingPunct="0">
              <a:lnSpc>
                <a:spcPct val="100000"/>
              </a:lnSpc>
              <a:spcBef>
                <a:spcPts val="0"/>
              </a:spcBef>
              <a:spcAft>
                <a:spcPts val="600"/>
              </a:spcAft>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Focus:</a:t>
            </a:r>
            <a:r>
              <a:rPr kumimoji="0" lang="en-US" altLang="en-US" sz="1400" b="0" i="0" u="none" strike="noStrike" cap="none" normalizeH="0" baseline="0" dirty="0">
                <a:ln>
                  <a:noFill/>
                </a:ln>
                <a:solidFill>
                  <a:schemeClr val="tx1"/>
                </a:solidFill>
                <a:effectLst/>
                <a:cs typeface="Times New Roman" panose="02020603050405020304" pitchFamily="18" charset="0"/>
              </a:rPr>
              <a:t> Values the nuanced insights and qualitative assessments that seasoned professionals bring to the table.</a:t>
            </a:r>
          </a:p>
          <a:p>
            <a:pPr marL="446088" marR="0" lvl="0" indent="-273050" algn="l" defTabSz="914400" rtl="0" eaLnBrk="0" fontAlgn="base" latinLnBrk="0" hangingPunct="0">
              <a:lnSpc>
                <a:spcPct val="100000"/>
              </a:lnSpc>
              <a:spcBef>
                <a:spcPts val="0"/>
              </a:spcBef>
              <a:spcAft>
                <a:spcPts val="600"/>
              </a:spcAft>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Mechanism:</a:t>
            </a:r>
            <a:r>
              <a:rPr kumimoji="0" lang="en-US" altLang="en-US" sz="1400" b="0" i="0" u="none" strike="noStrike" cap="none" normalizeH="0" baseline="0" dirty="0">
                <a:ln>
                  <a:noFill/>
                </a:ln>
                <a:solidFill>
                  <a:schemeClr val="tx1"/>
                </a:solidFill>
                <a:effectLst/>
                <a:cs typeface="Times New Roman" panose="02020603050405020304" pitchFamily="18" charset="0"/>
              </a:rPr>
              <a:t> Often driven by </a:t>
            </a:r>
            <a:r>
              <a:rPr kumimoji="0" lang="en-US" altLang="en-US" sz="1400" b="1" i="0" u="none" strike="noStrike" cap="none" normalizeH="0" baseline="0" dirty="0">
                <a:ln>
                  <a:noFill/>
                </a:ln>
                <a:solidFill>
                  <a:schemeClr val="tx1"/>
                </a:solidFill>
                <a:effectLst/>
                <a:cs typeface="Times New Roman" panose="02020603050405020304" pitchFamily="18" charset="0"/>
              </a:rPr>
              <a:t>"gut feelings"</a:t>
            </a:r>
            <a:r>
              <a:rPr kumimoji="0" lang="en-US" altLang="en-US" sz="1400" b="0" i="0" u="none" strike="noStrike" cap="none" normalizeH="0" baseline="0" dirty="0">
                <a:ln>
                  <a:noFill/>
                </a:ln>
                <a:solidFill>
                  <a:schemeClr val="tx1"/>
                </a:solidFill>
                <a:effectLst/>
                <a:cs typeface="Times New Roman" panose="02020603050405020304" pitchFamily="18" charset="0"/>
              </a:rPr>
              <a:t> and personal expertise rather than hard numbers.</a:t>
            </a:r>
          </a:p>
          <a:p>
            <a:pPr marL="446088" marR="0" lvl="0" indent="-273050" algn="l" defTabSz="914400" rtl="0" eaLnBrk="0" fontAlgn="base" latinLnBrk="0" hangingPunct="0">
              <a:lnSpc>
                <a:spcPct val="100000"/>
              </a:lnSpc>
              <a:spcBef>
                <a:spcPts val="0"/>
              </a:spcBef>
              <a:spcAft>
                <a:spcPts val="600"/>
              </a:spcAft>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Speed vs. Depth:</a:t>
            </a:r>
            <a:r>
              <a:rPr kumimoji="0" lang="en-US" altLang="en-US" sz="1400" b="0" i="0" u="none" strike="noStrike" cap="none" normalizeH="0" baseline="0" dirty="0">
                <a:ln>
                  <a:noFill/>
                </a:ln>
                <a:solidFill>
                  <a:schemeClr val="tx1"/>
                </a:solidFill>
                <a:effectLst/>
                <a:cs typeface="Times New Roman" panose="02020603050405020304" pitchFamily="18" charset="0"/>
              </a:rPr>
              <a:t> Allows for rapid choices but may overlook hidden patterns or underlying trends that only data can reveal.</a:t>
            </a:r>
          </a:p>
          <a:p>
            <a:pPr marR="0" lvl="0" algn="l" defTabSz="914400" rtl="0" eaLnBrk="0" fontAlgn="base" latinLnBrk="0" hangingPunct="0">
              <a:lnSpc>
                <a:spcPct val="100000"/>
              </a:lnSpc>
              <a:spcBef>
                <a:spcPts val="0"/>
              </a:spcBef>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Data-Driven Decision-Making (DDDM):</a:t>
            </a:r>
            <a:endParaRPr kumimoji="0" lang="en-US" altLang="en-US" sz="1400" b="0" i="0" u="none" strike="noStrike" cap="none" normalizeH="0" baseline="0" dirty="0">
              <a:ln>
                <a:noFill/>
              </a:ln>
              <a:solidFill>
                <a:schemeClr val="tx1"/>
              </a:solidFill>
              <a:effectLst/>
              <a:cs typeface="Times New Roman" panose="02020603050405020304" pitchFamily="18" charset="0"/>
            </a:endParaRPr>
          </a:p>
          <a:p>
            <a:pPr marL="446088" marR="0" lvl="0" indent="-273050" algn="l" defTabSz="914400" rtl="0" eaLnBrk="0" fontAlgn="base" latinLnBrk="0" hangingPunct="0">
              <a:lnSpc>
                <a:spcPct val="100000"/>
              </a:lnSpc>
              <a:spcBef>
                <a:spcPts val="0"/>
              </a:spcBef>
              <a:spcAft>
                <a:spcPts val="600"/>
              </a:spcAft>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Basis:</a:t>
            </a:r>
            <a:r>
              <a:rPr kumimoji="0" lang="en-US" altLang="en-US" sz="1400" b="0" i="0" u="none" strike="noStrike" cap="none" normalizeH="0" baseline="0" dirty="0">
                <a:ln>
                  <a:noFill/>
                </a:ln>
                <a:solidFill>
                  <a:schemeClr val="tx1"/>
                </a:solidFill>
                <a:effectLst/>
                <a:cs typeface="Times New Roman" panose="02020603050405020304" pitchFamily="18" charset="0"/>
              </a:rPr>
              <a:t> Prioritizes </a:t>
            </a:r>
            <a:r>
              <a:rPr kumimoji="0" lang="en-US" altLang="en-US" sz="1400" b="1" i="0" u="none" strike="noStrike" cap="none" normalizeH="0" baseline="0" dirty="0">
                <a:ln>
                  <a:noFill/>
                </a:ln>
                <a:solidFill>
                  <a:schemeClr val="tx1"/>
                </a:solidFill>
                <a:effectLst/>
                <a:cs typeface="Times New Roman" panose="02020603050405020304" pitchFamily="18" charset="0"/>
              </a:rPr>
              <a:t>objectivity and empirical evidence</a:t>
            </a:r>
            <a:r>
              <a:rPr kumimoji="0" lang="en-US" altLang="en-US" sz="1400" b="0" i="0" u="none" strike="noStrike" cap="none" normalizeH="0" baseline="0" dirty="0">
                <a:ln>
                  <a:noFill/>
                </a:ln>
                <a:solidFill>
                  <a:schemeClr val="tx1"/>
                </a:solidFill>
                <a:effectLst/>
                <a:cs typeface="Times New Roman" panose="02020603050405020304" pitchFamily="18" charset="0"/>
              </a:rPr>
              <a:t> over personal opinion.</a:t>
            </a:r>
          </a:p>
          <a:p>
            <a:pPr marL="446088" marR="0" lvl="0" indent="-273050" algn="l" defTabSz="914400" rtl="0" eaLnBrk="0" fontAlgn="base" latinLnBrk="0" hangingPunct="0">
              <a:lnSpc>
                <a:spcPct val="100000"/>
              </a:lnSpc>
              <a:spcBef>
                <a:spcPts val="0"/>
              </a:spcBef>
              <a:spcAft>
                <a:spcPts val="600"/>
              </a:spcAft>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Focus:</a:t>
            </a:r>
            <a:r>
              <a:rPr kumimoji="0" lang="en-US" altLang="en-US" sz="1400" b="0" i="0" u="none" strike="noStrike" cap="none" normalizeH="0" baseline="0" dirty="0">
                <a:ln>
                  <a:noFill/>
                </a:ln>
                <a:solidFill>
                  <a:schemeClr val="tx1"/>
                </a:solidFill>
                <a:effectLst/>
                <a:cs typeface="Times New Roman" panose="02020603050405020304" pitchFamily="18" charset="0"/>
              </a:rPr>
              <a:t> Involves a deep dive into both </a:t>
            </a:r>
            <a:r>
              <a:rPr kumimoji="0" lang="en-US" altLang="en-US" sz="1400" b="1" i="0" u="none" strike="noStrike" cap="none" normalizeH="0" baseline="0" dirty="0">
                <a:ln>
                  <a:noFill/>
                </a:ln>
                <a:solidFill>
                  <a:schemeClr val="tx1"/>
                </a:solidFill>
                <a:effectLst/>
                <a:cs typeface="Times New Roman" panose="02020603050405020304" pitchFamily="18" charset="0"/>
              </a:rPr>
              <a:t>structured and unstructured data</a:t>
            </a:r>
            <a:r>
              <a:rPr kumimoji="0" lang="en-US" altLang="en-US" sz="1400" b="0" i="0" u="none" strike="noStrike" cap="none" normalizeH="0" baseline="0" dirty="0">
                <a:ln>
                  <a:noFill/>
                </a:ln>
                <a:solidFill>
                  <a:schemeClr val="tx1"/>
                </a:solidFill>
                <a:effectLst/>
                <a:cs typeface="Times New Roman" panose="02020603050405020304" pitchFamily="18" charset="0"/>
              </a:rPr>
              <a:t> to pull out valuable insights.</a:t>
            </a:r>
          </a:p>
          <a:p>
            <a:pPr marL="446088" marR="0" lvl="0" indent="-273050" algn="l" defTabSz="914400" rtl="0" eaLnBrk="0" fontAlgn="base" latinLnBrk="0" hangingPunct="0">
              <a:lnSpc>
                <a:spcPct val="100000"/>
              </a:lnSpc>
              <a:spcBef>
                <a:spcPts val="0"/>
              </a:spcBef>
              <a:spcAft>
                <a:spcPts val="600"/>
              </a:spcAft>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Mechanism:</a:t>
            </a:r>
            <a:r>
              <a:rPr kumimoji="0" lang="en-US" altLang="en-US" sz="1400" b="0" i="0" u="none" strike="noStrike" cap="none" normalizeH="0" baseline="0" dirty="0">
                <a:ln>
                  <a:noFill/>
                </a:ln>
                <a:solidFill>
                  <a:schemeClr val="tx1"/>
                </a:solidFill>
                <a:effectLst/>
                <a:cs typeface="Times New Roman" panose="02020603050405020304" pitchFamily="18" charset="0"/>
              </a:rPr>
              <a:t> Ensures every strategic move is backed by </a:t>
            </a:r>
            <a:r>
              <a:rPr kumimoji="0" lang="en-US" altLang="en-US" sz="1400" b="1" i="0" u="none" strike="noStrike" cap="none" normalizeH="0" baseline="0" dirty="0">
                <a:ln>
                  <a:noFill/>
                </a:ln>
                <a:solidFill>
                  <a:schemeClr val="tx1"/>
                </a:solidFill>
                <a:effectLst/>
                <a:cs typeface="Times New Roman" panose="02020603050405020304" pitchFamily="18" charset="0"/>
              </a:rPr>
              <a:t>verifiable evidence</a:t>
            </a:r>
            <a:r>
              <a:rPr kumimoji="0" lang="en-US" altLang="en-US" sz="1400" b="0" i="0" u="none" strike="noStrike" cap="none" normalizeH="0" baseline="0" dirty="0">
                <a:ln>
                  <a:noFill/>
                </a:ln>
                <a:solidFill>
                  <a:schemeClr val="tx1"/>
                </a:solidFill>
                <a:effectLst/>
                <a:cs typeface="Times New Roman" panose="02020603050405020304" pitchFamily="18" charset="0"/>
              </a:rPr>
              <a:t> and historical data.</a:t>
            </a:r>
          </a:p>
          <a:p>
            <a:pPr marL="446088" marR="0" lvl="0" indent="-273050" algn="l" defTabSz="914400" rtl="0" eaLnBrk="0" fontAlgn="base" latinLnBrk="0" hangingPunct="0">
              <a:lnSpc>
                <a:spcPct val="100000"/>
              </a:lnSpc>
              <a:spcBef>
                <a:spcPts val="0"/>
              </a:spcBef>
              <a:spcAft>
                <a:spcPts val="600"/>
              </a:spcAft>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Outcome:</a:t>
            </a:r>
            <a:r>
              <a:rPr kumimoji="0" lang="en-US" altLang="en-US" sz="1400" b="0" i="0" u="none" strike="noStrike" cap="none" normalizeH="0" baseline="0" dirty="0">
                <a:ln>
                  <a:noFill/>
                </a:ln>
                <a:solidFill>
                  <a:schemeClr val="tx1"/>
                </a:solidFill>
                <a:effectLst/>
                <a:cs typeface="Times New Roman" panose="02020603050405020304" pitchFamily="18" charset="0"/>
              </a:rPr>
              <a:t> Reduces guesswork, allowing for calculated risks and more optimized, accurate decisions.</a:t>
            </a:r>
          </a:p>
        </p:txBody>
      </p:sp>
    </p:spTree>
    <p:extLst>
      <p:ext uri="{BB962C8B-B14F-4D97-AF65-F5344CB8AC3E}">
        <p14:creationId xmlns:p14="http://schemas.microsoft.com/office/powerpoint/2010/main" val="268823864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F3978-ECAF-48C1-BB09-76D6D9A16EA2}"/>
              </a:ext>
            </a:extLst>
          </p:cNvPr>
          <p:cNvSpPr>
            <a:spLocks noGrp="1"/>
          </p:cNvSpPr>
          <p:nvPr>
            <p:ph type="title"/>
          </p:nvPr>
        </p:nvSpPr>
        <p:spPr>
          <a:xfrm>
            <a:off x="457200" y="205979"/>
            <a:ext cx="7620000" cy="857250"/>
          </a:xfrm>
        </p:spPr>
        <p:txBody>
          <a:bodyPr>
            <a:noAutofit/>
          </a:bodyPr>
          <a:lstStyle/>
          <a:p>
            <a:r>
              <a:rPr lang="en-US" sz="2600" b="1" dirty="0">
                <a:solidFill>
                  <a:schemeClr val="accent1">
                    <a:lumMod val="75000"/>
                  </a:schemeClr>
                </a:solidFill>
              </a:rPr>
              <a:t>Data-Driven Decision-Making (DDDM) – Efficiency &amp; Accuracy</a:t>
            </a:r>
            <a:endParaRPr lang="en-IN" sz="2600" b="1" dirty="0">
              <a:solidFill>
                <a:schemeClr val="accent1">
                  <a:lumMod val="75000"/>
                </a:schemeClr>
              </a:solidFill>
            </a:endParaRPr>
          </a:p>
        </p:txBody>
      </p:sp>
      <p:graphicFrame>
        <p:nvGraphicFramePr>
          <p:cNvPr id="4" name="Content Placeholder 3">
            <a:extLst>
              <a:ext uri="{FF2B5EF4-FFF2-40B4-BE49-F238E27FC236}">
                <a16:creationId xmlns:a16="http://schemas.microsoft.com/office/drawing/2014/main" id="{88C9D30B-4AFD-4817-8DE9-A775C3CDE83F}"/>
              </a:ext>
            </a:extLst>
          </p:cNvPr>
          <p:cNvGraphicFramePr>
            <a:graphicFrameLocks noGrp="1"/>
          </p:cNvGraphicFramePr>
          <p:nvPr>
            <p:ph sz="quarter" idx="1"/>
            <p:extLst>
              <p:ext uri="{D42A27DB-BD31-4B8C-83A1-F6EECF244321}">
                <p14:modId xmlns:p14="http://schemas.microsoft.com/office/powerpoint/2010/main" val="3015002773"/>
              </p:ext>
            </p:extLst>
          </p:nvPr>
        </p:nvGraphicFramePr>
        <p:xfrm>
          <a:off x="457200" y="1779662"/>
          <a:ext cx="7620000" cy="3077229"/>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76332240"/>
                    </a:ext>
                  </a:extLst>
                </a:gridCol>
                <a:gridCol w="3810000">
                  <a:extLst>
                    <a:ext uri="{9D8B030D-6E8A-4147-A177-3AD203B41FA5}">
                      <a16:colId xmlns:a16="http://schemas.microsoft.com/office/drawing/2014/main" val="290400086"/>
                    </a:ext>
                  </a:extLst>
                </a:gridCol>
              </a:tblGrid>
              <a:tr h="515857">
                <a:tc>
                  <a:txBody>
                    <a:bodyPr/>
                    <a:lstStyle/>
                    <a:p>
                      <a:pPr algn="ctr">
                        <a:spcBef>
                          <a:spcPts val="600"/>
                        </a:spcBef>
                        <a:spcAft>
                          <a:spcPts val="600"/>
                        </a:spcAft>
                      </a:pPr>
                      <a:r>
                        <a:rPr lang="en-IN" sz="1400" b="1" dirty="0">
                          <a:solidFill>
                            <a:schemeClr val="tx1"/>
                          </a:solidFill>
                          <a:latin typeface="Times New Roman" panose="02020603050405020304" pitchFamily="18" charset="0"/>
                          <a:cs typeface="Times New Roman" panose="02020603050405020304" pitchFamily="18" charset="0"/>
                        </a:rPr>
                        <a:t>Benefits (The Strengths)</a:t>
                      </a:r>
                      <a:endParaRPr lang="en-IN" sz="14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spcBef>
                          <a:spcPts val="600"/>
                        </a:spcBef>
                        <a:spcAft>
                          <a:spcPts val="600"/>
                        </a:spcAft>
                      </a:pPr>
                      <a:r>
                        <a:rPr lang="en-IN" sz="1400" b="1" dirty="0">
                          <a:solidFill>
                            <a:schemeClr val="tx1"/>
                          </a:solidFill>
                          <a:latin typeface="Times New Roman" panose="02020603050405020304" pitchFamily="18" charset="0"/>
                          <a:cs typeface="Times New Roman" panose="02020603050405020304" pitchFamily="18" charset="0"/>
                        </a:rPr>
                        <a:t>Challenges (The Barriers)</a:t>
                      </a:r>
                      <a:endParaRPr lang="en-IN" sz="1400" dirty="0">
                        <a:solidFill>
                          <a:schemeClr val="tx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87005373"/>
                  </a:ext>
                </a:extLst>
              </a:tr>
              <a:tr h="1017582">
                <a:tc>
                  <a:txBody>
                    <a:bodyPr/>
                    <a:lstStyle/>
                    <a:p>
                      <a:pPr>
                        <a:spcBef>
                          <a:spcPts val="600"/>
                        </a:spcBef>
                        <a:spcAft>
                          <a:spcPts val="600"/>
                        </a:spcAft>
                      </a:pPr>
                      <a:r>
                        <a:rPr lang="en-US" sz="1400" b="1" dirty="0">
                          <a:solidFill>
                            <a:schemeClr val="tx1"/>
                          </a:solidFill>
                          <a:latin typeface="Times New Roman" panose="02020603050405020304" pitchFamily="18" charset="0"/>
                          <a:cs typeface="Times New Roman" panose="02020603050405020304" pitchFamily="18" charset="0"/>
                        </a:rPr>
                        <a:t>Informed Decisions:</a:t>
                      </a:r>
                      <a:r>
                        <a:rPr lang="en-US" sz="1400" dirty="0">
                          <a:solidFill>
                            <a:schemeClr val="tx1"/>
                          </a:solidFill>
                          <a:latin typeface="Times New Roman" panose="02020603050405020304" pitchFamily="18" charset="0"/>
                          <a:cs typeface="Times New Roman" panose="02020603050405020304" pitchFamily="18" charset="0"/>
                        </a:rPr>
                        <a:t> Uses structured frameworks to analyze trends and predict outcomes, reducing guesswork.</a:t>
                      </a:r>
                    </a:p>
                  </a:txBody>
                  <a:tcPr anchor="ctr"/>
                </a:tc>
                <a:tc>
                  <a:txBody>
                    <a:bodyPr/>
                    <a:lstStyle/>
                    <a:p>
                      <a:pPr>
                        <a:spcBef>
                          <a:spcPts val="600"/>
                        </a:spcBef>
                        <a:spcAft>
                          <a:spcPts val="600"/>
                        </a:spcAft>
                      </a:pPr>
                      <a:r>
                        <a:rPr lang="en-US" sz="1400" b="1" dirty="0">
                          <a:solidFill>
                            <a:schemeClr val="tx1"/>
                          </a:solidFill>
                          <a:latin typeface="Times New Roman" panose="02020603050405020304" pitchFamily="18" charset="0"/>
                          <a:cs typeface="Times New Roman" panose="02020603050405020304" pitchFamily="18" charset="0"/>
                        </a:rPr>
                        <a:t>Data Integrity:</a:t>
                      </a:r>
                      <a:r>
                        <a:rPr lang="en-US" sz="1400" dirty="0">
                          <a:solidFill>
                            <a:schemeClr val="tx1"/>
                          </a:solidFill>
                          <a:latin typeface="Times New Roman" panose="02020603050405020304" pitchFamily="18" charset="0"/>
                          <a:cs typeface="Times New Roman" panose="02020603050405020304" pitchFamily="18" charset="0"/>
                        </a:rPr>
                        <a:t> Success depends entirely on high-quality, accurate data; "garbage in, garbage out."</a:t>
                      </a:r>
                    </a:p>
                  </a:txBody>
                  <a:tcPr anchor="ctr"/>
                </a:tc>
                <a:extLst>
                  <a:ext uri="{0D108BD9-81ED-4DB2-BD59-A6C34878D82A}">
                    <a16:rowId xmlns:a16="http://schemas.microsoft.com/office/drawing/2014/main" val="2932408212"/>
                  </a:ext>
                </a:extLst>
              </a:tr>
              <a:tr h="771895">
                <a:tc>
                  <a:txBody>
                    <a:bodyPr/>
                    <a:lstStyle/>
                    <a:p>
                      <a:pPr>
                        <a:spcBef>
                          <a:spcPts val="600"/>
                        </a:spcBef>
                        <a:spcAft>
                          <a:spcPts val="600"/>
                        </a:spcAft>
                      </a:pPr>
                      <a:r>
                        <a:rPr lang="en-US" sz="1400" b="1" dirty="0">
                          <a:solidFill>
                            <a:schemeClr val="tx1"/>
                          </a:solidFill>
                          <a:latin typeface="Times New Roman" panose="02020603050405020304" pitchFamily="18" charset="0"/>
                          <a:cs typeface="Times New Roman" panose="02020603050405020304" pitchFamily="18" charset="0"/>
                        </a:rPr>
                        <a:t>Reduced Bias:</a:t>
                      </a:r>
                      <a:r>
                        <a:rPr lang="en-US" sz="1400" dirty="0">
                          <a:solidFill>
                            <a:schemeClr val="tx1"/>
                          </a:solidFill>
                          <a:latin typeface="Times New Roman" panose="02020603050405020304" pitchFamily="18" charset="0"/>
                          <a:cs typeface="Times New Roman" panose="02020603050405020304" pitchFamily="18" charset="0"/>
                        </a:rPr>
                        <a:t> Minimizes personal prejudices and cognitive shortcuts that often cloud human judgment.</a:t>
                      </a:r>
                    </a:p>
                  </a:txBody>
                  <a:tcPr anchor="ctr"/>
                </a:tc>
                <a:tc>
                  <a:txBody>
                    <a:bodyPr/>
                    <a:lstStyle/>
                    <a:p>
                      <a:pPr>
                        <a:spcBef>
                          <a:spcPts val="600"/>
                        </a:spcBef>
                        <a:spcAft>
                          <a:spcPts val="600"/>
                        </a:spcAft>
                      </a:pPr>
                      <a:r>
                        <a:rPr lang="en-US" sz="1400" b="1">
                          <a:solidFill>
                            <a:schemeClr val="tx1"/>
                          </a:solidFill>
                          <a:latin typeface="Times New Roman" panose="02020603050405020304" pitchFamily="18" charset="0"/>
                          <a:cs typeface="Times New Roman" panose="02020603050405020304" pitchFamily="18" charset="0"/>
                        </a:rPr>
                        <a:t>Resource Intensive:</a:t>
                      </a:r>
                      <a:r>
                        <a:rPr lang="en-US" sz="1400">
                          <a:solidFill>
                            <a:schemeClr val="tx1"/>
                          </a:solidFill>
                          <a:latin typeface="Times New Roman" panose="02020603050405020304" pitchFamily="18" charset="0"/>
                          <a:cs typeface="Times New Roman" panose="02020603050405020304" pitchFamily="18" charset="0"/>
                        </a:rPr>
                        <a:t> Requires significant investment in infrastructure, software, and data storage.</a:t>
                      </a:r>
                    </a:p>
                  </a:txBody>
                  <a:tcPr anchor="ctr"/>
                </a:tc>
                <a:extLst>
                  <a:ext uri="{0D108BD9-81ED-4DB2-BD59-A6C34878D82A}">
                    <a16:rowId xmlns:a16="http://schemas.microsoft.com/office/drawing/2014/main" val="3523604574"/>
                  </a:ext>
                </a:extLst>
              </a:tr>
              <a:tr h="771895">
                <a:tc>
                  <a:txBody>
                    <a:bodyPr/>
                    <a:lstStyle/>
                    <a:p>
                      <a:pPr>
                        <a:spcBef>
                          <a:spcPts val="600"/>
                        </a:spcBef>
                        <a:spcAft>
                          <a:spcPts val="600"/>
                        </a:spcAft>
                      </a:pPr>
                      <a:r>
                        <a:rPr lang="en-US" sz="1400" b="1">
                          <a:solidFill>
                            <a:schemeClr val="tx1"/>
                          </a:solidFill>
                          <a:latin typeface="Times New Roman" panose="02020603050405020304" pitchFamily="18" charset="0"/>
                          <a:cs typeface="Times New Roman" panose="02020603050405020304" pitchFamily="18" charset="0"/>
                        </a:rPr>
                        <a:t>Dynamic Adaptability:</a:t>
                      </a:r>
                      <a:r>
                        <a:rPr lang="en-US" sz="1400">
                          <a:solidFill>
                            <a:schemeClr val="tx1"/>
                          </a:solidFill>
                          <a:latin typeface="Times New Roman" panose="02020603050405020304" pitchFamily="18" charset="0"/>
                          <a:cs typeface="Times New Roman" panose="02020603050405020304" pitchFamily="18" charset="0"/>
                        </a:rPr>
                        <a:t> Enables the organization to pivot quickly by identifying real-time market shifts.</a:t>
                      </a:r>
                    </a:p>
                  </a:txBody>
                  <a:tcPr anchor="ctr"/>
                </a:tc>
                <a:tc>
                  <a:txBody>
                    <a:bodyPr/>
                    <a:lstStyle/>
                    <a:p>
                      <a:pPr>
                        <a:spcBef>
                          <a:spcPts val="600"/>
                        </a:spcBef>
                        <a:spcAft>
                          <a:spcPts val="600"/>
                        </a:spcAft>
                      </a:pPr>
                      <a:r>
                        <a:rPr lang="en-US" sz="1400" b="1" dirty="0">
                          <a:solidFill>
                            <a:schemeClr val="tx1"/>
                          </a:solidFill>
                          <a:latin typeface="Times New Roman" panose="02020603050405020304" pitchFamily="18" charset="0"/>
                          <a:cs typeface="Times New Roman" panose="02020603050405020304" pitchFamily="18" charset="0"/>
                        </a:rPr>
                        <a:t>Skill Gap:</a:t>
                      </a:r>
                      <a:r>
                        <a:rPr lang="en-US" sz="1400" dirty="0">
                          <a:solidFill>
                            <a:schemeClr val="tx1"/>
                          </a:solidFill>
                          <a:latin typeface="Times New Roman" panose="02020603050405020304" pitchFamily="18" charset="0"/>
                          <a:cs typeface="Times New Roman" panose="02020603050405020304" pitchFamily="18" charset="0"/>
                        </a:rPr>
                        <a:t> Demands specialized training in data analytics and technical proficiency to interpret results.</a:t>
                      </a:r>
                    </a:p>
                  </a:txBody>
                  <a:tcPr anchor="ctr"/>
                </a:tc>
                <a:extLst>
                  <a:ext uri="{0D108BD9-81ED-4DB2-BD59-A6C34878D82A}">
                    <a16:rowId xmlns:a16="http://schemas.microsoft.com/office/drawing/2014/main" val="2202774385"/>
                  </a:ext>
                </a:extLst>
              </a:tr>
            </a:tbl>
          </a:graphicData>
        </a:graphic>
      </p:graphicFrame>
      <p:sp>
        <p:nvSpPr>
          <p:cNvPr id="5" name="Rectangle 4">
            <a:extLst>
              <a:ext uri="{FF2B5EF4-FFF2-40B4-BE49-F238E27FC236}">
                <a16:creationId xmlns:a16="http://schemas.microsoft.com/office/drawing/2014/main" id="{57E6B5B1-6CBD-48D7-9756-00974A49613A}"/>
              </a:ext>
            </a:extLst>
          </p:cNvPr>
          <p:cNvSpPr/>
          <p:nvPr/>
        </p:nvSpPr>
        <p:spPr>
          <a:xfrm>
            <a:off x="457200" y="1203598"/>
            <a:ext cx="7620000" cy="523220"/>
          </a:xfrm>
          <a:prstGeom prst="rect">
            <a:avLst/>
          </a:prstGeom>
        </p:spPr>
        <p:txBody>
          <a:bodyPr wrap="square">
            <a:spAutoFit/>
          </a:bodyPr>
          <a:lstStyle/>
          <a:p>
            <a:r>
              <a:rPr lang="en-US" sz="1400" b="1" dirty="0">
                <a:latin typeface="Times New Roman" panose="02020603050405020304" pitchFamily="18" charset="0"/>
                <a:cs typeface="Times New Roman" panose="02020603050405020304" pitchFamily="18" charset="0"/>
              </a:rPr>
              <a:t>Core Definition:</a:t>
            </a:r>
            <a:r>
              <a:rPr lang="en-US" sz="1400" dirty="0">
                <a:latin typeface="Times New Roman" panose="02020603050405020304" pitchFamily="18" charset="0"/>
                <a:cs typeface="Times New Roman" panose="02020603050405020304" pitchFamily="18" charset="0"/>
              </a:rPr>
              <a:t> The practice of basing strategic choices on verified data analysis rather than intuition alone.</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40419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AFD80-3C19-4517-99FA-8C1A174513E7}"/>
              </a:ext>
            </a:extLst>
          </p:cNvPr>
          <p:cNvSpPr>
            <a:spLocks noGrp="1"/>
          </p:cNvSpPr>
          <p:nvPr>
            <p:ph type="title"/>
          </p:nvPr>
        </p:nvSpPr>
        <p:spPr/>
        <p:txBody>
          <a:bodyPr>
            <a:noAutofit/>
          </a:bodyPr>
          <a:lstStyle/>
          <a:p>
            <a:r>
              <a:rPr lang="en-IN" sz="2600" b="1" dirty="0">
                <a:solidFill>
                  <a:schemeClr val="accent1">
                    <a:lumMod val="75000"/>
                  </a:schemeClr>
                </a:solidFill>
              </a:rPr>
              <a:t>Traditional Decision-Making – Insight &amp; Agility</a:t>
            </a:r>
          </a:p>
        </p:txBody>
      </p:sp>
      <p:sp>
        <p:nvSpPr>
          <p:cNvPr id="3" name="Content Placeholder 2">
            <a:extLst>
              <a:ext uri="{FF2B5EF4-FFF2-40B4-BE49-F238E27FC236}">
                <a16:creationId xmlns:a16="http://schemas.microsoft.com/office/drawing/2014/main" id="{F3E84090-5B85-4B40-8197-C0F8EA312885}"/>
              </a:ext>
            </a:extLst>
          </p:cNvPr>
          <p:cNvSpPr>
            <a:spLocks noGrp="1"/>
          </p:cNvSpPr>
          <p:nvPr>
            <p:ph sz="quarter" idx="1"/>
          </p:nvPr>
        </p:nvSpPr>
        <p:spPr/>
        <p:txBody>
          <a:bodyPr>
            <a:normAutofit/>
          </a:bodyPr>
          <a:lstStyle/>
          <a:p>
            <a:pPr marL="0" indent="0">
              <a:buNone/>
            </a:pPr>
            <a:r>
              <a:rPr lang="en-US" sz="1400" b="1" dirty="0"/>
              <a:t>Core Definition:</a:t>
            </a:r>
            <a:r>
              <a:rPr lang="en-US" sz="1400" dirty="0"/>
              <a:t> An approach relying on human experience, professional judgment, and qualitative assessment.</a:t>
            </a:r>
          </a:p>
          <a:p>
            <a:endParaRPr lang="en-IN" sz="1400" dirty="0"/>
          </a:p>
        </p:txBody>
      </p:sp>
      <p:graphicFrame>
        <p:nvGraphicFramePr>
          <p:cNvPr id="4" name="Table 3">
            <a:extLst>
              <a:ext uri="{FF2B5EF4-FFF2-40B4-BE49-F238E27FC236}">
                <a16:creationId xmlns:a16="http://schemas.microsoft.com/office/drawing/2014/main" id="{C12D71C6-8D04-495E-9F27-A47EBDCA86AB}"/>
              </a:ext>
            </a:extLst>
          </p:cNvPr>
          <p:cNvGraphicFramePr>
            <a:graphicFrameLocks noGrp="1"/>
          </p:cNvGraphicFramePr>
          <p:nvPr>
            <p:extLst>
              <p:ext uri="{D42A27DB-BD31-4B8C-83A1-F6EECF244321}">
                <p14:modId xmlns:p14="http://schemas.microsoft.com/office/powerpoint/2010/main" val="846654421"/>
              </p:ext>
            </p:extLst>
          </p:nvPr>
        </p:nvGraphicFramePr>
        <p:xfrm>
          <a:off x="457200" y="1885950"/>
          <a:ext cx="7620000" cy="2969515"/>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895235634"/>
                    </a:ext>
                  </a:extLst>
                </a:gridCol>
                <a:gridCol w="3810000">
                  <a:extLst>
                    <a:ext uri="{9D8B030D-6E8A-4147-A177-3AD203B41FA5}">
                      <a16:colId xmlns:a16="http://schemas.microsoft.com/office/drawing/2014/main" val="592727138"/>
                    </a:ext>
                  </a:extLst>
                </a:gridCol>
              </a:tblGrid>
              <a:tr h="429256">
                <a:tc>
                  <a:txBody>
                    <a:bodyPr/>
                    <a:lstStyle/>
                    <a:p>
                      <a:pPr algn="ctr"/>
                      <a:r>
                        <a:rPr lang="en-IN" sz="1400" b="1" dirty="0">
                          <a:solidFill>
                            <a:schemeClr val="tx1"/>
                          </a:solidFill>
                          <a:effectLst/>
                          <a:latin typeface="Times New Roman" panose="02020603050405020304" pitchFamily="18" charset="0"/>
                          <a:cs typeface="Times New Roman" panose="02020603050405020304" pitchFamily="18" charset="0"/>
                        </a:rPr>
                        <a:t>Benefits (The Strengths)</a:t>
                      </a:r>
                      <a:endParaRPr lang="en-IN" sz="1400" dirty="0">
                        <a:solidFill>
                          <a:schemeClr val="tx1"/>
                        </a:solidFill>
                        <a:effectLst/>
                        <a:latin typeface="Times New Roman" panose="02020603050405020304" pitchFamily="18" charset="0"/>
                        <a:cs typeface="Times New Roman" panose="02020603050405020304" pitchFamily="18" charset="0"/>
                      </a:endParaRPr>
                    </a:p>
                  </a:txBody>
                  <a:tcPr anchor="ctr"/>
                </a:tc>
                <a:tc>
                  <a:txBody>
                    <a:bodyPr/>
                    <a:lstStyle/>
                    <a:p>
                      <a:pPr algn="ctr"/>
                      <a:r>
                        <a:rPr lang="en-IN" sz="1400" b="1" dirty="0">
                          <a:solidFill>
                            <a:schemeClr val="tx1"/>
                          </a:solidFill>
                          <a:effectLst/>
                          <a:latin typeface="Times New Roman" panose="02020603050405020304" pitchFamily="18" charset="0"/>
                          <a:cs typeface="Times New Roman" panose="02020603050405020304" pitchFamily="18" charset="0"/>
                        </a:rPr>
                        <a:t>Challenges (The Barriers)</a:t>
                      </a:r>
                      <a:endParaRPr lang="en-IN" sz="1400" dirty="0">
                        <a:solidFill>
                          <a:schemeClr val="tx1"/>
                        </a:solidFill>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562120775"/>
                  </a:ext>
                </a:extLst>
              </a:tr>
              <a:tr h="846753">
                <a:tc>
                  <a:txBody>
                    <a:bodyPr/>
                    <a:lstStyle/>
                    <a:p>
                      <a:r>
                        <a:rPr lang="en-US" sz="1400" b="1" dirty="0">
                          <a:solidFill>
                            <a:schemeClr val="tx1"/>
                          </a:solidFill>
                          <a:effectLst/>
                          <a:latin typeface="Times New Roman" panose="02020603050405020304" pitchFamily="18" charset="0"/>
                          <a:cs typeface="Times New Roman" panose="02020603050405020304" pitchFamily="18" charset="0"/>
                        </a:rPr>
                        <a:t>Operational Flexibility:</a:t>
                      </a:r>
                      <a:r>
                        <a:rPr lang="en-US" sz="1400" dirty="0">
                          <a:solidFill>
                            <a:schemeClr val="tx1"/>
                          </a:solidFill>
                          <a:effectLst/>
                          <a:latin typeface="Times New Roman" panose="02020603050405020304" pitchFamily="18" charset="0"/>
                          <a:cs typeface="Times New Roman" panose="02020603050405020304" pitchFamily="18" charset="0"/>
                        </a:rPr>
                        <a:t> Allows for rapid, immediate action without waiting for extensive data collection.</a:t>
                      </a:r>
                    </a:p>
                  </a:txBody>
                  <a:tcPr anchor="ctr"/>
                </a:tc>
                <a:tc>
                  <a:txBody>
                    <a:bodyPr/>
                    <a:lstStyle/>
                    <a:p>
                      <a:r>
                        <a:rPr lang="en-US" sz="1400" b="1" dirty="0">
                          <a:solidFill>
                            <a:schemeClr val="tx1"/>
                          </a:solidFill>
                          <a:effectLst/>
                          <a:latin typeface="Times New Roman" panose="02020603050405020304" pitchFamily="18" charset="0"/>
                          <a:cs typeface="Times New Roman" panose="02020603050405020304" pitchFamily="18" charset="0"/>
                        </a:rPr>
                        <a:t>High Subjectivity:</a:t>
                      </a:r>
                      <a:r>
                        <a:rPr lang="en-US" sz="1400" dirty="0">
                          <a:solidFill>
                            <a:schemeClr val="tx1"/>
                          </a:solidFill>
                          <a:effectLst/>
                          <a:latin typeface="Times New Roman" panose="02020603050405020304" pitchFamily="18" charset="0"/>
                          <a:cs typeface="Times New Roman" panose="02020603050405020304" pitchFamily="18" charset="0"/>
                        </a:rPr>
                        <a:t> Highly prone to individual assumptions and biases that can lead to skewed results.</a:t>
                      </a:r>
                    </a:p>
                  </a:txBody>
                  <a:tcPr anchor="ctr"/>
                </a:tc>
                <a:extLst>
                  <a:ext uri="{0D108BD9-81ED-4DB2-BD59-A6C34878D82A}">
                    <a16:rowId xmlns:a16="http://schemas.microsoft.com/office/drawing/2014/main" val="2739071920"/>
                  </a:ext>
                </a:extLst>
              </a:tr>
              <a:tr h="846753">
                <a:tc>
                  <a:txBody>
                    <a:bodyPr/>
                    <a:lstStyle/>
                    <a:p>
                      <a:r>
                        <a:rPr lang="en-US" sz="1400" b="1">
                          <a:solidFill>
                            <a:schemeClr val="tx1"/>
                          </a:solidFill>
                          <a:effectLst/>
                          <a:latin typeface="Times New Roman" panose="02020603050405020304" pitchFamily="18" charset="0"/>
                          <a:cs typeface="Times New Roman" panose="02020603050405020304" pitchFamily="18" charset="0"/>
                        </a:rPr>
                        <a:t>Creative Human Insight:</a:t>
                      </a:r>
                      <a:r>
                        <a:rPr lang="en-US" sz="1400">
                          <a:solidFill>
                            <a:schemeClr val="tx1"/>
                          </a:solidFill>
                          <a:effectLst/>
                          <a:latin typeface="Times New Roman" panose="02020603050405020304" pitchFamily="18" charset="0"/>
                          <a:cs typeface="Times New Roman" panose="02020603050405020304" pitchFamily="18" charset="0"/>
                        </a:rPr>
                        <a:t> Leverages the nuanced understanding and "gut feeling" of seasoned industry experts.</a:t>
                      </a:r>
                    </a:p>
                  </a:txBody>
                  <a:tcPr anchor="ctr"/>
                </a:tc>
                <a:tc>
                  <a:txBody>
                    <a:bodyPr/>
                    <a:lstStyle/>
                    <a:p>
                      <a:r>
                        <a:rPr lang="en-US" sz="1400" b="1">
                          <a:solidFill>
                            <a:schemeClr val="tx1"/>
                          </a:solidFill>
                          <a:effectLst/>
                          <a:latin typeface="Times New Roman" panose="02020603050405020304" pitchFamily="18" charset="0"/>
                          <a:cs typeface="Times New Roman" panose="02020603050405020304" pitchFamily="18" charset="0"/>
                        </a:rPr>
                        <a:t>Increased Risk of Error:</a:t>
                      </a:r>
                      <a:r>
                        <a:rPr lang="en-US" sz="1400">
                          <a:solidFill>
                            <a:schemeClr val="tx1"/>
                          </a:solidFill>
                          <a:effectLst/>
                          <a:latin typeface="Times New Roman" panose="02020603050405020304" pitchFamily="18" charset="0"/>
                          <a:cs typeface="Times New Roman" panose="02020603050405020304" pitchFamily="18" charset="0"/>
                        </a:rPr>
                        <a:t> Lacks empirical evidence, which can lead to inconsistent or suboptimal outcomes.</a:t>
                      </a:r>
                    </a:p>
                  </a:txBody>
                  <a:tcPr anchor="ctr"/>
                </a:tc>
                <a:extLst>
                  <a:ext uri="{0D108BD9-81ED-4DB2-BD59-A6C34878D82A}">
                    <a16:rowId xmlns:a16="http://schemas.microsoft.com/office/drawing/2014/main" val="4196140964"/>
                  </a:ext>
                </a:extLst>
              </a:tr>
              <a:tr h="846753">
                <a:tc>
                  <a:txBody>
                    <a:bodyPr/>
                    <a:lstStyle/>
                    <a:p>
                      <a:r>
                        <a:rPr lang="en-US" sz="1400" b="1" dirty="0">
                          <a:solidFill>
                            <a:schemeClr val="tx1"/>
                          </a:solidFill>
                          <a:effectLst/>
                          <a:latin typeface="Times New Roman" panose="02020603050405020304" pitchFamily="18" charset="0"/>
                          <a:cs typeface="Times New Roman" panose="02020603050405020304" pitchFamily="18" charset="0"/>
                        </a:rPr>
                        <a:t>Process Simplicity:</a:t>
                      </a:r>
                      <a:r>
                        <a:rPr lang="en-US" sz="1400" dirty="0">
                          <a:solidFill>
                            <a:schemeClr val="tx1"/>
                          </a:solidFill>
                          <a:effectLst/>
                          <a:latin typeface="Times New Roman" panose="02020603050405020304" pitchFamily="18" charset="0"/>
                          <a:cs typeface="Times New Roman" panose="02020603050405020304" pitchFamily="18" charset="0"/>
                        </a:rPr>
                        <a:t> Streamlines decision-making by removing the need for complex technical systems.</a:t>
                      </a:r>
                    </a:p>
                  </a:txBody>
                  <a:tcPr anchor="ctr"/>
                </a:tc>
                <a:tc>
                  <a:txBody>
                    <a:bodyPr/>
                    <a:lstStyle/>
                    <a:p>
                      <a:r>
                        <a:rPr lang="en-US" sz="1400" b="1" dirty="0">
                          <a:solidFill>
                            <a:schemeClr val="tx1"/>
                          </a:solidFill>
                          <a:effectLst/>
                          <a:latin typeface="Times New Roman" panose="02020603050405020304" pitchFamily="18" charset="0"/>
                          <a:cs typeface="Times New Roman" panose="02020603050405020304" pitchFamily="18" charset="0"/>
                        </a:rPr>
                        <a:t>Limited Scalability:</a:t>
                      </a:r>
                      <a:r>
                        <a:rPr lang="en-US" sz="1400" dirty="0">
                          <a:solidFill>
                            <a:schemeClr val="tx1"/>
                          </a:solidFill>
                          <a:effectLst/>
                          <a:latin typeface="Times New Roman" panose="02020603050405020304" pitchFamily="18" charset="0"/>
                          <a:cs typeface="Times New Roman" panose="02020603050405020304" pitchFamily="18" charset="0"/>
                        </a:rPr>
                        <a:t> Struggles to handle the massive volume and velocity of data in the modern digital age.</a:t>
                      </a:r>
                    </a:p>
                  </a:txBody>
                  <a:tcPr anchor="ctr"/>
                </a:tc>
                <a:extLst>
                  <a:ext uri="{0D108BD9-81ED-4DB2-BD59-A6C34878D82A}">
                    <a16:rowId xmlns:a16="http://schemas.microsoft.com/office/drawing/2014/main" val="2253052069"/>
                  </a:ext>
                </a:extLst>
              </a:tr>
            </a:tbl>
          </a:graphicData>
        </a:graphic>
      </p:graphicFrame>
    </p:spTree>
    <p:extLst>
      <p:ext uri="{BB962C8B-B14F-4D97-AF65-F5344CB8AC3E}">
        <p14:creationId xmlns:p14="http://schemas.microsoft.com/office/powerpoint/2010/main" val="411143514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3B43F-0908-4C0C-B659-3D51B74C974E}"/>
              </a:ext>
            </a:extLst>
          </p:cNvPr>
          <p:cNvSpPr>
            <a:spLocks noGrp="1"/>
          </p:cNvSpPr>
          <p:nvPr>
            <p:ph type="title"/>
          </p:nvPr>
        </p:nvSpPr>
        <p:spPr>
          <a:xfrm>
            <a:off x="457200" y="205979"/>
            <a:ext cx="7467600" cy="689371"/>
          </a:xfrm>
        </p:spPr>
        <p:txBody>
          <a:bodyPr>
            <a:normAutofit/>
          </a:bodyPr>
          <a:lstStyle/>
          <a:p>
            <a:r>
              <a:rPr lang="en-US" sz="2600" b="1" dirty="0">
                <a:solidFill>
                  <a:schemeClr val="accent1">
                    <a:lumMod val="75000"/>
                  </a:schemeClr>
                </a:solidFill>
              </a:rPr>
              <a:t>The Roadmap to Implementing DDDM</a:t>
            </a:r>
            <a:endParaRPr lang="en-IN" sz="2600" b="1" dirty="0">
              <a:solidFill>
                <a:schemeClr val="accent1">
                  <a:lumMod val="75000"/>
                </a:schemeClr>
              </a:solidFill>
            </a:endParaRPr>
          </a:p>
        </p:txBody>
      </p:sp>
      <p:sp>
        <p:nvSpPr>
          <p:cNvPr id="3" name="Content Placeholder 2">
            <a:extLst>
              <a:ext uri="{FF2B5EF4-FFF2-40B4-BE49-F238E27FC236}">
                <a16:creationId xmlns:a16="http://schemas.microsoft.com/office/drawing/2014/main" id="{CDD1CA91-2E6C-42AB-BEE9-8B2E0E669759}"/>
              </a:ext>
            </a:extLst>
          </p:cNvPr>
          <p:cNvSpPr>
            <a:spLocks noGrp="1"/>
          </p:cNvSpPr>
          <p:nvPr>
            <p:ph sz="quarter" idx="1"/>
          </p:nvPr>
        </p:nvSpPr>
        <p:spPr>
          <a:xfrm>
            <a:off x="457200" y="1004668"/>
            <a:ext cx="7467600" cy="3655314"/>
          </a:xfrm>
        </p:spPr>
        <p:txBody>
          <a:bodyPr>
            <a:noAutofit/>
          </a:bodyPr>
          <a:lstStyle/>
          <a:p>
            <a:pPr marL="271463" indent="0">
              <a:buNone/>
            </a:pPr>
            <a:r>
              <a:rPr lang="en-US" sz="1400" dirty="0"/>
              <a:t>Transitioning to an evidence-based strategy involves five core steps:</a:t>
            </a:r>
          </a:p>
          <a:p>
            <a:pPr>
              <a:buSzPct val="100000"/>
            </a:pPr>
            <a:r>
              <a:rPr lang="en-US" sz="1400" b="1" dirty="0"/>
              <a:t>Determine Business Need</a:t>
            </a:r>
            <a:r>
              <a:rPr lang="en-US" sz="1400" dirty="0"/>
              <a:t> Identify high-impact challenges or market opportunities where data can solve friction points, such as customer churn or operational bottlenecks, to provide immediate value.</a:t>
            </a:r>
          </a:p>
          <a:p>
            <a:pPr>
              <a:buSzPct val="100000"/>
            </a:pPr>
            <a:r>
              <a:rPr lang="en-US" sz="1400" b="1" dirty="0"/>
              <a:t>Identify Strategic Goals</a:t>
            </a:r>
            <a:r>
              <a:rPr lang="en-US" sz="1400" dirty="0"/>
              <a:t> Define measurable objectives and Key Results (OKRs). Establishing clear targets, like specific percentage improvements, ensures organizational alignment.</a:t>
            </a:r>
          </a:p>
          <a:p>
            <a:pPr>
              <a:buSzPct val="100000"/>
            </a:pPr>
            <a:r>
              <a:rPr lang="en-US" sz="1400" b="1" dirty="0"/>
              <a:t>Target Relevant Data Sources</a:t>
            </a:r>
            <a:r>
              <a:rPr lang="en-US" sz="1400" dirty="0"/>
              <a:t> Pinpoint internal and external information—from CRM records to market trends—to ensure you are capturing the most relevant signals for your goals.</a:t>
            </a:r>
          </a:p>
          <a:p>
            <a:pPr>
              <a:buSzPct val="100000"/>
            </a:pPr>
            <a:r>
              <a:rPr lang="en-US" sz="1400" b="1" dirty="0"/>
              <a:t>Collect and Analyze</a:t>
            </a:r>
            <a:r>
              <a:rPr lang="en-US" sz="1400" dirty="0"/>
              <a:t> Use analytical tools to move beyond simple reporting. This stage uncovers hidden patterns and non-linear relationships that manual observation misses.</a:t>
            </a:r>
          </a:p>
          <a:p>
            <a:pPr>
              <a:buSzPct val="100000"/>
            </a:pPr>
            <a:r>
              <a:rPr lang="en-US" sz="1400" b="1" dirty="0"/>
              <a:t>Turn Insight into Strategic Action</a:t>
            </a:r>
            <a:r>
              <a:rPr lang="en-US" sz="1400" dirty="0"/>
              <a:t> Translate findings into concrete business moves. Assigning clear ownership ensures that data discovery leads to a tangible change in performance.</a:t>
            </a:r>
          </a:p>
        </p:txBody>
      </p:sp>
    </p:spTree>
    <p:extLst>
      <p:ext uri="{BB962C8B-B14F-4D97-AF65-F5344CB8AC3E}">
        <p14:creationId xmlns:p14="http://schemas.microsoft.com/office/powerpoint/2010/main" val="314678696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B4209-DA2B-41DA-98E5-091AEDD7108B}"/>
              </a:ext>
            </a:extLst>
          </p:cNvPr>
          <p:cNvSpPr>
            <a:spLocks noGrp="1"/>
          </p:cNvSpPr>
          <p:nvPr>
            <p:ph type="title"/>
          </p:nvPr>
        </p:nvSpPr>
        <p:spPr>
          <a:xfrm>
            <a:off x="457200" y="205979"/>
            <a:ext cx="8153400" cy="536971"/>
          </a:xfrm>
        </p:spPr>
        <p:txBody>
          <a:bodyPr>
            <a:normAutofit/>
          </a:bodyPr>
          <a:lstStyle/>
          <a:p>
            <a:r>
              <a:rPr lang="en-US" sz="2600" b="1" dirty="0">
                <a:solidFill>
                  <a:schemeClr val="accent1">
                    <a:lumMod val="75000"/>
                  </a:schemeClr>
                </a:solidFill>
              </a:rPr>
              <a:t>Technology's Role in Data-Driven Decisions</a:t>
            </a:r>
            <a:endParaRPr lang="en-IN" sz="2600" b="1" dirty="0">
              <a:solidFill>
                <a:schemeClr val="accent1">
                  <a:lumMod val="75000"/>
                </a:schemeClr>
              </a:solidFill>
            </a:endParaRPr>
          </a:p>
        </p:txBody>
      </p:sp>
      <p:sp>
        <p:nvSpPr>
          <p:cNvPr id="3" name="Content Placeholder 2">
            <a:extLst>
              <a:ext uri="{FF2B5EF4-FFF2-40B4-BE49-F238E27FC236}">
                <a16:creationId xmlns:a16="http://schemas.microsoft.com/office/drawing/2014/main" id="{16FEBBC9-2B77-4901-8CC5-C6E6458EF836}"/>
              </a:ext>
            </a:extLst>
          </p:cNvPr>
          <p:cNvSpPr>
            <a:spLocks noGrp="1"/>
          </p:cNvSpPr>
          <p:nvPr>
            <p:ph sz="quarter" idx="1"/>
          </p:nvPr>
        </p:nvSpPr>
        <p:spPr>
          <a:xfrm>
            <a:off x="457200" y="895350"/>
            <a:ext cx="7467600" cy="3655314"/>
          </a:xfrm>
        </p:spPr>
        <p:txBody>
          <a:bodyPr>
            <a:noAutofit/>
          </a:bodyPr>
          <a:lstStyle/>
          <a:p>
            <a:pPr>
              <a:spcBef>
                <a:spcPts val="0"/>
              </a:spcBef>
              <a:spcAft>
                <a:spcPts val="600"/>
              </a:spcAft>
              <a:buSzPct val="100000"/>
            </a:pPr>
            <a:r>
              <a:rPr lang="en-US" sz="1400" b="1" dirty="0"/>
              <a:t>The Impact of AI and Machine Learning</a:t>
            </a:r>
          </a:p>
          <a:p>
            <a:pPr marL="271463" indent="0">
              <a:spcBef>
                <a:spcPts val="0"/>
              </a:spcBef>
              <a:spcAft>
                <a:spcPts val="600"/>
              </a:spcAft>
              <a:buSzPct val="100000"/>
              <a:buNone/>
            </a:pPr>
            <a:r>
              <a:rPr lang="en-US" sz="1400" dirty="0"/>
              <a:t>Artificial Intelligence (AI) and Machine Learning (ML) have transformed the ability to process extensive datasets, uncovering intricate patterns and correlations that were previously hidden from human analysis.</a:t>
            </a:r>
          </a:p>
          <a:p>
            <a:pPr>
              <a:spcBef>
                <a:spcPts val="0"/>
              </a:spcBef>
              <a:spcAft>
                <a:spcPts val="600"/>
              </a:spcAft>
              <a:buSzPct val="100000"/>
            </a:pPr>
            <a:r>
              <a:rPr lang="en-US" sz="1400" b="1" dirty="0"/>
              <a:t>Key Software Solutions in AI Decision-Making</a:t>
            </a:r>
          </a:p>
          <a:p>
            <a:pPr marL="541338" indent="-273050">
              <a:spcBef>
                <a:spcPts val="0"/>
              </a:spcBef>
              <a:spcAft>
                <a:spcPts val="600"/>
              </a:spcAft>
              <a:buSzPct val="100000"/>
              <a:buFont typeface="Arial" panose="020B0604020202020204" pitchFamily="34" charset="0"/>
              <a:buChar char="•"/>
            </a:pPr>
            <a:r>
              <a:rPr lang="en-US" sz="1400" b="1" dirty="0"/>
              <a:t>IBM Watson:</a:t>
            </a:r>
            <a:r>
              <a:rPr lang="en-US" sz="1400" dirty="0"/>
              <a:t> Provides advanced AI tools to enhance deep analysis and predict outcomes across diverse industrial sectors.</a:t>
            </a:r>
          </a:p>
          <a:p>
            <a:pPr marL="541338" indent="-273050">
              <a:spcBef>
                <a:spcPts val="0"/>
              </a:spcBef>
              <a:spcAft>
                <a:spcPts val="600"/>
              </a:spcAft>
              <a:buSzPct val="100000"/>
              <a:buFont typeface="Arial" panose="020B0604020202020204" pitchFamily="34" charset="0"/>
              <a:buChar char="•"/>
            </a:pPr>
            <a:r>
              <a:rPr lang="en-US" sz="1400" b="1" dirty="0"/>
              <a:t>Salesforce Einstein:</a:t>
            </a:r>
            <a:r>
              <a:rPr lang="en-US" sz="1400" dirty="0"/>
              <a:t> Embeds AI within CRM platforms to personalize customer experiences and automate precision sales forecasting.</a:t>
            </a:r>
          </a:p>
          <a:p>
            <a:pPr marL="541338" indent="-273050">
              <a:spcBef>
                <a:spcPts val="0"/>
              </a:spcBef>
              <a:spcAft>
                <a:spcPts val="600"/>
              </a:spcAft>
              <a:buSzPct val="100000"/>
              <a:buFont typeface="Arial" panose="020B0604020202020204" pitchFamily="34" charset="0"/>
              <a:buChar char="•"/>
            </a:pPr>
            <a:r>
              <a:rPr lang="en-US" sz="1400" b="1" dirty="0"/>
              <a:t>Google Cloud AI:</a:t>
            </a:r>
            <a:r>
              <a:rPr lang="en-US" sz="1400" dirty="0"/>
              <a:t> Offers scalable machine learning services that simplify the development of custom models for informed, large-scale decision-making.</a:t>
            </a:r>
          </a:p>
          <a:p>
            <a:pPr>
              <a:spcBef>
                <a:spcPts val="0"/>
              </a:spcBef>
              <a:spcAft>
                <a:spcPts val="600"/>
              </a:spcAft>
              <a:buSzPct val="100000"/>
            </a:pPr>
            <a:r>
              <a:rPr lang="en-US" sz="1400" b="1" dirty="0"/>
              <a:t>The Future of Data Technology</a:t>
            </a:r>
          </a:p>
          <a:p>
            <a:pPr marL="271463" indent="0">
              <a:spcBef>
                <a:spcPts val="0"/>
              </a:spcBef>
              <a:spcAft>
                <a:spcPts val="600"/>
              </a:spcAft>
              <a:buSzPct val="100000"/>
              <a:buNone/>
            </a:pPr>
            <a:r>
              <a:rPr lang="en-US" sz="1400" dirty="0"/>
              <a:t>Looking forward, the deeper integration of AI and ML with real-time analytics and advanced visualization will transform decision-making. By processing data as it is generated, these tools make complex insights more intuitive and accessible. This evolution empowers businesses to make rapid, high-stakes choices with significantly greater precision and confidence.</a:t>
            </a:r>
          </a:p>
        </p:txBody>
      </p:sp>
    </p:spTree>
    <p:extLst>
      <p:ext uri="{BB962C8B-B14F-4D97-AF65-F5344CB8AC3E}">
        <p14:creationId xmlns:p14="http://schemas.microsoft.com/office/powerpoint/2010/main" val="349327965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B134D-F9F8-4E8E-A9DF-2C2D330CC7BA}"/>
              </a:ext>
            </a:extLst>
          </p:cNvPr>
          <p:cNvSpPr>
            <a:spLocks noGrp="1"/>
          </p:cNvSpPr>
          <p:nvPr>
            <p:ph type="title"/>
          </p:nvPr>
        </p:nvSpPr>
        <p:spPr>
          <a:xfrm>
            <a:off x="457200" y="205979"/>
            <a:ext cx="8305800" cy="536971"/>
          </a:xfrm>
        </p:spPr>
        <p:txBody>
          <a:bodyPr>
            <a:normAutofit/>
          </a:bodyPr>
          <a:lstStyle/>
          <a:p>
            <a:r>
              <a:rPr lang="en-US" sz="2600" b="1" dirty="0">
                <a:solidFill>
                  <a:schemeClr val="accent1">
                    <a:lumMod val="75000"/>
                  </a:schemeClr>
                </a:solidFill>
              </a:rPr>
              <a:t>Roles Utilizing Data-Driven Decision-Making</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838FF432-1E76-434C-B320-5CCEE9ED13EB}"/>
              </a:ext>
            </a:extLst>
          </p:cNvPr>
          <p:cNvSpPr>
            <a:spLocks noGrp="1"/>
          </p:cNvSpPr>
          <p:nvPr>
            <p:ph sz="quarter" idx="1"/>
          </p:nvPr>
        </p:nvSpPr>
        <p:spPr>
          <a:xfrm>
            <a:off x="457200" y="819150"/>
            <a:ext cx="7467600" cy="4036314"/>
          </a:xfrm>
        </p:spPr>
        <p:txBody>
          <a:bodyPr>
            <a:normAutofit lnSpcReduction="10000"/>
          </a:bodyPr>
          <a:lstStyle/>
          <a:p>
            <a:pPr marL="0" indent="0">
              <a:spcBef>
                <a:spcPts val="0"/>
              </a:spcBef>
              <a:spcAft>
                <a:spcPts val="1200"/>
              </a:spcAft>
              <a:buNone/>
            </a:pPr>
            <a:r>
              <a:rPr lang="en-US" sz="1400" dirty="0"/>
              <a:t>Effective data governance is essential across all sectors. DDDM requires leaders who can balance analytical insights with managerial instincts to set organizational standards. Here are the key positions utilizing DDDM:</a:t>
            </a:r>
          </a:p>
          <a:p>
            <a:pPr>
              <a:spcBef>
                <a:spcPts val="0"/>
              </a:spcBef>
              <a:spcAft>
                <a:spcPts val="1200"/>
              </a:spcAft>
              <a:buSzPct val="100000"/>
            </a:pPr>
            <a:r>
              <a:rPr lang="en-US" sz="1400" b="1" dirty="0"/>
              <a:t>Data Analyst:</a:t>
            </a:r>
            <a:r>
              <a:rPr lang="en-US" sz="1400" dirty="0"/>
              <a:t> Processes large datasets to glean findings that guide impactful decisions. They maintain databases, create visualizations to communicate insights, and forecast future trends.</a:t>
            </a:r>
          </a:p>
          <a:p>
            <a:pPr>
              <a:spcBef>
                <a:spcPts val="0"/>
              </a:spcBef>
              <a:spcAft>
                <a:spcPts val="1200"/>
              </a:spcAft>
              <a:buSzPct val="100000"/>
            </a:pPr>
            <a:r>
              <a:rPr lang="en-US" sz="1400" b="1" dirty="0"/>
              <a:t>Data Engineer:</a:t>
            </a:r>
            <a:r>
              <a:rPr lang="en-US" sz="1400" dirty="0"/>
              <a:t> Builds stable, optimized systems for the collection and analysis of information. They conduct research and identify data patterns to assist in trend forecasting.</a:t>
            </a:r>
          </a:p>
          <a:p>
            <a:pPr>
              <a:spcBef>
                <a:spcPts val="0"/>
              </a:spcBef>
              <a:spcAft>
                <a:spcPts val="1200"/>
              </a:spcAft>
              <a:buSzPct val="100000"/>
            </a:pPr>
            <a:r>
              <a:rPr lang="en-US" sz="1400" b="1" dirty="0"/>
              <a:t>Database Administrator:</a:t>
            </a:r>
            <a:r>
              <a:rPr lang="en-US" sz="1400" dirty="0"/>
              <a:t> Responsible for the secure and organized storage of data. They manage data sets, implement security protocols, and often design the database architecture themselves.</a:t>
            </a:r>
          </a:p>
          <a:p>
            <a:pPr>
              <a:spcBef>
                <a:spcPts val="0"/>
              </a:spcBef>
              <a:spcAft>
                <a:spcPts val="1200"/>
              </a:spcAft>
              <a:buSzPct val="100000"/>
            </a:pPr>
            <a:r>
              <a:rPr lang="en-US" sz="1400" b="1" dirty="0"/>
              <a:t>Business Analyst:</a:t>
            </a:r>
            <a:r>
              <a:rPr lang="en-US" sz="1400" dirty="0"/>
              <a:t> Evaluates company performance through data to provide actionable recommendations. They use the DDDM process to help decision-makers improve organizational efficiency.</a:t>
            </a:r>
          </a:p>
          <a:p>
            <a:pPr>
              <a:spcBef>
                <a:spcPts val="0"/>
              </a:spcBef>
              <a:spcAft>
                <a:spcPts val="1200"/>
              </a:spcAft>
              <a:buSzPct val="100000"/>
            </a:pPr>
            <a:r>
              <a:rPr lang="en-US" sz="1400" b="1" dirty="0"/>
              <a:t>Data Scientist:</a:t>
            </a:r>
            <a:r>
              <a:rPr lang="en-US" sz="1400" dirty="0"/>
              <a:t> Utilizes statistical methodologies and data science techniques to offer high-level business solutions. They design collection processes, identify complex trends, and communicate findings to major stakeholders.</a:t>
            </a:r>
          </a:p>
        </p:txBody>
      </p:sp>
    </p:spTree>
    <p:extLst>
      <p:ext uri="{BB962C8B-B14F-4D97-AF65-F5344CB8AC3E}">
        <p14:creationId xmlns:p14="http://schemas.microsoft.com/office/powerpoint/2010/main" val="28332162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8E620-57E8-463A-B608-2F88293907C1}"/>
              </a:ext>
            </a:extLst>
          </p:cNvPr>
          <p:cNvSpPr>
            <a:spLocks noGrp="1"/>
          </p:cNvSpPr>
          <p:nvPr>
            <p:ph type="title"/>
          </p:nvPr>
        </p:nvSpPr>
        <p:spPr>
          <a:xfrm>
            <a:off x="457200" y="57150"/>
            <a:ext cx="7467600" cy="857250"/>
          </a:xfrm>
        </p:spPr>
        <p:txBody>
          <a:bodyPr>
            <a:normAutofit/>
          </a:bodyPr>
          <a:lstStyle/>
          <a:p>
            <a:r>
              <a:rPr lang="en-US" sz="2600" b="1" dirty="0">
                <a:solidFill>
                  <a:schemeClr val="accent1">
                    <a:lumMod val="75000"/>
                  </a:schemeClr>
                </a:solidFill>
              </a:rPr>
              <a:t>Challenges in the DDDM Process</a:t>
            </a:r>
            <a:endParaRPr lang="en-IN" sz="2600" b="1" dirty="0">
              <a:solidFill>
                <a:schemeClr val="accent1">
                  <a:lumMod val="75000"/>
                </a:schemeClr>
              </a:solidFill>
            </a:endParaRPr>
          </a:p>
        </p:txBody>
      </p:sp>
      <p:sp>
        <p:nvSpPr>
          <p:cNvPr id="3" name="Content Placeholder 2">
            <a:extLst>
              <a:ext uri="{FF2B5EF4-FFF2-40B4-BE49-F238E27FC236}">
                <a16:creationId xmlns:a16="http://schemas.microsoft.com/office/drawing/2014/main" id="{B281892A-DDBA-4C45-99A7-F64F2D4D12C9}"/>
              </a:ext>
            </a:extLst>
          </p:cNvPr>
          <p:cNvSpPr>
            <a:spLocks noGrp="1"/>
          </p:cNvSpPr>
          <p:nvPr>
            <p:ph sz="quarter" idx="1"/>
          </p:nvPr>
        </p:nvSpPr>
        <p:spPr>
          <a:xfrm>
            <a:off x="457200" y="1059582"/>
            <a:ext cx="7467600" cy="3655314"/>
          </a:xfrm>
        </p:spPr>
        <p:txBody>
          <a:bodyPr>
            <a:noAutofit/>
          </a:bodyPr>
          <a:lstStyle/>
          <a:p>
            <a:pPr marL="0" indent="0">
              <a:spcAft>
                <a:spcPts val="600"/>
              </a:spcAft>
              <a:buNone/>
            </a:pPr>
            <a:r>
              <a:rPr lang="en-US" sz="1400" dirty="0"/>
              <a:t>Even with a structured framework, the transition to data-driven decision-making can fail at several critical junctures. Below are the eight most common pitfalls:</a:t>
            </a:r>
          </a:p>
          <a:p>
            <a:pPr>
              <a:spcAft>
                <a:spcPts val="600"/>
              </a:spcAft>
              <a:buSzPct val="100000"/>
            </a:pPr>
            <a:r>
              <a:rPr lang="en-US" sz="1400" b="1" dirty="0"/>
              <a:t>Bad Data:</a:t>
            </a:r>
            <a:r>
              <a:rPr lang="en-US" sz="1400" dirty="0"/>
              <a:t> For DDDM to succeed, the underlying data must be reliable and relevant. If the numbers are untrustworthy or misaligned with business strategy, the entire process is undermined from the start.</a:t>
            </a:r>
          </a:p>
          <a:p>
            <a:pPr>
              <a:spcAft>
                <a:spcPts val="600"/>
              </a:spcAft>
              <a:buSzPct val="100000"/>
            </a:pPr>
            <a:r>
              <a:rPr lang="en-US" sz="1400" b="1" dirty="0"/>
              <a:t>Weak Analysis:</a:t>
            </a:r>
            <a:r>
              <a:rPr lang="en-US" sz="1400" dirty="0"/>
              <a:t> The rise of self-service tools allows more people to analyze data, but without proper training, the results often lack the depth and accuracy required to be useful.</a:t>
            </a:r>
          </a:p>
          <a:p>
            <a:pPr>
              <a:spcAft>
                <a:spcPts val="600"/>
              </a:spcAft>
              <a:buSzPct val="100000"/>
            </a:pPr>
            <a:r>
              <a:rPr lang="en-US" sz="1400" b="1" dirty="0"/>
              <a:t>Flawed Recommendation:</a:t>
            </a:r>
            <a:r>
              <a:rPr lang="en-US" sz="1400" dirty="0"/>
              <a:t> A solid insight needs a suitable business response. This often fails when data teams lack the domain knowledge to turn findings into meaningful strategies without business-side collaboration.</a:t>
            </a:r>
          </a:p>
          <a:p>
            <a:pPr>
              <a:spcAft>
                <a:spcPts val="600"/>
              </a:spcAft>
              <a:buSzPct val="100000"/>
            </a:pPr>
            <a:r>
              <a:rPr lang="en-US" sz="1400" b="1" dirty="0"/>
              <a:t>Poor Communication:</a:t>
            </a:r>
            <a:r>
              <a:rPr lang="en-US" sz="1400" dirty="0"/>
              <a:t> Insights must be shared clearly and persuasively. Organizations often struggle with </a:t>
            </a:r>
            <a:r>
              <a:rPr lang="en-US" sz="1400" b="1" dirty="0"/>
              <a:t>data storytelling</a:t>
            </a:r>
            <a:r>
              <a:rPr lang="en-US" sz="1400" dirty="0"/>
              <a:t>, leading to significant findings being overlooked or misinterpreted by decision-makers.</a:t>
            </a:r>
          </a:p>
        </p:txBody>
      </p:sp>
    </p:spTree>
    <p:extLst>
      <p:ext uri="{BB962C8B-B14F-4D97-AF65-F5344CB8AC3E}">
        <p14:creationId xmlns:p14="http://schemas.microsoft.com/office/powerpoint/2010/main" val="172055502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307D9F-F2AD-4A10-BA18-98C0B9967EF8}"/>
              </a:ext>
            </a:extLst>
          </p:cNvPr>
          <p:cNvSpPr>
            <a:spLocks noGrp="1"/>
          </p:cNvSpPr>
          <p:nvPr>
            <p:ph sz="quarter" idx="1"/>
          </p:nvPr>
        </p:nvSpPr>
        <p:spPr>
          <a:xfrm>
            <a:off x="457200" y="915566"/>
            <a:ext cx="7467600" cy="3655314"/>
          </a:xfrm>
        </p:spPr>
        <p:txBody>
          <a:bodyPr>
            <a:normAutofit/>
          </a:bodyPr>
          <a:lstStyle/>
          <a:p>
            <a:pPr>
              <a:spcBef>
                <a:spcPts val="1200"/>
              </a:spcBef>
              <a:spcAft>
                <a:spcPts val="1200"/>
              </a:spcAft>
              <a:buSzPct val="100000"/>
            </a:pPr>
            <a:r>
              <a:rPr lang="en-US" sz="1400" b="1" dirty="0"/>
              <a:t>Bad Interpretation:</a:t>
            </a:r>
            <a:r>
              <a:rPr lang="en-US" sz="1400" dirty="0"/>
              <a:t> Even well-communicated data can be misunderstood if decision-makers lack </a:t>
            </a:r>
            <a:r>
              <a:rPr lang="en-US" sz="1400" b="1" dirty="0"/>
              <a:t>data literacy</a:t>
            </a:r>
            <a:r>
              <a:rPr lang="en-US" sz="1400" dirty="0"/>
              <a:t>. Without basic interpretation skills, managers may misread what the numbers actually signify.</a:t>
            </a:r>
          </a:p>
          <a:p>
            <a:pPr>
              <a:spcBef>
                <a:spcPts val="1200"/>
              </a:spcBef>
              <a:spcAft>
                <a:spcPts val="1200"/>
              </a:spcAft>
              <a:buSzPct val="100000"/>
            </a:pPr>
            <a:r>
              <a:rPr lang="en-US" sz="1400" b="1" dirty="0"/>
              <a:t>Wrong Decision:</a:t>
            </a:r>
            <a:r>
              <a:rPr lang="en-US" sz="1400" dirty="0"/>
              <a:t> Even with clear evidence, decision-makers may reject data due to </a:t>
            </a:r>
            <a:r>
              <a:rPr lang="en-US" sz="1400" b="1" dirty="0"/>
              <a:t>confirmation bias</a:t>
            </a:r>
            <a:r>
              <a:rPr lang="en-US" sz="1400" dirty="0"/>
              <a:t> or personal agendas. A weak data culture often results in intuition overriding empirical facts.</a:t>
            </a:r>
          </a:p>
          <a:p>
            <a:pPr>
              <a:spcBef>
                <a:spcPts val="1200"/>
              </a:spcBef>
              <a:spcAft>
                <a:spcPts val="1200"/>
              </a:spcAft>
              <a:buSzPct val="100000"/>
            </a:pPr>
            <a:r>
              <a:rPr lang="en-US" sz="1400" b="1" dirty="0"/>
              <a:t>Faulty Execution:</a:t>
            </a:r>
            <a:r>
              <a:rPr lang="en-US" sz="1400" dirty="0"/>
              <a:t> A decision only provides value if it is implemented correctly and on time. DDDM should not end at the decision; data must be used to monitor and optimize the execution phase.</a:t>
            </a:r>
          </a:p>
          <a:p>
            <a:pPr>
              <a:spcBef>
                <a:spcPts val="1200"/>
              </a:spcBef>
              <a:spcAft>
                <a:spcPts val="1200"/>
              </a:spcAft>
              <a:buSzPct val="100000"/>
            </a:pPr>
            <a:r>
              <a:rPr lang="en-US" sz="1400" b="1" dirty="0"/>
              <a:t>No Learning:</a:t>
            </a:r>
            <a:r>
              <a:rPr lang="en-US" sz="1400" dirty="0"/>
              <a:t> The impact is limited if an organization fails to systematically examine results. Measuring outcomes is essential to refine future decisions and improve the overall DDDM cycle.</a:t>
            </a:r>
          </a:p>
          <a:p>
            <a:pPr>
              <a:spcBef>
                <a:spcPts val="1200"/>
              </a:spcBef>
              <a:spcAft>
                <a:spcPts val="1200"/>
              </a:spcAft>
              <a:buSzPct val="100000"/>
            </a:pPr>
            <a:endParaRPr lang="en-IN" sz="1400" dirty="0"/>
          </a:p>
        </p:txBody>
      </p:sp>
    </p:spTree>
    <p:extLst>
      <p:ext uri="{BB962C8B-B14F-4D97-AF65-F5344CB8AC3E}">
        <p14:creationId xmlns:p14="http://schemas.microsoft.com/office/powerpoint/2010/main" val="105759915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18C60F-2FD2-8805-8DFD-7A8CD7C51249}"/>
              </a:ext>
            </a:extLst>
          </p:cNvPr>
          <p:cNvSpPr>
            <a:spLocks noGrp="1"/>
          </p:cNvSpPr>
          <p:nvPr>
            <p:ph type="ctrTitle"/>
          </p:nvPr>
        </p:nvSpPr>
        <p:spPr>
          <a:xfrm>
            <a:off x="2555776" y="2343150"/>
            <a:ext cx="6192688" cy="1420772"/>
          </a:xfrm>
        </p:spPr>
        <p:txBody>
          <a:bodyPr>
            <a:noAutofit/>
          </a:bodyPr>
          <a:lstStyle/>
          <a:p>
            <a:r>
              <a:rPr lang="en-IN" sz="5400" b="1" i="0" dirty="0">
                <a:solidFill>
                  <a:schemeClr val="tx1"/>
                </a:solidFill>
                <a:effectLst/>
                <a:cs typeface="Times New Roman" panose="02020603050405020304" pitchFamily="18" charset="0"/>
              </a:rPr>
              <a:t>Case Discussions / Real-Life Examples</a:t>
            </a:r>
            <a:endParaRPr lang="en-IN" sz="54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190386815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06017-3BBC-4B01-9C66-0BF6D9C080B2}"/>
              </a:ext>
            </a:extLst>
          </p:cNvPr>
          <p:cNvSpPr>
            <a:spLocks noGrp="1"/>
          </p:cNvSpPr>
          <p:nvPr>
            <p:ph type="title"/>
          </p:nvPr>
        </p:nvSpPr>
        <p:spPr/>
        <p:txBody>
          <a:bodyPr>
            <a:normAutofit/>
          </a:bodyPr>
          <a:lstStyle/>
          <a:p>
            <a:r>
              <a:rPr lang="en-US" sz="2600" b="1" dirty="0">
                <a:solidFill>
                  <a:schemeClr val="accent1">
                    <a:lumMod val="75000"/>
                  </a:schemeClr>
                </a:solidFill>
              </a:rPr>
              <a:t>What Is Scenario Analysis?</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D6E2F48B-AF05-4442-8416-E97D2157A9FF}"/>
              </a:ext>
            </a:extLst>
          </p:cNvPr>
          <p:cNvSpPr>
            <a:spLocks noGrp="1"/>
          </p:cNvSpPr>
          <p:nvPr>
            <p:ph sz="quarter" idx="1"/>
          </p:nvPr>
        </p:nvSpPr>
        <p:spPr>
          <a:xfrm>
            <a:off x="539552" y="1200150"/>
            <a:ext cx="7385248" cy="3655314"/>
          </a:xfrm>
        </p:spPr>
        <p:txBody>
          <a:bodyPr>
            <a:normAutofit/>
          </a:bodyPr>
          <a:lstStyle/>
          <a:p>
            <a:pPr marL="0" indent="0">
              <a:spcAft>
                <a:spcPts val="600"/>
              </a:spcAft>
              <a:buNone/>
            </a:pPr>
            <a:r>
              <a:rPr lang="en-US" sz="1400" dirty="0"/>
              <a:t>Scenario analysis is a process of estimating the expected value of a portfolio or investment after a given period, assuming specific changes in the values of the portfolio's securities or key factors take place. It is used to analyze the potential impact of different events on an investment's performance.</a:t>
            </a:r>
          </a:p>
          <a:p>
            <a:pPr marL="273050" indent="-273050">
              <a:spcAft>
                <a:spcPts val="600"/>
              </a:spcAft>
              <a:buSzPct val="100000"/>
              <a:tabLst>
                <a:tab pos="269875" algn="l"/>
              </a:tabLst>
            </a:pPr>
            <a:r>
              <a:rPr lang="en-US" sz="1400" b="1" dirty="0"/>
              <a:t>Predictive Simulation:</a:t>
            </a:r>
            <a:r>
              <a:rPr lang="en-US" sz="1400" dirty="0"/>
              <a:t> It forecasts the future by simulating shifts in variables such as interest rates, exchange rates, or commodity prices.</a:t>
            </a:r>
          </a:p>
          <a:p>
            <a:pPr marL="273050" indent="-273050">
              <a:spcAft>
                <a:spcPts val="600"/>
              </a:spcAft>
              <a:buSzPct val="100000"/>
              <a:tabLst>
                <a:tab pos="269875" algn="l"/>
              </a:tabLst>
            </a:pPr>
            <a:r>
              <a:rPr lang="en-US" sz="1400" b="1" dirty="0"/>
              <a:t>Risk Management:</a:t>
            </a:r>
            <a:r>
              <a:rPr lang="en-US" sz="1400" dirty="0"/>
              <a:t> Investors utilize this technique to visualize how a portfolio would react to various stressors, including "worst-case" scenarios or extreme market volatility.</a:t>
            </a:r>
          </a:p>
          <a:p>
            <a:pPr marL="273050" indent="-273050">
              <a:spcAft>
                <a:spcPts val="600"/>
              </a:spcAft>
              <a:buSzPct val="100000"/>
              <a:tabLst>
                <a:tab pos="269875" algn="l"/>
              </a:tabLst>
            </a:pPr>
            <a:r>
              <a:rPr lang="en-US" sz="1400" b="1" dirty="0"/>
              <a:t>Mathematical Foundation:</a:t>
            </a:r>
            <a:r>
              <a:rPr lang="en-US" sz="1400" dirty="0"/>
              <a:t> The process applies rigorous mathematical and statistical principles to model both likely outcomes and rare "black swan" events.</a:t>
            </a:r>
          </a:p>
          <a:p>
            <a:pPr marL="273050" indent="-273050">
              <a:spcAft>
                <a:spcPts val="600"/>
              </a:spcAft>
              <a:buSzPct val="100000"/>
              <a:tabLst>
                <a:tab pos="269875" algn="l"/>
              </a:tabLst>
            </a:pPr>
            <a:r>
              <a:rPr lang="en-US" sz="1400" b="1" dirty="0"/>
              <a:t>Strategic Preparation:</a:t>
            </a:r>
            <a:r>
              <a:rPr lang="en-US" sz="1400" dirty="0"/>
              <a:t> Rather than just predicting one outcome, it prepares decision-makers for a range of financial possibilities, allowing for better contingency planning.</a:t>
            </a:r>
          </a:p>
          <a:p>
            <a:pPr>
              <a:spcAft>
                <a:spcPts val="600"/>
              </a:spcAft>
            </a:pPr>
            <a:endParaRPr lang="en-IN" sz="1400" dirty="0"/>
          </a:p>
        </p:txBody>
      </p:sp>
    </p:spTree>
    <p:extLst>
      <p:ext uri="{BB962C8B-B14F-4D97-AF65-F5344CB8AC3E}">
        <p14:creationId xmlns:p14="http://schemas.microsoft.com/office/powerpoint/2010/main" val="63822670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9CFA6-0F9A-43C2-BE05-3E4ED9834F48}"/>
              </a:ext>
            </a:extLst>
          </p:cNvPr>
          <p:cNvSpPr>
            <a:spLocks noGrp="1"/>
          </p:cNvSpPr>
          <p:nvPr>
            <p:ph type="title"/>
          </p:nvPr>
        </p:nvSpPr>
        <p:spPr>
          <a:xfrm>
            <a:off x="457200" y="86076"/>
            <a:ext cx="8001000" cy="613171"/>
          </a:xfrm>
        </p:spPr>
        <p:txBody>
          <a:bodyPr>
            <a:normAutofit/>
          </a:bodyPr>
          <a:lstStyle/>
          <a:p>
            <a:r>
              <a:rPr lang="en-US" sz="2600" b="1" dirty="0">
                <a:solidFill>
                  <a:schemeClr val="accent1">
                    <a:lumMod val="75000"/>
                  </a:schemeClr>
                </a:solidFill>
              </a:rPr>
              <a:t>Steps to Conduct Effective Scenario Analysis</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39901F81-B701-4D4B-A891-80730113B18D}"/>
              </a:ext>
            </a:extLst>
          </p:cNvPr>
          <p:cNvSpPr>
            <a:spLocks noGrp="1"/>
          </p:cNvSpPr>
          <p:nvPr>
            <p:ph sz="quarter" idx="1"/>
          </p:nvPr>
        </p:nvSpPr>
        <p:spPr>
          <a:xfrm>
            <a:off x="457200" y="699542"/>
            <a:ext cx="7715200" cy="4531986"/>
          </a:xfrm>
        </p:spPr>
        <p:txBody>
          <a:bodyPr>
            <a:normAutofit/>
          </a:bodyPr>
          <a:lstStyle/>
          <a:p>
            <a:pPr marL="0" indent="0">
              <a:spcBef>
                <a:spcPts val="300"/>
              </a:spcBef>
              <a:spcAft>
                <a:spcPts val="600"/>
              </a:spcAft>
              <a:buNone/>
            </a:pPr>
            <a:r>
              <a:rPr lang="en-US" sz="1400" dirty="0"/>
              <a:t>Scenario analysis provides a structured "what if" framework to estimate shifts in portfolio value based on specific situations.</a:t>
            </a:r>
          </a:p>
          <a:p>
            <a:pPr marL="400050" indent="-400050">
              <a:spcBef>
                <a:spcPts val="300"/>
              </a:spcBef>
              <a:spcAft>
                <a:spcPts val="600"/>
              </a:spcAft>
              <a:buSzPct val="100000"/>
              <a:buFont typeface="+mj-lt"/>
              <a:buAutoNum type="romanLcPeriod"/>
            </a:pPr>
            <a:r>
              <a:rPr lang="en-US" sz="1400" b="1" dirty="0"/>
              <a:t>Calculate Reinvestment Rates:</a:t>
            </a:r>
            <a:r>
              <a:rPr lang="en-US" sz="1400" dirty="0"/>
              <a:t> Determine various reinvestment rates for returns expected within your investment horizon. This helps account for how compounding might change if interest rates or market conditions shift.</a:t>
            </a:r>
          </a:p>
          <a:p>
            <a:pPr marL="400050" indent="-400050">
              <a:spcBef>
                <a:spcPts val="300"/>
              </a:spcBef>
              <a:spcAft>
                <a:spcPts val="600"/>
              </a:spcAft>
              <a:buSzPct val="100000"/>
              <a:buFont typeface="+mj-lt"/>
              <a:buAutoNum type="romanLcPeriod"/>
            </a:pPr>
            <a:r>
              <a:rPr lang="en-US" sz="1400" b="1" dirty="0"/>
              <a:t>Apply Statistical Principles:</a:t>
            </a:r>
            <a:r>
              <a:rPr lang="en-US" sz="1400" dirty="0"/>
              <a:t> Use mathematical modeling to estimate potential shifts in portfolio value. This involves using historical data and probability to project how the portfolio might perform under different conditions.</a:t>
            </a:r>
          </a:p>
          <a:p>
            <a:pPr marL="400050" indent="-400050">
              <a:spcBef>
                <a:spcPts val="300"/>
              </a:spcBef>
              <a:spcAft>
                <a:spcPts val="600"/>
              </a:spcAft>
              <a:buSzPct val="100000"/>
              <a:buFont typeface="+mj-lt"/>
              <a:buAutoNum type="romanLcPeriod"/>
            </a:pPr>
            <a:r>
              <a:rPr lang="en-US" sz="1400" b="1" dirty="0"/>
              <a:t>Perform Sensitivity Analysis:</a:t>
            </a:r>
            <a:r>
              <a:rPr lang="en-US" sz="1400" dirty="0"/>
              <a:t> Identify how specific independent variables (like inflation or interest rates) impact a dependent variable (your total portfolio value). This clarifies which single factor has the most significant influence on your results.</a:t>
            </a:r>
          </a:p>
          <a:p>
            <a:pPr marL="400050" indent="-400050">
              <a:spcBef>
                <a:spcPts val="300"/>
              </a:spcBef>
              <a:spcAft>
                <a:spcPts val="600"/>
              </a:spcAft>
              <a:buSzPct val="100000"/>
              <a:buFont typeface="+mj-lt"/>
              <a:buAutoNum type="romanLcPeriod"/>
            </a:pPr>
            <a:r>
              <a:rPr lang="en-US" sz="1400" b="1" dirty="0"/>
              <a:t>Assess Risk Levels:</a:t>
            </a:r>
            <a:r>
              <a:rPr lang="en-US" sz="1400" dirty="0"/>
              <a:t> Examine a spectrum of potential events, ranging from highly likely to extreme "worst-case" scenarios. This provides a comprehensive view of the volatility your investment might face.</a:t>
            </a:r>
          </a:p>
          <a:p>
            <a:pPr marL="400050" indent="-400050">
              <a:spcBef>
                <a:spcPts val="300"/>
              </a:spcBef>
              <a:spcAft>
                <a:spcPts val="600"/>
              </a:spcAft>
              <a:buSzPct val="100000"/>
              <a:buFont typeface="+mj-lt"/>
              <a:buAutoNum type="romanLcPeriod"/>
            </a:pPr>
            <a:r>
              <a:rPr lang="en-US" sz="1400" b="1" dirty="0"/>
              <a:t>Align with Comfort Zone:</a:t>
            </a:r>
            <a:r>
              <a:rPr lang="en-US" sz="1400" dirty="0"/>
              <a:t> Evaluate the findings against your personal or organizational risk tolerance. By seeing the potential outcomes of likely and unlikely events, you can determine if the investment strategy fits within your comfort level.</a:t>
            </a:r>
          </a:p>
        </p:txBody>
      </p:sp>
    </p:spTree>
    <p:extLst>
      <p:ext uri="{BB962C8B-B14F-4D97-AF65-F5344CB8AC3E}">
        <p14:creationId xmlns:p14="http://schemas.microsoft.com/office/powerpoint/2010/main" val="398225737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D2A89-5662-4C3D-9519-AC971E34A117}"/>
              </a:ext>
            </a:extLst>
          </p:cNvPr>
          <p:cNvSpPr>
            <a:spLocks noGrp="1"/>
          </p:cNvSpPr>
          <p:nvPr>
            <p:ph type="title"/>
          </p:nvPr>
        </p:nvSpPr>
        <p:spPr>
          <a:xfrm>
            <a:off x="457200" y="306587"/>
            <a:ext cx="7467600" cy="536971"/>
          </a:xfrm>
        </p:spPr>
        <p:txBody>
          <a:bodyPr>
            <a:normAutofit/>
          </a:bodyPr>
          <a:lstStyle/>
          <a:p>
            <a:r>
              <a:rPr lang="en-US" sz="2600" b="1" dirty="0">
                <a:solidFill>
                  <a:schemeClr val="accent1">
                    <a:lumMod val="75000"/>
                  </a:schemeClr>
                </a:solidFill>
              </a:rPr>
              <a:t>Worst-Case Scenarios: Stress Testing</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4D19CC54-E206-42AB-91F8-ADA31F346CEB}"/>
              </a:ext>
            </a:extLst>
          </p:cNvPr>
          <p:cNvSpPr>
            <a:spLocks noGrp="1"/>
          </p:cNvSpPr>
          <p:nvPr>
            <p:ph sz="quarter" idx="1"/>
          </p:nvPr>
        </p:nvSpPr>
        <p:spPr>
          <a:xfrm>
            <a:off x="457200" y="971550"/>
            <a:ext cx="7467600" cy="3655314"/>
          </a:xfrm>
        </p:spPr>
        <p:txBody>
          <a:bodyPr>
            <a:normAutofit/>
          </a:bodyPr>
          <a:lstStyle/>
          <a:p>
            <a:pPr marL="0" indent="0">
              <a:spcBef>
                <a:spcPts val="1200"/>
              </a:spcBef>
              <a:spcAft>
                <a:spcPts val="1200"/>
              </a:spcAft>
              <a:buNone/>
            </a:pPr>
            <a:r>
              <a:rPr lang="en-US" sz="1400" dirty="0"/>
              <a:t>Stress testing is a specialized form of scenario analysis that focuses exclusively on the most severe, "worst-case" situations. It is a critical tool for ensuring stability in volatile environments.</a:t>
            </a:r>
          </a:p>
          <a:p>
            <a:pPr>
              <a:spcBef>
                <a:spcPts val="1200"/>
              </a:spcBef>
              <a:spcAft>
                <a:spcPts val="1200"/>
              </a:spcAft>
              <a:buSzPct val="100000"/>
            </a:pPr>
            <a:r>
              <a:rPr lang="en-US" sz="1400" b="1" dirty="0"/>
              <a:t>Resilience Evaluation:</a:t>
            </a:r>
            <a:r>
              <a:rPr lang="en-US" sz="1400" dirty="0"/>
              <a:t> It uses computer simulations to test how institutions and investment portfolios hold up against extreme future crises, such as market crashes or economic depressions.</a:t>
            </a:r>
          </a:p>
          <a:p>
            <a:pPr>
              <a:spcBef>
                <a:spcPts val="1200"/>
              </a:spcBef>
              <a:spcAft>
                <a:spcPts val="1200"/>
              </a:spcAft>
              <a:buSzPct val="100000"/>
            </a:pPr>
            <a:r>
              <a:rPr lang="en-US" sz="1400" b="1" dirty="0"/>
              <a:t>Risk and Asset Gauging:</a:t>
            </a:r>
            <a:r>
              <a:rPr lang="en-US" sz="1400" dirty="0"/>
              <a:t> The financial industry utilizes these tests to determine if they have a sufficient "cushion" of assets to remain solvent during critical situations.</a:t>
            </a:r>
          </a:p>
          <a:p>
            <a:pPr>
              <a:spcBef>
                <a:spcPts val="1200"/>
              </a:spcBef>
              <a:spcAft>
                <a:spcPts val="1200"/>
              </a:spcAft>
              <a:buSzPct val="100000"/>
            </a:pPr>
            <a:r>
              <a:rPr lang="en-US" sz="1400" b="1" dirty="0"/>
              <a:t>Internal Control Audit:</a:t>
            </a:r>
            <a:r>
              <a:rPr lang="en-US" sz="1400" dirty="0"/>
              <a:t> Beyond just numbers, stress testing evaluates whether a company’s internal processes and management controls are strong enough to function under intense pressure.</a:t>
            </a:r>
          </a:p>
          <a:p>
            <a:pPr>
              <a:spcBef>
                <a:spcPts val="1200"/>
              </a:spcBef>
              <a:spcAft>
                <a:spcPts val="1200"/>
              </a:spcAft>
              <a:buSzPct val="100000"/>
            </a:pPr>
            <a:r>
              <a:rPr lang="en-US" sz="1400" b="1" dirty="0"/>
              <a:t>Regulatory Compliance:</a:t>
            </a:r>
            <a:r>
              <a:rPr lang="en-US" sz="1400" dirty="0"/>
              <a:t> Modern regulations now mandate that financial institutions conduct regular stress tests to prove they have adequate capital and assets to protect the broader economy.</a:t>
            </a:r>
          </a:p>
          <a:p>
            <a:endParaRPr lang="en-IN" dirty="0"/>
          </a:p>
        </p:txBody>
      </p:sp>
    </p:spTree>
    <p:extLst>
      <p:ext uri="{BB962C8B-B14F-4D97-AF65-F5344CB8AC3E}">
        <p14:creationId xmlns:p14="http://schemas.microsoft.com/office/powerpoint/2010/main" val="113964013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1F34A-FF25-45D6-8874-C5BAA1DD73E5}"/>
              </a:ext>
            </a:extLst>
          </p:cNvPr>
          <p:cNvSpPr>
            <a:spLocks noGrp="1"/>
          </p:cNvSpPr>
          <p:nvPr>
            <p:ph type="title"/>
          </p:nvPr>
        </p:nvSpPr>
        <p:spPr>
          <a:xfrm>
            <a:off x="457200" y="298529"/>
            <a:ext cx="7467600" cy="460771"/>
          </a:xfrm>
        </p:spPr>
        <p:txBody>
          <a:bodyPr>
            <a:noAutofit/>
          </a:bodyPr>
          <a:lstStyle/>
          <a:p>
            <a:r>
              <a:rPr lang="en-US" sz="2600" b="1" dirty="0">
                <a:solidFill>
                  <a:schemeClr val="accent1">
                    <a:lumMod val="75000"/>
                  </a:schemeClr>
                </a:solidFill>
              </a:rPr>
              <a:t>Diverse Applications of Scenario Analysis</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27130A72-B4CB-4F85-B40D-A5C2AA81DC4F}"/>
              </a:ext>
            </a:extLst>
          </p:cNvPr>
          <p:cNvSpPr>
            <a:spLocks noGrp="1"/>
          </p:cNvSpPr>
          <p:nvPr>
            <p:ph sz="quarter" idx="1"/>
          </p:nvPr>
        </p:nvSpPr>
        <p:spPr>
          <a:xfrm>
            <a:off x="457200" y="835500"/>
            <a:ext cx="7467600" cy="4112514"/>
          </a:xfrm>
        </p:spPr>
        <p:txBody>
          <a:bodyPr>
            <a:normAutofit/>
          </a:bodyPr>
          <a:lstStyle/>
          <a:p>
            <a:pPr>
              <a:spcBef>
                <a:spcPts val="0"/>
              </a:spcBef>
              <a:spcAft>
                <a:spcPts val="600"/>
              </a:spcAft>
              <a:buSzPct val="100000"/>
            </a:pPr>
            <a:r>
              <a:rPr lang="en-US" sz="1400" b="1" dirty="0"/>
              <a:t>Investment Strategy Optimization</a:t>
            </a:r>
            <a:endParaRPr lang="en-US" sz="1400" dirty="0"/>
          </a:p>
          <a:p>
            <a:pPr lvl="1">
              <a:spcBef>
                <a:spcPts val="0"/>
              </a:spcBef>
              <a:spcAft>
                <a:spcPts val="600"/>
              </a:spcAft>
              <a:buSzPct val="100000"/>
            </a:pPr>
            <a:r>
              <a:rPr lang="en-US" sz="1400" dirty="0"/>
              <a:t>Analysts use </a:t>
            </a:r>
            <a:r>
              <a:rPr lang="en-US" sz="1400" b="1" dirty="0"/>
              <a:t>standard deviation</a:t>
            </a:r>
            <a:r>
              <a:rPr lang="en-US" sz="1400" dirty="0"/>
              <a:t> to simulate extreme market swings, calculating how a portfolio would perform if returns moved two or three levels away from the average.</a:t>
            </a:r>
          </a:p>
          <a:p>
            <a:pPr lvl="1">
              <a:spcBef>
                <a:spcPts val="0"/>
              </a:spcBef>
              <a:spcAft>
                <a:spcPts val="600"/>
              </a:spcAft>
              <a:buSzPct val="100000"/>
            </a:pPr>
            <a:r>
              <a:rPr lang="en-US" sz="1400" dirty="0"/>
              <a:t>This "what-if" modeling accounts for single variables (like a product launch) or complex combinations (competitor actions + market shifts) to prepare for extreme outcomes.</a:t>
            </a:r>
          </a:p>
          <a:p>
            <a:pPr>
              <a:spcBef>
                <a:spcPts val="0"/>
              </a:spcBef>
              <a:spcAft>
                <a:spcPts val="600"/>
              </a:spcAft>
              <a:buSzPct val="100000"/>
            </a:pPr>
            <a:r>
              <a:rPr lang="en-US" sz="1400" b="1" dirty="0"/>
              <a:t>Personal Finance Enhancement</a:t>
            </a:r>
            <a:endParaRPr lang="en-US" sz="1400" dirty="0"/>
          </a:p>
          <a:p>
            <a:pPr lvl="1">
              <a:spcBef>
                <a:spcPts val="0"/>
              </a:spcBef>
              <a:spcAft>
                <a:spcPts val="600"/>
              </a:spcAft>
              <a:buSzPct val="100000"/>
            </a:pPr>
            <a:r>
              <a:rPr lang="en-US" sz="1400" dirty="0"/>
              <a:t>Consumers apply scenario analysis to evaluate the long-term impact of major life choices, such as comparing the total cost of </a:t>
            </a:r>
            <a:r>
              <a:rPr lang="en-US" sz="1400" b="1" dirty="0"/>
              <a:t>buying on credit vs. saving for a cash purchase</a:t>
            </a:r>
            <a:r>
              <a:rPr lang="en-US" sz="1400" dirty="0"/>
              <a:t>.</a:t>
            </a:r>
          </a:p>
          <a:p>
            <a:pPr lvl="1">
              <a:spcBef>
                <a:spcPts val="0"/>
              </a:spcBef>
              <a:spcAft>
                <a:spcPts val="600"/>
              </a:spcAft>
              <a:buSzPct val="100000"/>
            </a:pPr>
            <a:r>
              <a:rPr lang="en-US" sz="1400" dirty="0"/>
              <a:t>It serves as a tool for career planning by forecasting how different job offers might change a person's financial health after accounting for salary, benefits, and local living costs.</a:t>
            </a:r>
          </a:p>
          <a:p>
            <a:pPr>
              <a:spcBef>
                <a:spcPts val="0"/>
              </a:spcBef>
              <a:spcAft>
                <a:spcPts val="600"/>
              </a:spcAft>
              <a:buSzPct val="100000"/>
            </a:pPr>
            <a:r>
              <a:rPr lang="en-US" sz="1400" b="1" dirty="0"/>
              <a:t>Corporate Finance Decision-Making</a:t>
            </a:r>
            <a:endParaRPr lang="en-US" sz="1400" dirty="0"/>
          </a:p>
          <a:p>
            <a:pPr lvl="1">
              <a:spcBef>
                <a:spcPts val="0"/>
              </a:spcBef>
              <a:spcAft>
                <a:spcPts val="600"/>
              </a:spcAft>
              <a:buSzPct val="100000"/>
            </a:pPr>
            <a:r>
              <a:rPr lang="en-US" sz="1400" dirty="0"/>
              <a:t>Businesses leverage the process to weigh operational choices, such as selecting between two different </a:t>
            </a:r>
            <a:r>
              <a:rPr lang="en-US" sz="1400" b="1" dirty="0"/>
              <a:t>storefronts or facilities</a:t>
            </a:r>
            <a:r>
              <a:rPr lang="en-US" sz="1400" dirty="0"/>
              <a:t>.</a:t>
            </a:r>
          </a:p>
          <a:p>
            <a:pPr lvl="1">
              <a:spcBef>
                <a:spcPts val="0"/>
              </a:spcBef>
              <a:spcAft>
                <a:spcPts val="600"/>
              </a:spcAft>
              <a:buSzPct val="100000"/>
            </a:pPr>
            <a:r>
              <a:rPr lang="en-US" sz="1400" dirty="0"/>
              <a:t>Decision-makers model variations in fixed and variable costs—including rent, utilities, and insurance—to identify which location offers the most stable financial outcome.</a:t>
            </a:r>
          </a:p>
        </p:txBody>
      </p:sp>
    </p:spTree>
    <p:extLst>
      <p:ext uri="{BB962C8B-B14F-4D97-AF65-F5344CB8AC3E}">
        <p14:creationId xmlns:p14="http://schemas.microsoft.com/office/powerpoint/2010/main" val="20200030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2871862-BEA9-E312-DCCB-CD0E62B6A800}"/>
              </a:ext>
            </a:extLst>
          </p:cNvPr>
          <p:cNvSpPr>
            <a:spLocks noGrp="1"/>
          </p:cNvSpPr>
          <p:nvPr>
            <p:ph type="ctrTitle"/>
          </p:nvPr>
        </p:nvSpPr>
        <p:spPr>
          <a:xfrm>
            <a:off x="2483768" y="2343150"/>
            <a:ext cx="6480720" cy="1420772"/>
          </a:xfrm>
        </p:spPr>
        <p:txBody>
          <a:bodyPr>
            <a:noAutofit/>
          </a:bodyPr>
          <a:lstStyle/>
          <a:p>
            <a:r>
              <a:rPr lang="en-US" sz="5400" b="1" i="0" dirty="0">
                <a:solidFill>
                  <a:schemeClr val="tx1"/>
                </a:solidFill>
                <a:effectLst/>
                <a:cs typeface="Times New Roman" panose="02020603050405020304" pitchFamily="18" charset="0"/>
              </a:rPr>
              <a:t>Introduction to Data Governance &amp; Data Ethics</a:t>
            </a:r>
            <a:endParaRPr lang="en-IN" sz="54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16799152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7250-B887-4063-B1E6-E7B32E29C31D}"/>
              </a:ext>
            </a:extLst>
          </p:cNvPr>
          <p:cNvSpPr>
            <a:spLocks noGrp="1"/>
          </p:cNvSpPr>
          <p:nvPr>
            <p:ph type="title"/>
          </p:nvPr>
        </p:nvSpPr>
        <p:spPr>
          <a:xfrm>
            <a:off x="457200" y="51470"/>
            <a:ext cx="7467600" cy="579710"/>
          </a:xfrm>
        </p:spPr>
        <p:txBody>
          <a:bodyPr>
            <a:normAutofit/>
          </a:bodyPr>
          <a:lstStyle/>
          <a:p>
            <a:pPr>
              <a:spcBef>
                <a:spcPts val="0"/>
              </a:spcBef>
              <a:spcAft>
                <a:spcPts val="600"/>
              </a:spcAft>
            </a:pPr>
            <a:r>
              <a:rPr lang="en-US" sz="2600" b="1" dirty="0">
                <a:solidFill>
                  <a:schemeClr val="accent1">
                    <a:lumMod val="75000"/>
                  </a:schemeClr>
                </a:solidFill>
              </a:rPr>
              <a:t>What is Data Governance?</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EB0C033F-7BA6-4694-B6F8-77F6D0C47199}"/>
              </a:ext>
            </a:extLst>
          </p:cNvPr>
          <p:cNvSpPr>
            <a:spLocks noGrp="1"/>
          </p:cNvSpPr>
          <p:nvPr>
            <p:ph sz="quarter" idx="1"/>
          </p:nvPr>
        </p:nvSpPr>
        <p:spPr>
          <a:xfrm>
            <a:off x="457200" y="627534"/>
            <a:ext cx="7715200" cy="3655314"/>
          </a:xfrm>
        </p:spPr>
        <p:txBody>
          <a:bodyPr>
            <a:noAutofit/>
          </a:bodyPr>
          <a:lstStyle/>
          <a:p>
            <a:pPr>
              <a:lnSpc>
                <a:spcPct val="120000"/>
              </a:lnSpc>
              <a:spcBef>
                <a:spcPts val="0"/>
              </a:spcBef>
              <a:spcAft>
                <a:spcPts val="600"/>
              </a:spcAft>
              <a:buSzPct val="100000"/>
            </a:pPr>
            <a:r>
              <a:rPr lang="en-US" sz="1400" dirty="0"/>
              <a:t>Data governance is a principled approach to managing data throughout its entire life cycle—from initial acquisition and ingestion to its use in AI analytics and its eventual secure disposal.</a:t>
            </a:r>
          </a:p>
          <a:p>
            <a:pPr>
              <a:lnSpc>
                <a:spcPct val="120000"/>
              </a:lnSpc>
              <a:spcBef>
                <a:spcPts val="0"/>
              </a:spcBef>
              <a:spcAft>
                <a:spcPts val="600"/>
              </a:spcAft>
              <a:buSzPct val="100000"/>
            </a:pPr>
            <a:r>
              <a:rPr lang="en-US" sz="1400" dirty="0"/>
              <a:t>As organizations move toward AI-first architectures, data has become the most valuable asset for innovation. However, this value is only realized when data is </a:t>
            </a:r>
            <a:r>
              <a:rPr lang="en-US" sz="1400" b="1" dirty="0"/>
              <a:t>trustworthy, discoverable, and governed</a:t>
            </a:r>
            <a:r>
              <a:rPr lang="en-US" sz="1400" dirty="0"/>
              <a:t>.</a:t>
            </a:r>
          </a:p>
          <a:p>
            <a:pPr>
              <a:lnSpc>
                <a:spcPct val="120000"/>
              </a:lnSpc>
              <a:spcBef>
                <a:spcPts val="0"/>
              </a:spcBef>
              <a:spcAft>
                <a:spcPts val="600"/>
              </a:spcAft>
              <a:buSzPct val="100000"/>
            </a:pPr>
            <a:r>
              <a:rPr lang="en-US" sz="1400" b="1" dirty="0"/>
              <a:t>Key Elements of Modern Data Governance</a:t>
            </a:r>
          </a:p>
          <a:p>
            <a:pPr marL="539750" indent="-273050">
              <a:lnSpc>
                <a:spcPct val="120000"/>
              </a:lnSpc>
              <a:spcBef>
                <a:spcPts val="0"/>
              </a:spcBef>
              <a:spcAft>
                <a:spcPts val="600"/>
              </a:spcAft>
              <a:buSzPct val="100000"/>
              <a:buFont typeface="Arial" pitchFamily="34" charset="0"/>
              <a:buChar char="•"/>
            </a:pPr>
            <a:r>
              <a:rPr lang="en-US" sz="1400" b="1" dirty="0"/>
              <a:t>Ensuring Trust and Quality:</a:t>
            </a:r>
            <a:r>
              <a:rPr lang="en-US" sz="1400" dirty="0"/>
              <a:t> It provides a framework so that data scientists and engineers can access high-quality data. This is essential for building accurate AI models and autonomous agents.</a:t>
            </a:r>
          </a:p>
          <a:p>
            <a:pPr marL="539750" indent="-273050">
              <a:lnSpc>
                <a:spcPct val="120000"/>
              </a:lnSpc>
              <a:spcBef>
                <a:spcPts val="0"/>
              </a:spcBef>
              <a:spcAft>
                <a:spcPts val="600"/>
              </a:spcAft>
              <a:buSzPct val="100000"/>
              <a:buFont typeface="Arial" pitchFamily="34" charset="0"/>
              <a:buChar char="•"/>
            </a:pPr>
            <a:r>
              <a:rPr lang="en-US" sz="1400" b="1" dirty="0"/>
              <a:t>Accelerating Innovation:</a:t>
            </a:r>
            <a:r>
              <a:rPr lang="en-US" sz="1400" dirty="0"/>
              <a:t> Effective governance allows organizations to move from raw data to AI-driven actions faster by automating the data life cycle.</a:t>
            </a:r>
          </a:p>
          <a:p>
            <a:pPr marL="539750" indent="-273050">
              <a:lnSpc>
                <a:spcPct val="120000"/>
              </a:lnSpc>
              <a:spcBef>
                <a:spcPts val="0"/>
              </a:spcBef>
              <a:spcAft>
                <a:spcPts val="600"/>
              </a:spcAft>
              <a:buSzPct val="100000"/>
              <a:buFont typeface="Arial" pitchFamily="34" charset="0"/>
              <a:buChar char="•"/>
            </a:pPr>
            <a:r>
              <a:rPr lang="en-US" sz="1400" b="1" dirty="0"/>
              <a:t>Security and Compliance:</a:t>
            </a:r>
            <a:r>
              <a:rPr lang="en-US" sz="1400" dirty="0"/>
              <a:t> It maintains strict standards for data privacy and security, ensuring that while data is accessible, it remains protected and meets regulatory requirements.</a:t>
            </a:r>
          </a:p>
          <a:p>
            <a:pPr marL="539750" indent="-273050">
              <a:lnSpc>
                <a:spcPct val="120000"/>
              </a:lnSpc>
              <a:spcBef>
                <a:spcPts val="0"/>
              </a:spcBef>
              <a:spcAft>
                <a:spcPts val="600"/>
              </a:spcAft>
              <a:buSzPct val="100000"/>
              <a:buFont typeface="Arial" pitchFamily="34" charset="0"/>
              <a:buChar char="•"/>
            </a:pPr>
            <a:r>
              <a:rPr lang="en-US" sz="1400" b="1" dirty="0"/>
              <a:t>Operational Efficiency:</a:t>
            </a:r>
            <a:r>
              <a:rPr lang="en-US" sz="1400" dirty="0"/>
              <a:t> By making data easily discoverable, it reduces the time spent searching for and cleaning data, allowing teams to focus on strategic analysis.</a:t>
            </a:r>
          </a:p>
          <a:p>
            <a:pPr>
              <a:spcBef>
                <a:spcPts val="0"/>
              </a:spcBef>
              <a:spcAft>
                <a:spcPts val="600"/>
              </a:spcAft>
              <a:buSzPct val="100000"/>
            </a:pPr>
            <a:endParaRPr lang="en-IN" sz="1400" dirty="0"/>
          </a:p>
        </p:txBody>
      </p:sp>
    </p:spTree>
    <p:extLst>
      <p:ext uri="{BB962C8B-B14F-4D97-AF65-F5344CB8AC3E}">
        <p14:creationId xmlns:p14="http://schemas.microsoft.com/office/powerpoint/2010/main" val="216541478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600" b="1" dirty="0">
                <a:solidFill>
                  <a:schemeClr val="accent1">
                    <a:lumMod val="75000"/>
                  </a:schemeClr>
                </a:solidFill>
              </a:rPr>
              <a:t>Why Modern Data Governance is Critical for AI</a:t>
            </a:r>
            <a:endParaRPr lang="en-US" sz="2600" dirty="0">
              <a:solidFill>
                <a:schemeClr val="accent1">
                  <a:lumMod val="75000"/>
                </a:schemeClr>
              </a:solidFill>
            </a:endParaRPr>
          </a:p>
        </p:txBody>
      </p:sp>
      <p:sp>
        <p:nvSpPr>
          <p:cNvPr id="3" name="Content Placeholder 2"/>
          <p:cNvSpPr>
            <a:spLocks noGrp="1"/>
          </p:cNvSpPr>
          <p:nvPr>
            <p:ph sz="quarter" idx="1"/>
          </p:nvPr>
        </p:nvSpPr>
        <p:spPr>
          <a:xfrm>
            <a:off x="457200" y="1063229"/>
            <a:ext cx="7715200" cy="3792235"/>
          </a:xfrm>
        </p:spPr>
        <p:txBody>
          <a:bodyPr>
            <a:normAutofit/>
          </a:bodyPr>
          <a:lstStyle/>
          <a:p>
            <a:pPr marL="0" indent="0">
              <a:buNone/>
            </a:pPr>
            <a:r>
              <a:rPr lang="en-US" sz="1400" dirty="0"/>
              <a:t>As businesses shift toward AI-driven analytics, unified governance has transitioned from a technical "best practice" to a strategic imperative. Without a robust framework to bridge the gap between traditional analytics and generative AI, initiatives face several critical risks:</a:t>
            </a:r>
          </a:p>
          <a:p>
            <a:pPr>
              <a:buSzPct val="100000"/>
            </a:pPr>
            <a:r>
              <a:rPr lang="en-US" sz="1400" b="1" dirty="0"/>
              <a:t>Eliminating Data Silos</a:t>
            </a:r>
            <a:r>
              <a:rPr lang="en-US" sz="1400" dirty="0"/>
              <a:t> Information trapped in isolated, departmental systems prevents the creation of a unified </a:t>
            </a:r>
            <a:r>
              <a:rPr lang="en-US" sz="1400" b="1" dirty="0"/>
              <a:t>data </a:t>
            </a:r>
            <a:r>
              <a:rPr lang="en-US" sz="1400" b="1" dirty="0" err="1"/>
              <a:t>lakehouse</a:t>
            </a:r>
            <a:r>
              <a:rPr lang="en-US" sz="1400" dirty="0"/>
              <a:t>. Governance breaks these barriers, ensuring AI models have access to a comprehensive, cross-functional dataset.</a:t>
            </a:r>
          </a:p>
          <a:p>
            <a:pPr>
              <a:buSzPct val="100000"/>
            </a:pPr>
            <a:r>
              <a:rPr lang="en-US" sz="1400" b="1" dirty="0"/>
              <a:t>Ensuring Data Quality</a:t>
            </a:r>
            <a:r>
              <a:rPr lang="en-US" sz="1400" dirty="0"/>
              <a:t> The "garbage in, garbage out" rule is amplified in AI. Poor data quality leads to </a:t>
            </a:r>
            <a:r>
              <a:rPr lang="en-US" sz="1400" b="1" dirty="0"/>
              <a:t>"hallucinations"</a:t>
            </a:r>
            <a:r>
              <a:rPr lang="en-US" sz="1400" dirty="0"/>
              <a:t> in AI agents and results in unreliable business insights that can derail strategic planning.</a:t>
            </a:r>
          </a:p>
          <a:p>
            <a:pPr>
              <a:buSzPct val="100000"/>
            </a:pPr>
            <a:r>
              <a:rPr lang="en-US" sz="1400" b="1" dirty="0"/>
              <a:t>Managing Data Permissions</a:t>
            </a:r>
            <a:r>
              <a:rPr lang="en-US" sz="1400" dirty="0"/>
              <a:t> Without strict governance, AI agents may inadvertently access sensitive information. This creates a risk where confidential data could be surfaced as output to users who lack the proper security credentials.</a:t>
            </a:r>
          </a:p>
          <a:p>
            <a:pPr>
              <a:buSzPct val="100000"/>
            </a:pPr>
            <a:r>
              <a:rPr lang="en-US" sz="1400" b="1" dirty="0"/>
              <a:t>Closing Compliance Gaps</a:t>
            </a:r>
            <a:r>
              <a:rPr lang="en-US" sz="1400" dirty="0"/>
              <a:t> Modern governance ensures data is handled according to strict regulations like </a:t>
            </a:r>
            <a:r>
              <a:rPr lang="en-US" sz="1400" b="1" dirty="0"/>
              <a:t>GDPR or CCPA</a:t>
            </a:r>
            <a:r>
              <a:rPr lang="en-US" sz="1400" dirty="0"/>
              <a:t>. Failing to meet these standards can lead to legal penalties and completely stall AI deployments.</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DE01F-3E65-402F-BB28-DC605A85D1DA}"/>
              </a:ext>
            </a:extLst>
          </p:cNvPr>
          <p:cNvSpPr>
            <a:spLocks noGrp="1"/>
          </p:cNvSpPr>
          <p:nvPr>
            <p:ph type="title"/>
          </p:nvPr>
        </p:nvSpPr>
        <p:spPr>
          <a:xfrm>
            <a:off x="457200" y="154509"/>
            <a:ext cx="7467600" cy="637579"/>
          </a:xfrm>
        </p:spPr>
        <p:txBody>
          <a:bodyPr>
            <a:normAutofit/>
          </a:bodyPr>
          <a:lstStyle/>
          <a:p>
            <a:r>
              <a:rPr lang="en-US" sz="2600" b="1" dirty="0">
                <a:solidFill>
                  <a:schemeClr val="accent1">
                    <a:lumMod val="75000"/>
                  </a:schemeClr>
                </a:solidFill>
              </a:rPr>
              <a:t>The Benefits of Data Governance</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B19687CE-DA59-43E1-8103-04F0D8C81D38}"/>
              </a:ext>
            </a:extLst>
          </p:cNvPr>
          <p:cNvSpPr>
            <a:spLocks noGrp="1"/>
          </p:cNvSpPr>
          <p:nvPr>
            <p:ph sz="quarter" idx="1"/>
          </p:nvPr>
        </p:nvSpPr>
        <p:spPr>
          <a:xfrm>
            <a:off x="457200" y="936104"/>
            <a:ext cx="7715200" cy="4155926"/>
          </a:xfrm>
        </p:spPr>
        <p:txBody>
          <a:bodyPr>
            <a:normAutofit lnSpcReduction="10000"/>
          </a:bodyPr>
          <a:lstStyle/>
          <a:p>
            <a:pPr marL="0" indent="0">
              <a:lnSpc>
                <a:spcPct val="110000"/>
              </a:lnSpc>
              <a:spcBef>
                <a:spcPts val="0"/>
              </a:spcBef>
              <a:spcAft>
                <a:spcPts val="600"/>
              </a:spcAft>
              <a:buNone/>
            </a:pPr>
            <a:r>
              <a:rPr lang="en-US" sz="1400" dirty="0"/>
              <a:t>Implementing a robust data governance framework provides several strategic advantages that transform raw data into a secure, high-value asset.</a:t>
            </a:r>
          </a:p>
          <a:p>
            <a:pPr>
              <a:lnSpc>
                <a:spcPct val="110000"/>
              </a:lnSpc>
              <a:spcBef>
                <a:spcPts val="0"/>
              </a:spcBef>
              <a:spcAft>
                <a:spcPts val="600"/>
              </a:spcAft>
              <a:buSzPct val="100000"/>
            </a:pPr>
            <a:r>
              <a:rPr lang="en-US" sz="1400" b="1" dirty="0"/>
              <a:t>Accelerate AI-Driven Insights</a:t>
            </a:r>
            <a:r>
              <a:rPr lang="en-US" sz="1400" dirty="0"/>
              <a:t> Automate the path from data ingestion to </a:t>
            </a:r>
            <a:r>
              <a:rPr lang="en-US" sz="1400" b="1" dirty="0"/>
              <a:t>predictive analytics</a:t>
            </a:r>
            <a:r>
              <a:rPr lang="en-US" sz="1400" dirty="0"/>
              <a:t>. This streamlined flow allows organizations to identify market trends and service customers with significantly greater speed.</a:t>
            </a:r>
          </a:p>
          <a:p>
            <a:pPr>
              <a:lnSpc>
                <a:spcPct val="110000"/>
              </a:lnSpc>
              <a:spcBef>
                <a:spcPts val="0"/>
              </a:spcBef>
              <a:spcAft>
                <a:spcPts val="600"/>
              </a:spcAft>
              <a:buSzPct val="100000"/>
            </a:pPr>
            <a:r>
              <a:rPr lang="en-US" sz="1400" b="1" dirty="0"/>
              <a:t>Improve Cost Controls</a:t>
            </a:r>
            <a:r>
              <a:rPr lang="en-US" sz="1400" dirty="0"/>
              <a:t> Unifying your data architecture eliminates redundant data duplication. This reduces the financial burden of expensive, unmanaged storage and optimizes resource allocation.</a:t>
            </a:r>
          </a:p>
          <a:p>
            <a:pPr>
              <a:lnSpc>
                <a:spcPct val="110000"/>
              </a:lnSpc>
              <a:spcBef>
                <a:spcPts val="0"/>
              </a:spcBef>
              <a:spcAft>
                <a:spcPts val="600"/>
              </a:spcAft>
              <a:buSzPct val="100000"/>
            </a:pPr>
            <a:r>
              <a:rPr lang="en-US" sz="1400" b="1" dirty="0"/>
              <a:t>Enhance Regulatory Compliance</a:t>
            </a:r>
            <a:r>
              <a:rPr lang="en-US" sz="1400" dirty="0"/>
              <a:t> Proactively manage sensitive information with class-level controls. This structured approach makes it easier to anticipate and adapt to evolving global regulations like GDPR or CCPA.</a:t>
            </a:r>
          </a:p>
          <a:p>
            <a:pPr>
              <a:lnSpc>
                <a:spcPct val="110000"/>
              </a:lnSpc>
              <a:spcBef>
                <a:spcPts val="0"/>
              </a:spcBef>
              <a:spcAft>
                <a:spcPts val="600"/>
              </a:spcAft>
              <a:buSzPct val="100000"/>
            </a:pPr>
            <a:r>
              <a:rPr lang="en-US" sz="1400" b="1" dirty="0"/>
              <a:t>Enable Data Democratization</a:t>
            </a:r>
            <a:r>
              <a:rPr lang="en-US" sz="1400" dirty="0"/>
              <a:t> Empower data engineers and analysts with self-service access to governed data. Using an AI-powered catalog ensures that the right people can find the right data without compromising security.</a:t>
            </a:r>
          </a:p>
          <a:p>
            <a:pPr>
              <a:lnSpc>
                <a:spcPct val="110000"/>
              </a:lnSpc>
              <a:spcBef>
                <a:spcPts val="0"/>
              </a:spcBef>
              <a:spcAft>
                <a:spcPts val="600"/>
              </a:spcAft>
              <a:buSzPct val="100000"/>
            </a:pPr>
            <a:r>
              <a:rPr lang="en-US" sz="1400" b="1" dirty="0"/>
              <a:t>Manage Risk in Real-Time</a:t>
            </a:r>
            <a:r>
              <a:rPr lang="en-US" sz="1400" dirty="0"/>
              <a:t> Utilize real-time data processing to monitor your entire database fleet. This allows for the immediate detection of unauthorized access or potential security breaches, protecting the organization’s integrity.</a:t>
            </a:r>
          </a:p>
        </p:txBody>
      </p:sp>
    </p:spTree>
    <p:extLst>
      <p:ext uri="{BB962C8B-B14F-4D97-AF65-F5344CB8AC3E}">
        <p14:creationId xmlns:p14="http://schemas.microsoft.com/office/powerpoint/2010/main" val="84753891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88891-DFA0-456B-92AD-44BE81B944E8}"/>
              </a:ext>
            </a:extLst>
          </p:cNvPr>
          <p:cNvSpPr>
            <a:spLocks noGrp="1"/>
          </p:cNvSpPr>
          <p:nvPr>
            <p:ph type="title"/>
          </p:nvPr>
        </p:nvSpPr>
        <p:spPr>
          <a:xfrm>
            <a:off x="457200" y="205979"/>
            <a:ext cx="7467600" cy="565571"/>
          </a:xfrm>
        </p:spPr>
        <p:txBody>
          <a:bodyPr>
            <a:normAutofit/>
          </a:bodyPr>
          <a:lstStyle/>
          <a:p>
            <a:r>
              <a:rPr lang="en-US" sz="2600" b="1" dirty="0">
                <a:solidFill>
                  <a:schemeClr val="accent1">
                    <a:lumMod val="75000"/>
                  </a:schemeClr>
                </a:solidFill>
              </a:rPr>
              <a:t>Data Governance in the Cloud</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29F70A21-2235-48F7-B106-DD6E4ED46D8D}"/>
              </a:ext>
            </a:extLst>
          </p:cNvPr>
          <p:cNvSpPr>
            <a:spLocks noGrp="1"/>
          </p:cNvSpPr>
          <p:nvPr>
            <p:ph sz="quarter" idx="1"/>
          </p:nvPr>
        </p:nvSpPr>
        <p:spPr>
          <a:xfrm>
            <a:off x="457200" y="987574"/>
            <a:ext cx="7467600" cy="3867890"/>
          </a:xfrm>
        </p:spPr>
        <p:txBody>
          <a:bodyPr>
            <a:normAutofit/>
          </a:bodyPr>
          <a:lstStyle/>
          <a:p>
            <a:pPr marL="0" indent="0">
              <a:spcAft>
                <a:spcPts val="600"/>
              </a:spcAft>
              <a:buNone/>
            </a:pPr>
            <a:r>
              <a:rPr lang="en-US" sz="1400" dirty="0"/>
              <a:t>As organizations accelerate the adoption of cloud and serverless architectures, governance must provide total visibility and control without sacrificing operational agility.</a:t>
            </a:r>
          </a:p>
          <a:p>
            <a:pPr>
              <a:spcAft>
                <a:spcPts val="600"/>
              </a:spcAft>
              <a:buSzPct val="100000"/>
            </a:pPr>
            <a:r>
              <a:rPr lang="en-US" sz="1400" b="1" dirty="0"/>
              <a:t>Automated Metadata Cataloging</a:t>
            </a:r>
            <a:r>
              <a:rPr lang="en-US" sz="1400" dirty="0"/>
              <a:t> Modern cloud governance utilizes AI-powered catalogs to centralize business, technical, and operational metadata. This provides a "single pane of glass" view for all data and AI services, making assets easier to discover and manage.</a:t>
            </a:r>
          </a:p>
          <a:p>
            <a:pPr>
              <a:spcAft>
                <a:spcPts val="600"/>
              </a:spcAft>
              <a:buSzPct val="100000"/>
            </a:pPr>
            <a:r>
              <a:rPr lang="en-US" sz="1400" b="1" dirty="0"/>
              <a:t>Interoperability for Open Formats</a:t>
            </a:r>
            <a:r>
              <a:rPr lang="en-US" sz="1400" dirty="0"/>
              <a:t> Cloud </a:t>
            </a:r>
            <a:r>
              <a:rPr lang="en-US" sz="1400" dirty="0" err="1"/>
              <a:t>lakehouses</a:t>
            </a:r>
            <a:r>
              <a:rPr lang="en-US" sz="1400" dirty="0"/>
              <a:t> support integrated governance for open table formats like </a:t>
            </a:r>
            <a:r>
              <a:rPr lang="en-US" sz="1400" b="1" dirty="0"/>
              <a:t>Apache Iceberg</a:t>
            </a:r>
            <a:r>
              <a:rPr lang="en-US" sz="1400" dirty="0"/>
              <a:t>. This interoperability allows organizations to apply the same security and governance policies consistently across different processing engines, such as </a:t>
            </a:r>
            <a:r>
              <a:rPr lang="en-US" sz="1400" dirty="0" err="1"/>
              <a:t>BigQuery</a:t>
            </a:r>
            <a:r>
              <a:rPr lang="en-US" sz="1400" dirty="0"/>
              <a:t> and Spark.</a:t>
            </a:r>
          </a:p>
          <a:p>
            <a:pPr>
              <a:spcAft>
                <a:spcPts val="600"/>
              </a:spcAft>
              <a:buSzPct val="100000"/>
            </a:pPr>
            <a:r>
              <a:rPr lang="en-US" sz="1400" b="1" dirty="0"/>
              <a:t>Scalable Access Controls</a:t>
            </a:r>
            <a:r>
              <a:rPr lang="en-US" sz="1400" dirty="0"/>
              <a:t> Cloud-native platforms provide granular security through </a:t>
            </a:r>
            <a:r>
              <a:rPr lang="en-US" sz="1400" b="1" dirty="0"/>
              <a:t>data class-level controls</a:t>
            </a:r>
            <a:r>
              <a:rPr lang="en-US" sz="1400" dirty="0"/>
              <a:t> (such as column-level security). This allows for automated access management that scales to meet the needs of demanding enterprise workloads while keeping sensitive data protected.</a:t>
            </a:r>
          </a:p>
          <a:p>
            <a:pPr>
              <a:spcAft>
                <a:spcPts val="600"/>
              </a:spcAft>
            </a:pPr>
            <a:endParaRPr lang="en-IN" sz="1400" dirty="0"/>
          </a:p>
        </p:txBody>
      </p:sp>
    </p:spTree>
    <p:extLst>
      <p:ext uri="{BB962C8B-B14F-4D97-AF65-F5344CB8AC3E}">
        <p14:creationId xmlns:p14="http://schemas.microsoft.com/office/powerpoint/2010/main" val="342230568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E0EB-D29C-4ED4-87D7-6104552E1CCF}"/>
              </a:ext>
            </a:extLst>
          </p:cNvPr>
          <p:cNvSpPr>
            <a:spLocks noGrp="1"/>
          </p:cNvSpPr>
          <p:nvPr>
            <p:ph type="title"/>
          </p:nvPr>
        </p:nvSpPr>
        <p:spPr/>
        <p:txBody>
          <a:bodyPr>
            <a:normAutofit/>
          </a:bodyPr>
          <a:lstStyle/>
          <a:p>
            <a:r>
              <a:rPr lang="en-US" sz="2600" b="1" dirty="0">
                <a:solidFill>
                  <a:schemeClr val="accent1">
                    <a:lumMod val="75000"/>
                  </a:schemeClr>
                </a:solidFill>
              </a:rPr>
              <a:t>What is Data Governance Used For?</a:t>
            </a:r>
            <a:endParaRPr lang="en-IN" sz="2600" b="1" dirty="0">
              <a:solidFill>
                <a:schemeClr val="accent1">
                  <a:lumMod val="75000"/>
                </a:schemeClr>
              </a:solidFill>
            </a:endParaRPr>
          </a:p>
        </p:txBody>
      </p:sp>
      <p:sp>
        <p:nvSpPr>
          <p:cNvPr id="3" name="Content Placeholder 2">
            <a:extLst>
              <a:ext uri="{FF2B5EF4-FFF2-40B4-BE49-F238E27FC236}">
                <a16:creationId xmlns:a16="http://schemas.microsoft.com/office/drawing/2014/main" id="{6AA62CFC-2B4D-4E70-AC43-ECE0C992E0ED}"/>
              </a:ext>
            </a:extLst>
          </p:cNvPr>
          <p:cNvSpPr>
            <a:spLocks noGrp="1"/>
          </p:cNvSpPr>
          <p:nvPr>
            <p:ph sz="quarter" idx="1"/>
          </p:nvPr>
        </p:nvSpPr>
        <p:spPr>
          <a:xfrm>
            <a:off x="457200" y="1203598"/>
            <a:ext cx="7715200" cy="3651866"/>
          </a:xfrm>
        </p:spPr>
        <p:txBody>
          <a:bodyPr>
            <a:normAutofit/>
          </a:bodyPr>
          <a:lstStyle/>
          <a:p>
            <a:pPr marL="0" indent="0">
              <a:spcAft>
                <a:spcPts val="600"/>
              </a:spcAft>
              <a:buNone/>
            </a:pPr>
            <a:r>
              <a:rPr lang="en-US" sz="1400" dirty="0"/>
              <a:t>Data governance ensures that information remains safe, private, and usable while staying in compliance with internal and external policies. It allows organizations to enforce controls that paradoxically enable greater access to data by providing a secure and trusted environment.</a:t>
            </a:r>
          </a:p>
          <a:p>
            <a:pPr>
              <a:spcAft>
                <a:spcPts val="600"/>
              </a:spcAft>
              <a:buSzPct val="100000"/>
            </a:pPr>
            <a:r>
              <a:rPr lang="en-US" sz="1400" b="1" dirty="0"/>
              <a:t>Data Stewardship &amp; Accountability:</a:t>
            </a:r>
            <a:r>
              <a:rPr lang="en-US" sz="1400" dirty="0"/>
              <a:t> It involves assigning responsibility for data assets and their proper usage to "data stewards." These individuals act as the bridge between technical IT processes and business needs, ensuring policies are followed and data is handled ethically.</a:t>
            </a:r>
          </a:p>
          <a:p>
            <a:pPr>
              <a:spcAft>
                <a:spcPts val="600"/>
              </a:spcAft>
              <a:buSzPct val="100000"/>
            </a:pPr>
            <a:r>
              <a:rPr lang="en-US" sz="1400" b="1" dirty="0"/>
              <a:t>Ensuring High Data Quality:</a:t>
            </a:r>
            <a:r>
              <a:rPr lang="en-US" sz="1400" dirty="0"/>
              <a:t> Governance provides the techniques to ensure data is "fit for use" based on six critical dimensions: </a:t>
            </a:r>
            <a:r>
              <a:rPr lang="en-US" sz="1400" b="1" dirty="0"/>
              <a:t>accuracy, completeness, consistency, timeliness, validity, and uniqueness.</a:t>
            </a:r>
            <a:r>
              <a:rPr lang="en-US" sz="1400" dirty="0"/>
              <a:t> This ensures that business decisions are based on reliable and up-to-date information.</a:t>
            </a:r>
          </a:p>
          <a:p>
            <a:pPr>
              <a:spcAft>
                <a:spcPts val="600"/>
              </a:spcAft>
              <a:buSzPct val="100000"/>
            </a:pPr>
            <a:r>
              <a:rPr lang="en-US" sz="1400" b="1" dirty="0"/>
              <a:t>Strategic Data Management:</a:t>
            </a:r>
            <a:r>
              <a:rPr lang="en-US" sz="1400" dirty="0"/>
              <a:t> This covers the entire lifecycle of data as an enterprise asset—from collection and storage to oversight and secure disposal. It ensures that data is leveraged efficiently and cost-effectively throughout the organization.</a:t>
            </a:r>
          </a:p>
        </p:txBody>
      </p:sp>
    </p:spTree>
    <p:extLst>
      <p:ext uri="{BB962C8B-B14F-4D97-AF65-F5344CB8AC3E}">
        <p14:creationId xmlns:p14="http://schemas.microsoft.com/office/powerpoint/2010/main" val="255125094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A2D9B-1068-4B09-A046-42440066ED0F}"/>
              </a:ext>
            </a:extLst>
          </p:cNvPr>
          <p:cNvSpPr>
            <a:spLocks noGrp="1"/>
          </p:cNvSpPr>
          <p:nvPr>
            <p:ph type="title"/>
          </p:nvPr>
        </p:nvSpPr>
        <p:spPr>
          <a:xfrm>
            <a:off x="457200" y="205979"/>
            <a:ext cx="8003232" cy="565571"/>
          </a:xfrm>
        </p:spPr>
        <p:txBody>
          <a:bodyPr>
            <a:normAutofit/>
          </a:bodyPr>
          <a:lstStyle/>
          <a:p>
            <a:r>
              <a:rPr lang="en-US" sz="2600" b="1" dirty="0">
                <a:solidFill>
                  <a:schemeClr val="accent1">
                    <a:lumMod val="75000"/>
                  </a:schemeClr>
                </a:solidFill>
              </a:rPr>
              <a:t>The Role of Data Lineage in Data Governance</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71E43293-49C3-4CDA-B53F-412D3F35A3F4}"/>
              </a:ext>
            </a:extLst>
          </p:cNvPr>
          <p:cNvSpPr>
            <a:spLocks noGrp="1"/>
          </p:cNvSpPr>
          <p:nvPr>
            <p:ph sz="quarter" idx="1"/>
          </p:nvPr>
        </p:nvSpPr>
        <p:spPr>
          <a:xfrm>
            <a:off x="457200" y="915566"/>
            <a:ext cx="7715200" cy="3939898"/>
          </a:xfrm>
        </p:spPr>
        <p:txBody>
          <a:bodyPr>
            <a:noAutofit/>
          </a:bodyPr>
          <a:lstStyle/>
          <a:p>
            <a:pPr marL="0" indent="0">
              <a:spcAft>
                <a:spcPts val="600"/>
              </a:spcAft>
              <a:buNone/>
            </a:pPr>
            <a:r>
              <a:rPr lang="en-US" sz="1400" dirty="0"/>
              <a:t>Data lineage tracks data from its source to its final destination, serving as the essential "map" that makes governance rules enforceable.</a:t>
            </a:r>
          </a:p>
          <a:p>
            <a:pPr>
              <a:spcAft>
                <a:spcPts val="600"/>
              </a:spcAft>
              <a:buSzPct val="100000"/>
            </a:pPr>
            <a:r>
              <a:rPr lang="en-US" sz="1400" b="1" dirty="0"/>
              <a:t>Mapping Rules to Movement:</a:t>
            </a:r>
            <a:r>
              <a:rPr lang="en-US" sz="1400" dirty="0"/>
              <a:t> While governance establishes the </a:t>
            </a:r>
            <a:r>
              <a:rPr lang="en-US" sz="1400" b="1" dirty="0"/>
              <a:t>rules</a:t>
            </a:r>
            <a:r>
              <a:rPr lang="en-US" sz="1400" dirty="0"/>
              <a:t>, lineage tracks the </a:t>
            </a:r>
            <a:r>
              <a:rPr lang="en-US" sz="1400" b="1" dirty="0"/>
              <a:t>physical movement</a:t>
            </a:r>
            <a:r>
              <a:rPr lang="en-US" sz="1400" dirty="0"/>
              <a:t>. It provides the visibility needed to ensure that security and privacy policies are successfully applied as data travels across systems.</a:t>
            </a:r>
          </a:p>
          <a:p>
            <a:pPr>
              <a:spcAft>
                <a:spcPts val="600"/>
              </a:spcAft>
              <a:buSzPct val="100000"/>
            </a:pPr>
            <a:r>
              <a:rPr lang="en-US" sz="1400" b="1" dirty="0"/>
              <a:t>Authoritative Source Tracking:</a:t>
            </a:r>
            <a:r>
              <a:rPr lang="en-US" sz="1400" dirty="0"/>
              <a:t> Lineage allows data stewards to identify the </a:t>
            </a:r>
            <a:r>
              <a:rPr lang="en-US" sz="1400" b="1" dirty="0"/>
              <a:t>original source</a:t>
            </a:r>
            <a:r>
              <a:rPr lang="en-US" sz="1400" dirty="0"/>
              <a:t> of data and monitor its transformations. This helps stewards pinpoint exactly where errors occur or where security protocols might fail during transit.</a:t>
            </a:r>
          </a:p>
          <a:p>
            <a:pPr>
              <a:spcAft>
                <a:spcPts val="600"/>
              </a:spcAft>
              <a:buSzPct val="100000"/>
            </a:pPr>
            <a:r>
              <a:rPr lang="en-US" sz="1400" b="1" dirty="0"/>
              <a:t>Hierarchical Visualization:</a:t>
            </a:r>
            <a:r>
              <a:rPr lang="en-US" sz="1400" dirty="0"/>
              <a:t> Lineage ranges from </a:t>
            </a:r>
            <a:r>
              <a:rPr lang="en-US" sz="1400" b="1" dirty="0"/>
              <a:t>low-level data flows</a:t>
            </a:r>
            <a:r>
              <a:rPr lang="en-US" sz="1400" dirty="0"/>
              <a:t> (technical visualizations of database movement) to </a:t>
            </a:r>
            <a:r>
              <a:rPr lang="en-US" sz="1400" b="1" dirty="0"/>
              <a:t>high-level business overviews</a:t>
            </a:r>
            <a:r>
              <a:rPr lang="en-US" sz="1400" dirty="0"/>
              <a:t> (monitoring data value and health across the organization).</a:t>
            </a:r>
          </a:p>
          <a:p>
            <a:pPr>
              <a:spcAft>
                <a:spcPts val="600"/>
              </a:spcAft>
              <a:buSzPct val="100000"/>
            </a:pPr>
            <a:r>
              <a:rPr lang="en-US" sz="1400" b="1" dirty="0"/>
              <a:t>Control and Process Design:</a:t>
            </a:r>
            <a:r>
              <a:rPr lang="en-US" sz="1400" dirty="0"/>
              <a:t> By revealing every stop data makes, lineage enables the design of better monitoring controls. It ensures oversight is placed at the most critical points of the flow, especially in complex cloud environments.</a:t>
            </a:r>
          </a:p>
        </p:txBody>
      </p:sp>
    </p:spTree>
    <p:extLst>
      <p:ext uri="{BB962C8B-B14F-4D97-AF65-F5344CB8AC3E}">
        <p14:creationId xmlns:p14="http://schemas.microsoft.com/office/powerpoint/2010/main" val="81564848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E0DAF-B131-4430-A664-D630FEC6C5A2}"/>
              </a:ext>
            </a:extLst>
          </p:cNvPr>
          <p:cNvSpPr>
            <a:spLocks noGrp="1"/>
          </p:cNvSpPr>
          <p:nvPr>
            <p:ph type="title"/>
          </p:nvPr>
        </p:nvSpPr>
        <p:spPr>
          <a:xfrm>
            <a:off x="457200" y="133971"/>
            <a:ext cx="7467600" cy="565571"/>
          </a:xfrm>
        </p:spPr>
        <p:txBody>
          <a:bodyPr>
            <a:normAutofit/>
          </a:bodyPr>
          <a:lstStyle/>
          <a:p>
            <a:r>
              <a:rPr lang="en-US" sz="2600" b="1" dirty="0">
                <a:solidFill>
                  <a:schemeClr val="accent1">
                    <a:lumMod val="75000"/>
                  </a:schemeClr>
                </a:solidFill>
              </a:rPr>
              <a:t>How Data Governance Works</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A1794214-0119-4F2E-BE89-7A972A4DEB1F}"/>
              </a:ext>
            </a:extLst>
          </p:cNvPr>
          <p:cNvSpPr>
            <a:spLocks noGrp="1"/>
          </p:cNvSpPr>
          <p:nvPr>
            <p:ph sz="quarter" idx="1"/>
          </p:nvPr>
        </p:nvSpPr>
        <p:spPr>
          <a:xfrm>
            <a:off x="457200" y="771550"/>
            <a:ext cx="7467600" cy="3655314"/>
          </a:xfrm>
        </p:spPr>
        <p:txBody>
          <a:bodyPr>
            <a:noAutofit/>
          </a:bodyPr>
          <a:lstStyle/>
          <a:p>
            <a:pPr marL="0" indent="0">
              <a:buNone/>
            </a:pPr>
            <a:r>
              <a:rPr lang="en-US" sz="1400" dirty="0"/>
              <a:t>Data governance functions by aligning people, technology, and processes to manage data as a strategic asset. It operates through four primary functional pillars:</a:t>
            </a:r>
          </a:p>
          <a:p>
            <a:pPr>
              <a:buSzPct val="100000"/>
            </a:pPr>
            <a:r>
              <a:rPr lang="en-US" sz="1400" b="1" dirty="0"/>
              <a:t>Organize and Maintain Data Quality at Scale</a:t>
            </a:r>
            <a:r>
              <a:rPr lang="en-US" sz="1400" dirty="0"/>
              <a:t> As data volume grows, governance systems locate and organize information across databases, warehouses, and lakes. Effective </a:t>
            </a:r>
            <a:r>
              <a:rPr lang="en-US" sz="1400" b="1" dirty="0"/>
              <a:t>data curation</a:t>
            </a:r>
            <a:r>
              <a:rPr lang="en-US" sz="1400" dirty="0"/>
              <a:t> ensures that assets remain accurate, up-to-date, and scrubbed of sensitive information, building a foundation of trust for business applications.</a:t>
            </a:r>
          </a:p>
          <a:p>
            <a:pPr>
              <a:buSzPct val="100000"/>
            </a:pPr>
            <a:r>
              <a:rPr lang="en-US" sz="1400" b="1" dirty="0"/>
              <a:t>Discover and Understand Data in Context</a:t>
            </a:r>
            <a:r>
              <a:rPr lang="en-US" sz="1400" dirty="0"/>
              <a:t> Governance provides more than just storage locations; it provides meaning. A </a:t>
            </a:r>
            <a:r>
              <a:rPr lang="en-US" sz="1400" b="1" dirty="0"/>
              <a:t>centralized data catalog</a:t>
            </a:r>
            <a:r>
              <a:rPr lang="en-US" sz="1400" dirty="0"/>
              <a:t> allows users to search for data and understand its context and business value. This visibility helps IT teams make informed decisions about how data should be handled or prioritized.</a:t>
            </a:r>
          </a:p>
          <a:p>
            <a:pPr>
              <a:buSzPct val="100000"/>
            </a:pPr>
            <a:r>
              <a:rPr lang="en-US" sz="1400" b="1" dirty="0"/>
              <a:t>Balance Privacy, Access, and Protection</a:t>
            </a:r>
            <a:r>
              <a:rPr lang="en-US" sz="1400" dirty="0"/>
              <a:t> Effective governance manages the tension between making data accessible and keeping it secure. By using intuitive tools, organizations can implement </a:t>
            </a:r>
            <a:r>
              <a:rPr lang="en-US" sz="1400" b="1" dirty="0"/>
              <a:t>granular access controls</a:t>
            </a:r>
            <a:r>
              <a:rPr lang="en-US" sz="1400" dirty="0"/>
              <a:t> that allow both technical and business users to share data securely without creating bottlenecks.</a:t>
            </a:r>
          </a:p>
          <a:p>
            <a:pPr>
              <a:buSzPct val="100000"/>
            </a:pPr>
            <a:r>
              <a:rPr lang="en-US" sz="1400" b="1" dirty="0"/>
              <a:t>Control Risk and Meet Compliance Requirements</a:t>
            </a:r>
            <a:r>
              <a:rPr lang="en-US" sz="1400" dirty="0"/>
              <a:t> Strong governance provides a clear audit trail of who accessed data and how it was used. This monitoring allows businesses to reduce risk and meet strict regulatory compliance goals through automated auditing and real-time security oversight.</a:t>
            </a:r>
          </a:p>
          <a:p>
            <a:endParaRPr lang="en-IN" sz="1400" dirty="0"/>
          </a:p>
        </p:txBody>
      </p:sp>
    </p:spTree>
    <p:extLst>
      <p:ext uri="{BB962C8B-B14F-4D97-AF65-F5344CB8AC3E}">
        <p14:creationId xmlns:p14="http://schemas.microsoft.com/office/powerpoint/2010/main" val="20974207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1C92C-6F29-4B08-84AE-2D633E25211C}"/>
              </a:ext>
            </a:extLst>
          </p:cNvPr>
          <p:cNvSpPr>
            <a:spLocks noGrp="1"/>
          </p:cNvSpPr>
          <p:nvPr>
            <p:ph type="title"/>
          </p:nvPr>
        </p:nvSpPr>
        <p:spPr>
          <a:xfrm>
            <a:off x="395536" y="123478"/>
            <a:ext cx="8579296" cy="576064"/>
          </a:xfrm>
        </p:spPr>
        <p:txBody>
          <a:bodyPr>
            <a:normAutofit/>
          </a:bodyPr>
          <a:lstStyle/>
          <a:p>
            <a:r>
              <a:rPr lang="en-US" sz="2600" b="1" dirty="0">
                <a:solidFill>
                  <a:schemeClr val="accent1">
                    <a:lumMod val="75000"/>
                  </a:schemeClr>
                </a:solidFill>
              </a:rPr>
              <a:t>Building a Scalable Data Governance Framework</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CD97EEE9-2398-4638-88C1-37AE380AD803}"/>
              </a:ext>
            </a:extLst>
          </p:cNvPr>
          <p:cNvSpPr>
            <a:spLocks noGrp="1"/>
          </p:cNvSpPr>
          <p:nvPr>
            <p:ph sz="quarter" idx="1"/>
          </p:nvPr>
        </p:nvSpPr>
        <p:spPr>
          <a:xfrm>
            <a:off x="395536" y="788644"/>
            <a:ext cx="7704856" cy="3655314"/>
          </a:xfrm>
        </p:spPr>
        <p:txBody>
          <a:bodyPr>
            <a:noAutofit/>
          </a:bodyPr>
          <a:lstStyle/>
          <a:p>
            <a:pPr marL="0" indent="0">
              <a:spcBef>
                <a:spcPts val="0"/>
              </a:spcBef>
              <a:spcAft>
                <a:spcPts val="600"/>
              </a:spcAft>
              <a:buNone/>
            </a:pPr>
            <a:r>
              <a:rPr lang="en-US" sz="1400" dirty="0">
                <a:cs typeface="Times New Roman" panose="02020603050405020304" pitchFamily="18" charset="0"/>
              </a:rPr>
              <a:t>A data governance framework provides the structure for an ethical and secure data strategy. Here are the five core components:</a:t>
            </a:r>
          </a:p>
          <a:p>
            <a:pPr>
              <a:spcBef>
                <a:spcPts val="0"/>
              </a:spcBef>
              <a:spcAft>
                <a:spcPts val="600"/>
              </a:spcAft>
              <a:buSzPct val="100000"/>
              <a:buFont typeface="Wingdings" panose="05000000000000000000" pitchFamily="2" charset="2"/>
              <a:buChar char="¢"/>
            </a:pPr>
            <a:r>
              <a:rPr lang="en-US" sz="1400" b="1" dirty="0">
                <a:cs typeface="Times New Roman" panose="02020603050405020304" pitchFamily="18" charset="0"/>
              </a:rPr>
              <a:t>Perform Due Diligence:</a:t>
            </a:r>
            <a:r>
              <a:rPr lang="en-US" sz="1400" dirty="0">
                <a:cs typeface="Times New Roman" panose="02020603050405020304" pitchFamily="18" charset="0"/>
              </a:rPr>
              <a:t> Check who has access to data and where it is being sent. This requires reviewing the policies and compliance of third-party vendors; if a partner cannot meet your security standards, the relationship may need to end.</a:t>
            </a:r>
          </a:p>
          <a:p>
            <a:pPr>
              <a:spcBef>
                <a:spcPts val="0"/>
              </a:spcBef>
              <a:spcAft>
                <a:spcPts val="600"/>
              </a:spcAft>
              <a:buSzPct val="100000"/>
              <a:buFont typeface="Wingdings" panose="05000000000000000000" pitchFamily="2" charset="2"/>
              <a:buChar char="¢"/>
            </a:pPr>
            <a:r>
              <a:rPr lang="en-US" sz="1400" b="1" dirty="0">
                <a:cs typeface="Times New Roman" panose="02020603050405020304" pitchFamily="18" charset="0"/>
              </a:rPr>
              <a:t>Build a Data Inventory:</a:t>
            </a:r>
            <a:r>
              <a:rPr lang="en-US" sz="1400" dirty="0">
                <a:cs typeface="Times New Roman" panose="02020603050405020304" pitchFamily="18" charset="0"/>
              </a:rPr>
              <a:t> Identify all personal data collected, its storage location, and existing protections. Pinpointing your most sensitive data allows you to establish the specific controls necessary to ensure its integrity.</a:t>
            </a:r>
          </a:p>
          <a:p>
            <a:pPr>
              <a:spcBef>
                <a:spcPts val="0"/>
              </a:spcBef>
              <a:spcAft>
                <a:spcPts val="600"/>
              </a:spcAft>
              <a:buSzPct val="100000"/>
              <a:buFont typeface="Wingdings" panose="05000000000000000000" pitchFamily="2" charset="2"/>
              <a:buChar char="¢"/>
            </a:pPr>
            <a:r>
              <a:rPr lang="en-US" sz="1400" b="1" dirty="0">
                <a:cs typeface="Times New Roman" panose="02020603050405020304" pitchFamily="18" charset="0"/>
              </a:rPr>
              <a:t>Build Controls:</a:t>
            </a:r>
            <a:r>
              <a:rPr lang="en-US" sz="1400" dirty="0">
                <a:cs typeface="Times New Roman" panose="02020603050405020304" pitchFamily="18" charset="0"/>
              </a:rPr>
              <a:t> Design internal and external policies that define how data is used. Apply the </a:t>
            </a:r>
            <a:r>
              <a:rPr lang="en-US" sz="1400" b="1" dirty="0">
                <a:cs typeface="Times New Roman" panose="02020603050405020304" pitchFamily="18" charset="0"/>
              </a:rPr>
              <a:t>principle of least privilege</a:t>
            </a:r>
            <a:r>
              <a:rPr lang="en-US" sz="1400" dirty="0">
                <a:cs typeface="Times New Roman" panose="02020603050405020304" pitchFamily="18" charset="0"/>
              </a:rPr>
              <a:t> for vendors, ensuring they only access data essential to their jobs, and create auditing systems to test these controls' effectiveness.</a:t>
            </a:r>
          </a:p>
          <a:p>
            <a:pPr>
              <a:spcBef>
                <a:spcPts val="0"/>
              </a:spcBef>
              <a:spcAft>
                <a:spcPts val="600"/>
              </a:spcAft>
              <a:buSzPct val="100000"/>
              <a:buFont typeface="Wingdings" panose="05000000000000000000" pitchFamily="2" charset="2"/>
              <a:buChar char="¢"/>
            </a:pPr>
            <a:r>
              <a:rPr lang="en-US" sz="1400" b="1" dirty="0">
                <a:cs typeface="Times New Roman" panose="02020603050405020304" pitchFamily="18" charset="0"/>
              </a:rPr>
              <a:t>Form a Governance Panel:</a:t>
            </a:r>
            <a:r>
              <a:rPr lang="en-US" sz="1400" dirty="0">
                <a:cs typeface="Times New Roman" panose="02020603050405020304" pitchFamily="18" charset="0"/>
              </a:rPr>
              <a:t> Assemble a cross-functional team from IT, Legal, and Marketing to oversee data strategy. This group decides how data is accessed, how that access is controlled, and how these decisions impact business operations.</a:t>
            </a:r>
          </a:p>
          <a:p>
            <a:pPr>
              <a:spcBef>
                <a:spcPts val="0"/>
              </a:spcBef>
              <a:spcAft>
                <a:spcPts val="600"/>
              </a:spcAft>
              <a:buSzPct val="100000"/>
              <a:buFont typeface="Wingdings" panose="05000000000000000000" pitchFamily="2" charset="2"/>
              <a:buChar char="¢"/>
            </a:pPr>
            <a:r>
              <a:rPr lang="en-US" sz="1400" b="1" dirty="0">
                <a:cs typeface="Times New Roman" panose="02020603050405020304" pitchFamily="18" charset="0"/>
              </a:rPr>
              <a:t>Provide Clear Notice &amp; Training:</a:t>
            </a:r>
            <a:r>
              <a:rPr lang="en-US" sz="1400" dirty="0">
                <a:cs typeface="Times New Roman" panose="02020603050405020304" pitchFamily="18" charset="0"/>
              </a:rPr>
              <a:t> Give all stakeholders clear information on policies and allow them to opt-in or out. Internally, invest in employee training to ensure everyone remains accountable and understands how policy changes impact their specific roles.</a:t>
            </a:r>
          </a:p>
        </p:txBody>
      </p:sp>
    </p:spTree>
    <p:extLst>
      <p:ext uri="{BB962C8B-B14F-4D97-AF65-F5344CB8AC3E}">
        <p14:creationId xmlns:p14="http://schemas.microsoft.com/office/powerpoint/2010/main" val="344048544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42634-4809-464C-B7AE-DDB099C5B256}"/>
              </a:ext>
            </a:extLst>
          </p:cNvPr>
          <p:cNvSpPr>
            <a:spLocks noGrp="1"/>
          </p:cNvSpPr>
          <p:nvPr>
            <p:ph type="title"/>
          </p:nvPr>
        </p:nvSpPr>
        <p:spPr>
          <a:xfrm>
            <a:off x="457200" y="51470"/>
            <a:ext cx="7467600" cy="709587"/>
          </a:xfrm>
        </p:spPr>
        <p:txBody>
          <a:bodyPr>
            <a:normAutofit/>
          </a:bodyPr>
          <a:lstStyle/>
          <a:p>
            <a:r>
              <a:rPr lang="en-US" sz="2600" b="1" dirty="0">
                <a:solidFill>
                  <a:schemeClr val="accent1">
                    <a:lumMod val="75000"/>
                  </a:schemeClr>
                </a:solidFill>
              </a:rPr>
              <a:t>Common Data Governance Challenges</a:t>
            </a:r>
          </a:p>
        </p:txBody>
      </p:sp>
      <p:sp>
        <p:nvSpPr>
          <p:cNvPr id="3" name="Content Placeholder 2">
            <a:extLst>
              <a:ext uri="{FF2B5EF4-FFF2-40B4-BE49-F238E27FC236}">
                <a16:creationId xmlns:a16="http://schemas.microsoft.com/office/drawing/2014/main" id="{0B9D9598-D3B7-4455-8768-EEA2B448FE01}"/>
              </a:ext>
            </a:extLst>
          </p:cNvPr>
          <p:cNvSpPr>
            <a:spLocks noGrp="1"/>
          </p:cNvSpPr>
          <p:nvPr>
            <p:ph sz="quarter" idx="1"/>
          </p:nvPr>
        </p:nvSpPr>
        <p:spPr>
          <a:xfrm>
            <a:off x="457200" y="833065"/>
            <a:ext cx="7715200" cy="3943350"/>
          </a:xfrm>
        </p:spPr>
        <p:txBody>
          <a:bodyPr>
            <a:noAutofit/>
          </a:bodyPr>
          <a:lstStyle/>
          <a:p>
            <a:pPr marL="0" indent="0">
              <a:spcAft>
                <a:spcPts val="600"/>
              </a:spcAft>
              <a:buNone/>
            </a:pPr>
            <a:r>
              <a:rPr lang="en-US" sz="1400" dirty="0"/>
              <a:t>To successfully implement an organization-wide data strategy, these common hurdles must be addressed directly to ensure consistency and compliance.</a:t>
            </a:r>
          </a:p>
          <a:p>
            <a:pPr>
              <a:spcAft>
                <a:spcPts val="600"/>
              </a:spcAft>
              <a:buSzPct val="100000"/>
              <a:buFont typeface="Wingdings" panose="05000000000000000000" pitchFamily="2" charset="2"/>
              <a:buChar char=""/>
            </a:pPr>
            <a:r>
              <a:rPr lang="en-US" sz="1400" b="1" dirty="0"/>
              <a:t>Absence of Executive Leadership: </a:t>
            </a:r>
            <a:r>
              <a:rPr lang="en-US" sz="1400" dirty="0"/>
              <a:t>Without a high-level "champion" or leader to drive the initiative, it is nearly impossible for different departments to unite around a single data governance goal.</a:t>
            </a:r>
          </a:p>
          <a:p>
            <a:pPr>
              <a:spcAft>
                <a:spcPts val="600"/>
              </a:spcAft>
              <a:buSzPct val="100000"/>
              <a:buFont typeface="Wingdings" panose="05000000000000000000" pitchFamily="2" charset="2"/>
              <a:buChar char=""/>
            </a:pPr>
            <a:r>
              <a:rPr lang="en-US" sz="1400" b="1" dirty="0"/>
              <a:t>Siloed Data Environments: </a:t>
            </a:r>
            <a:r>
              <a:rPr lang="en-US" sz="1400" dirty="0"/>
              <a:t>Data that is isolated within specific departments or teams makes it difficult to apply a unified set of security and privacy principles across the entire organization.</a:t>
            </a:r>
          </a:p>
          <a:p>
            <a:pPr>
              <a:spcAft>
                <a:spcPts val="600"/>
              </a:spcAft>
              <a:buSzPct val="100000"/>
              <a:buFont typeface="Wingdings" panose="05000000000000000000" pitchFamily="2" charset="2"/>
              <a:buChar char=""/>
            </a:pPr>
            <a:r>
              <a:rPr lang="en-US" sz="1400" b="1" dirty="0"/>
              <a:t>Inadequate Data Control: </a:t>
            </a:r>
            <a:r>
              <a:rPr lang="en-US" sz="1400" dirty="0"/>
              <a:t>A lack of oversight regarding how data is handled often leads to significant security breaches and failure to comply with strict legal regulations like </a:t>
            </a:r>
            <a:r>
              <a:rPr lang="en-US" sz="1400" b="1" dirty="0"/>
              <a:t>HIPAA</a:t>
            </a:r>
            <a:r>
              <a:rPr lang="en-US" sz="1400" dirty="0"/>
              <a:t>.</a:t>
            </a:r>
          </a:p>
          <a:p>
            <a:pPr>
              <a:spcAft>
                <a:spcPts val="600"/>
              </a:spcAft>
              <a:buSzPct val="100000"/>
              <a:buFont typeface="Wingdings" panose="05000000000000000000" pitchFamily="2" charset="2"/>
              <a:buChar char=""/>
            </a:pPr>
            <a:r>
              <a:rPr lang="en-US" sz="1400" b="1" dirty="0"/>
              <a:t>Hybrid Infrastructure Complexity: </a:t>
            </a:r>
            <a:r>
              <a:rPr lang="en-US" sz="1400" dirty="0"/>
              <a:t>Enforcing governance is increasingly difficult in environments that mix local servers and cloud systems; without a unified approach like the </a:t>
            </a:r>
            <a:r>
              <a:rPr lang="en-US" sz="1400" b="1" dirty="0"/>
              <a:t>Fortinet Security Fabric</a:t>
            </a:r>
            <a:r>
              <a:rPr lang="en-US" sz="1400" dirty="0"/>
              <a:t>, maintaining visibility is a major struggle.</a:t>
            </a:r>
          </a:p>
          <a:p>
            <a:pPr>
              <a:spcAft>
                <a:spcPts val="600"/>
              </a:spcAft>
              <a:buSzPct val="100000"/>
              <a:buFont typeface="Wingdings" panose="05000000000000000000" pitchFamily="2" charset="2"/>
              <a:buChar char=""/>
            </a:pPr>
            <a:r>
              <a:rPr lang="en-US" sz="1400" b="1" dirty="0"/>
              <a:t>Resource and Alignment Constraints: </a:t>
            </a:r>
            <a:r>
              <a:rPr lang="en-US" sz="1400" dirty="0"/>
              <a:t>Limited budget or personnel can stall a project, while a lack of a unified approach makes enforcing governance across different digital environments highly complex.</a:t>
            </a:r>
          </a:p>
        </p:txBody>
      </p:sp>
    </p:spTree>
    <p:extLst>
      <p:ext uri="{BB962C8B-B14F-4D97-AF65-F5344CB8AC3E}">
        <p14:creationId xmlns:p14="http://schemas.microsoft.com/office/powerpoint/2010/main" val="224253571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1603B-6656-400C-A995-C772FF57C23F}"/>
              </a:ext>
            </a:extLst>
          </p:cNvPr>
          <p:cNvSpPr>
            <a:spLocks noGrp="1"/>
          </p:cNvSpPr>
          <p:nvPr>
            <p:ph type="title"/>
          </p:nvPr>
        </p:nvSpPr>
        <p:spPr>
          <a:xfrm>
            <a:off x="539552" y="195486"/>
            <a:ext cx="7632848" cy="504056"/>
          </a:xfrm>
        </p:spPr>
        <p:txBody>
          <a:bodyPr>
            <a:normAutofit/>
          </a:bodyPr>
          <a:lstStyle/>
          <a:p>
            <a:r>
              <a:rPr lang="en-US" sz="2600" b="1" dirty="0">
                <a:solidFill>
                  <a:schemeClr val="accent1">
                    <a:lumMod val="75000"/>
                  </a:schemeClr>
                </a:solidFill>
              </a:rPr>
              <a:t>What is Data Ethics?</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A101F0FD-33ED-45C1-B7B1-79740F6D2D64}"/>
              </a:ext>
            </a:extLst>
          </p:cNvPr>
          <p:cNvSpPr>
            <a:spLocks noGrp="1"/>
          </p:cNvSpPr>
          <p:nvPr>
            <p:ph sz="quarter" idx="1"/>
          </p:nvPr>
        </p:nvSpPr>
        <p:spPr>
          <a:xfrm>
            <a:off x="539552" y="792092"/>
            <a:ext cx="7632848" cy="4371946"/>
          </a:xfrm>
        </p:spPr>
        <p:txBody>
          <a:bodyPr>
            <a:normAutofit fontScale="62500" lnSpcReduction="20000"/>
          </a:bodyPr>
          <a:lstStyle/>
          <a:p>
            <a:pPr>
              <a:spcAft>
                <a:spcPts val="600"/>
              </a:spcAft>
              <a:buSzPct val="100000"/>
            </a:pPr>
            <a:r>
              <a:rPr lang="en-US" dirty="0"/>
              <a:t>Data ethics is the branch of ethics that evaluates the </a:t>
            </a:r>
            <a:r>
              <a:rPr lang="en-US" b="1" dirty="0"/>
              <a:t>moral obligations</a:t>
            </a:r>
            <a:r>
              <a:rPr lang="en-US" dirty="0"/>
              <a:t> organizations have when gathering, protecting, and sharing information. It moves beyond simple legal compliance to ask whether a specific use of data is "right" or "fair."</a:t>
            </a:r>
          </a:p>
          <a:p>
            <a:pPr>
              <a:spcAft>
                <a:spcPts val="600"/>
              </a:spcAft>
              <a:buSzPct val="100000"/>
            </a:pPr>
            <a:r>
              <a:rPr lang="en-US" dirty="0"/>
              <a:t>In a modern landscape where data is a primary driver of innovation and value, these principles act as the moral compass for how our digital identities are handled.</a:t>
            </a:r>
          </a:p>
          <a:p>
            <a:pPr>
              <a:spcAft>
                <a:spcPts val="600"/>
              </a:spcAft>
              <a:buSzPct val="100000"/>
            </a:pPr>
            <a:r>
              <a:rPr lang="en-US" b="1" dirty="0"/>
              <a:t>Key Pillars of Data Ethics</a:t>
            </a:r>
          </a:p>
          <a:p>
            <a:pPr marL="541338" indent="-273050">
              <a:lnSpc>
                <a:spcPct val="120000"/>
              </a:lnSpc>
              <a:spcAft>
                <a:spcPts val="600"/>
              </a:spcAft>
              <a:buSzPct val="100000"/>
              <a:buFont typeface="Arial" panose="020B0604020202020204" pitchFamily="34" charset="0"/>
              <a:buChar char="•"/>
            </a:pPr>
            <a:r>
              <a:rPr lang="en-US" b="1" dirty="0"/>
              <a:t>Moral Responsibility:</a:t>
            </a:r>
            <a:r>
              <a:rPr lang="en-US" dirty="0"/>
              <a:t> Focuses on the duty of entities to treat personal information with respect and transparency, rather than just as a commodity.</a:t>
            </a:r>
          </a:p>
          <a:p>
            <a:pPr marL="541338" indent="-273050">
              <a:lnSpc>
                <a:spcPct val="120000"/>
              </a:lnSpc>
              <a:spcAft>
                <a:spcPts val="600"/>
              </a:spcAft>
              <a:buSzPct val="100000"/>
              <a:buFont typeface="Arial" panose="020B0604020202020204" pitchFamily="34" charset="0"/>
              <a:buChar char="•"/>
            </a:pPr>
            <a:r>
              <a:rPr lang="en-US" b="1" dirty="0"/>
              <a:t>Collection &amp; Dissemination:</a:t>
            </a:r>
            <a:r>
              <a:rPr lang="en-US" dirty="0"/>
              <a:t> Examines the ethics of how data is originally sourced and who it is shared with, ensuring that the "human" behind the data is not lost in the numbers.</a:t>
            </a:r>
          </a:p>
          <a:p>
            <a:pPr marL="541338" indent="-273050">
              <a:lnSpc>
                <a:spcPct val="120000"/>
              </a:lnSpc>
              <a:spcAft>
                <a:spcPts val="600"/>
              </a:spcAft>
              <a:buSzPct val="100000"/>
              <a:buFont typeface="Arial" panose="020B0604020202020204" pitchFamily="34" charset="0"/>
              <a:buChar char="•"/>
            </a:pPr>
            <a:r>
              <a:rPr lang="en-US" b="1" dirty="0"/>
              <a:t>Protection of Rights:</a:t>
            </a:r>
            <a:r>
              <a:rPr lang="en-US" dirty="0"/>
              <a:t> Prioritizes an individual's right to privacy and the prevention of data misuse that could lead to discrimination or harm.</a:t>
            </a:r>
          </a:p>
          <a:p>
            <a:pPr marL="541338" indent="-273050">
              <a:lnSpc>
                <a:spcPct val="120000"/>
              </a:lnSpc>
              <a:spcAft>
                <a:spcPts val="600"/>
              </a:spcAft>
              <a:buSzPct val="100000"/>
              <a:buFont typeface="Arial" panose="020B0604020202020204" pitchFamily="34" charset="0"/>
              <a:buChar char="•"/>
            </a:pPr>
            <a:r>
              <a:rPr lang="en-US" b="1" dirty="0"/>
              <a:t>Growing Urgency:</a:t>
            </a:r>
            <a:r>
              <a:rPr lang="en-US" dirty="0"/>
              <a:t> As data becomes more ubiquitous, ethical frameworks are now more critical than ever to prevent the erosion of public trust in digital systems.</a:t>
            </a:r>
          </a:p>
        </p:txBody>
      </p:sp>
    </p:spTree>
    <p:extLst>
      <p:ext uri="{BB962C8B-B14F-4D97-AF65-F5344CB8AC3E}">
        <p14:creationId xmlns:p14="http://schemas.microsoft.com/office/powerpoint/2010/main" val="37953336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BF68F-02FF-4771-8FEB-121531410078}"/>
              </a:ext>
            </a:extLst>
          </p:cNvPr>
          <p:cNvSpPr>
            <a:spLocks noGrp="1"/>
          </p:cNvSpPr>
          <p:nvPr>
            <p:ph type="title"/>
          </p:nvPr>
        </p:nvSpPr>
        <p:spPr>
          <a:xfrm>
            <a:off x="457200" y="123478"/>
            <a:ext cx="7467600" cy="857250"/>
          </a:xfrm>
        </p:spPr>
        <p:txBody>
          <a:bodyPr>
            <a:normAutofit/>
          </a:bodyPr>
          <a:lstStyle/>
          <a:p>
            <a:r>
              <a:rPr lang="en-US" sz="2600" b="1" dirty="0">
                <a:solidFill>
                  <a:schemeClr val="accent1">
                    <a:lumMod val="75000"/>
                  </a:schemeClr>
                </a:solidFill>
              </a:rPr>
              <a:t>Importance of Data Ethics</a:t>
            </a:r>
            <a:endParaRPr lang="en-IN" sz="2600" b="1" dirty="0">
              <a:solidFill>
                <a:schemeClr val="accent1">
                  <a:lumMod val="75000"/>
                </a:schemeClr>
              </a:solidFill>
            </a:endParaRPr>
          </a:p>
        </p:txBody>
      </p:sp>
      <p:sp>
        <p:nvSpPr>
          <p:cNvPr id="3" name="Content Placeholder 2">
            <a:extLst>
              <a:ext uri="{FF2B5EF4-FFF2-40B4-BE49-F238E27FC236}">
                <a16:creationId xmlns:a16="http://schemas.microsoft.com/office/drawing/2014/main" id="{52175FD8-6FF5-41DB-AACC-FB084F738C1D}"/>
              </a:ext>
            </a:extLst>
          </p:cNvPr>
          <p:cNvSpPr>
            <a:spLocks noGrp="1"/>
          </p:cNvSpPr>
          <p:nvPr>
            <p:ph sz="quarter" idx="1"/>
          </p:nvPr>
        </p:nvSpPr>
        <p:spPr>
          <a:xfrm>
            <a:off x="457200" y="1117649"/>
            <a:ext cx="7467600" cy="3655314"/>
          </a:xfrm>
        </p:spPr>
        <p:txBody>
          <a:bodyPr>
            <a:normAutofit/>
          </a:bodyPr>
          <a:lstStyle/>
          <a:p>
            <a:pPr>
              <a:spcBef>
                <a:spcPts val="1200"/>
              </a:spcBef>
              <a:spcAft>
                <a:spcPts val="1200"/>
              </a:spcAft>
              <a:buSzPct val="100000"/>
            </a:pPr>
            <a:r>
              <a:rPr lang="en-US" sz="1400" b="1" dirty="0"/>
              <a:t>Navigating the Data-Driven Society:</a:t>
            </a:r>
            <a:r>
              <a:rPr lang="en-US" sz="1400" dirty="0"/>
              <a:t> Data ethics empowers individuals to move from passive subjects to informed participants. By understanding how information is collected, people can make deliberate choices about which services to trust and how to protect their digital identities, creating a more balanced power dynamic.</a:t>
            </a:r>
          </a:p>
          <a:p>
            <a:pPr>
              <a:spcBef>
                <a:spcPts val="1200"/>
              </a:spcBef>
              <a:spcAft>
                <a:spcPts val="1200"/>
              </a:spcAft>
              <a:buSzPct val="100000"/>
            </a:pPr>
            <a:r>
              <a:rPr lang="en-US" sz="1400" b="1" dirty="0"/>
              <a:t>Building a Sustainable Future:</a:t>
            </a:r>
            <a:r>
              <a:rPr lang="en-US" sz="1400" dirty="0"/>
              <a:t> Ethical frameworks encourage long-term thinking over immediate profit. By prioritizing these standards now, we ensure that future generations inherit a digital ecosystem rooted in </a:t>
            </a:r>
            <a:r>
              <a:rPr lang="en-US" sz="1400" b="1" dirty="0"/>
              <a:t>trust and accountability</a:t>
            </a:r>
            <a:r>
              <a:rPr lang="en-US" sz="1400" dirty="0"/>
              <a:t> rather than one defined by intrusive or discriminatory practices.</a:t>
            </a:r>
          </a:p>
          <a:p>
            <a:pPr>
              <a:spcBef>
                <a:spcPts val="1200"/>
              </a:spcBef>
              <a:spcAft>
                <a:spcPts val="1200"/>
              </a:spcAft>
              <a:buSzPct val="100000"/>
            </a:pPr>
            <a:r>
              <a:rPr lang="en-US" sz="1400" b="1" dirty="0"/>
              <a:t>Protecting and Sustaining Innovation:</a:t>
            </a:r>
            <a:r>
              <a:rPr lang="en-US" sz="1400" dirty="0"/>
              <a:t> Ethics act as a safeguard for progress rather than a barrier. By embedding ethical checks into development, organizations prevent systemic harms like algorithmic bias or security failures, ensuring data remains a tool for social good rather than a liability that erodes public confidence.</a:t>
            </a:r>
          </a:p>
          <a:p>
            <a:pPr>
              <a:spcBef>
                <a:spcPts val="1200"/>
              </a:spcBef>
              <a:spcAft>
                <a:spcPts val="1200"/>
              </a:spcAft>
            </a:pPr>
            <a:endParaRPr lang="en-IN" sz="1400" dirty="0"/>
          </a:p>
        </p:txBody>
      </p:sp>
    </p:spTree>
    <p:extLst>
      <p:ext uri="{BB962C8B-B14F-4D97-AF65-F5344CB8AC3E}">
        <p14:creationId xmlns:p14="http://schemas.microsoft.com/office/powerpoint/2010/main" val="311543104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0439D-0FFE-41E8-A5A6-91D864A1558A}"/>
              </a:ext>
            </a:extLst>
          </p:cNvPr>
          <p:cNvSpPr>
            <a:spLocks noGrp="1"/>
          </p:cNvSpPr>
          <p:nvPr>
            <p:ph type="title"/>
          </p:nvPr>
        </p:nvSpPr>
        <p:spPr>
          <a:xfrm>
            <a:off x="457200" y="422003"/>
            <a:ext cx="7467600" cy="565571"/>
          </a:xfrm>
        </p:spPr>
        <p:txBody>
          <a:bodyPr>
            <a:normAutofit/>
          </a:bodyPr>
          <a:lstStyle/>
          <a:p>
            <a:r>
              <a:rPr lang="en-US" sz="2600" b="1" dirty="0">
                <a:solidFill>
                  <a:schemeClr val="accent1">
                    <a:lumMod val="75000"/>
                  </a:schemeClr>
                </a:solidFill>
              </a:rPr>
              <a:t>Fundamental Principles of Big Data Ethics</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0C90574A-2894-4689-885E-BC326D30B469}"/>
              </a:ext>
            </a:extLst>
          </p:cNvPr>
          <p:cNvSpPr>
            <a:spLocks noGrp="1"/>
          </p:cNvSpPr>
          <p:nvPr>
            <p:ph sz="quarter" idx="1"/>
          </p:nvPr>
        </p:nvSpPr>
        <p:spPr>
          <a:xfrm>
            <a:off x="457200" y="1131590"/>
            <a:ext cx="7467600" cy="3655314"/>
          </a:xfrm>
        </p:spPr>
        <p:txBody>
          <a:bodyPr>
            <a:normAutofit lnSpcReduction="10000"/>
          </a:bodyPr>
          <a:lstStyle/>
          <a:p>
            <a:pPr marL="0" indent="0">
              <a:spcBef>
                <a:spcPts val="0"/>
              </a:spcBef>
              <a:spcAft>
                <a:spcPts val="600"/>
              </a:spcAft>
              <a:buNone/>
            </a:pPr>
            <a:r>
              <a:rPr lang="en-US" sz="1400" dirty="0"/>
              <a:t>Responsible data usage is built on a foundation of moral obligations that protect both the individual and the organization. These four principles serve as the guiding framework:</a:t>
            </a:r>
          </a:p>
          <a:p>
            <a:pPr>
              <a:spcBef>
                <a:spcPts val="0"/>
              </a:spcBef>
              <a:spcAft>
                <a:spcPts val="600"/>
              </a:spcAft>
              <a:buSzPct val="100000"/>
            </a:pPr>
            <a:r>
              <a:rPr lang="en-US" sz="1400" b="1" dirty="0"/>
              <a:t>Transparency:</a:t>
            </a:r>
            <a:r>
              <a:rPr lang="en-US" sz="1400" dirty="0"/>
              <a:t> Organizations have a duty to communicate clearly about how data is collected, stored, and shared. Users should be able to understand these practices through plain language, avoiding overly complex legal jargon that obscures the true intent of data usage.</a:t>
            </a:r>
          </a:p>
          <a:p>
            <a:pPr>
              <a:spcBef>
                <a:spcPts val="0"/>
              </a:spcBef>
              <a:spcAft>
                <a:spcPts val="600"/>
              </a:spcAft>
              <a:buSzPct val="100000"/>
            </a:pPr>
            <a:r>
              <a:rPr lang="en-US" sz="1400" b="1" dirty="0"/>
              <a:t>Accountability:</a:t>
            </a:r>
            <a:r>
              <a:rPr lang="en-US" sz="1400" dirty="0"/>
              <a:t> The burden of responsibility lies with the entity collecting the data. This includes proactive protection against breaches and ensuring information is never used for unethical purposes. Accountability is the primary driver of long-term trust between a brand and its community.</a:t>
            </a:r>
          </a:p>
          <a:p>
            <a:pPr>
              <a:spcBef>
                <a:spcPts val="0"/>
              </a:spcBef>
              <a:spcAft>
                <a:spcPts val="600"/>
              </a:spcAft>
              <a:buSzPct val="100000"/>
            </a:pPr>
            <a:r>
              <a:rPr lang="en-US" sz="1400" b="1" dirty="0"/>
              <a:t>Individual Agency:</a:t>
            </a:r>
            <a:r>
              <a:rPr lang="en-US" sz="1400" dirty="0"/>
              <a:t> This principle asserts that individuals should remain the masters of their own digital identity. It includes the right to access, correct, or permanently delete personal information. In a data-driven world, maintaining this control is considered a fundamental human right.</a:t>
            </a:r>
          </a:p>
          <a:p>
            <a:pPr>
              <a:spcBef>
                <a:spcPts val="0"/>
              </a:spcBef>
              <a:spcAft>
                <a:spcPts val="600"/>
              </a:spcAft>
              <a:buSzPct val="100000"/>
            </a:pPr>
            <a:r>
              <a:rPr lang="en-US" sz="1400" b="1" dirty="0"/>
              <a:t>Data Privacy:</a:t>
            </a:r>
            <a:r>
              <a:rPr lang="en-US" sz="1400" dirty="0"/>
              <a:t> Privacy is the inherent expectation that personal information will remain protected from unauthorized exposure. Organizations uphold this by implementing robust technical security measures and strictly honoring the confidentiality agreements made with their users.</a:t>
            </a:r>
          </a:p>
          <a:p>
            <a:pPr>
              <a:spcBef>
                <a:spcPts val="0"/>
              </a:spcBef>
              <a:spcAft>
                <a:spcPts val="600"/>
              </a:spcAft>
            </a:pPr>
            <a:endParaRPr lang="en-IN" sz="1400" dirty="0"/>
          </a:p>
        </p:txBody>
      </p:sp>
    </p:spTree>
    <p:extLst>
      <p:ext uri="{BB962C8B-B14F-4D97-AF65-F5344CB8AC3E}">
        <p14:creationId xmlns:p14="http://schemas.microsoft.com/office/powerpoint/2010/main" val="278021891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0D344-DDD0-4A61-A861-3599CE2D320B}"/>
              </a:ext>
            </a:extLst>
          </p:cNvPr>
          <p:cNvSpPr>
            <a:spLocks noGrp="1"/>
          </p:cNvSpPr>
          <p:nvPr>
            <p:ph type="title"/>
          </p:nvPr>
        </p:nvSpPr>
        <p:spPr>
          <a:xfrm>
            <a:off x="457200" y="339502"/>
            <a:ext cx="7467600" cy="637579"/>
          </a:xfrm>
        </p:spPr>
        <p:txBody>
          <a:bodyPr>
            <a:normAutofit/>
          </a:bodyPr>
          <a:lstStyle/>
          <a:p>
            <a:r>
              <a:rPr lang="en-US" sz="2600" b="1" dirty="0">
                <a:solidFill>
                  <a:schemeClr val="accent1">
                    <a:lumMod val="75000"/>
                  </a:schemeClr>
                </a:solidFill>
              </a:rPr>
              <a:t>Applying Data Ethics</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58EF8D90-67B7-4069-BAEE-D38663A1368C}"/>
              </a:ext>
            </a:extLst>
          </p:cNvPr>
          <p:cNvSpPr>
            <a:spLocks noGrp="1"/>
          </p:cNvSpPr>
          <p:nvPr>
            <p:ph sz="quarter" idx="1"/>
          </p:nvPr>
        </p:nvSpPr>
        <p:spPr>
          <a:xfrm>
            <a:off x="457200" y="1117649"/>
            <a:ext cx="7467600" cy="3655314"/>
          </a:xfrm>
        </p:spPr>
        <p:txBody>
          <a:bodyPr>
            <a:normAutofit/>
          </a:bodyPr>
          <a:lstStyle/>
          <a:p>
            <a:pPr marL="0" indent="0">
              <a:spcAft>
                <a:spcPts val="600"/>
              </a:spcAft>
              <a:buNone/>
            </a:pPr>
            <a:r>
              <a:rPr lang="en-US" sz="1400" dirty="0"/>
              <a:t>Integrating data ethics requires moving beyond philosophy into operational decision-making. Here is how various roles and organizations can embed these values into their daily work:</a:t>
            </a:r>
          </a:p>
          <a:p>
            <a:pPr>
              <a:spcAft>
                <a:spcPts val="600"/>
              </a:spcAft>
              <a:buSzPct val="100000"/>
            </a:pPr>
            <a:r>
              <a:rPr lang="en-US" sz="1400" b="1" dirty="0"/>
              <a:t>Guidance for Individual Practitioners:</a:t>
            </a:r>
          </a:p>
          <a:p>
            <a:pPr marL="541338" indent="-273050">
              <a:spcAft>
                <a:spcPts val="600"/>
              </a:spcAft>
              <a:buSzPct val="100000"/>
              <a:buFont typeface="Arial" panose="020B0604020202020204" pitchFamily="34" charset="0"/>
              <a:buChar char="•"/>
            </a:pPr>
            <a:r>
              <a:rPr lang="en-US" sz="1400" b="1" dirty="0"/>
              <a:t>Software, Machine Learning, or AI Engineers:</a:t>
            </a:r>
            <a:r>
              <a:rPr lang="en-US" sz="1400" dirty="0"/>
              <a:t> Engineers should actively collaborate with ethicists to identify hidden biases. Rigorous documentation and early-stage data reviews are essential to catch ethical flaws before they are hard-coded into the system.</a:t>
            </a:r>
          </a:p>
          <a:p>
            <a:pPr marL="541338" indent="-273050">
              <a:spcAft>
                <a:spcPts val="600"/>
              </a:spcAft>
              <a:buSzPct val="100000"/>
              <a:buFont typeface="Arial" panose="020B0604020202020204" pitchFamily="34" charset="0"/>
              <a:buChar char="•"/>
            </a:pPr>
            <a:r>
              <a:rPr lang="en-US" sz="1400" b="1" dirty="0"/>
              <a:t>Technical Project Managers:</a:t>
            </a:r>
            <a:r>
              <a:rPr lang="en-US" sz="1400" dirty="0"/>
              <a:t> Ethics must be a line item in project planning. This involves aligning the team on ethical priorities, coordinating with specialized stakeholders, and ensuring that safeguards are built into the project scope and timeline.</a:t>
            </a:r>
          </a:p>
          <a:p>
            <a:pPr marL="541338" indent="-273050">
              <a:spcAft>
                <a:spcPts val="600"/>
              </a:spcAft>
              <a:buSzPct val="100000"/>
              <a:buFont typeface="Arial" panose="020B0604020202020204" pitchFamily="34" charset="0"/>
              <a:buChar char="•"/>
            </a:pPr>
            <a:r>
              <a:rPr lang="en-US" sz="1400" b="1" dirty="0"/>
              <a:t>Product Managers:</a:t>
            </a:r>
            <a:r>
              <a:rPr lang="en-US" sz="1400" dirty="0"/>
              <a:t> Product leaders must champion inclusivity by testing features for diverse user groups. They act as the final gatekeeper, ensuring that products solve problems without creating unintended ethical friction for the user.</a:t>
            </a:r>
          </a:p>
          <a:p>
            <a:endParaRPr lang="en-IN" dirty="0"/>
          </a:p>
        </p:txBody>
      </p:sp>
    </p:spTree>
    <p:extLst>
      <p:ext uri="{BB962C8B-B14F-4D97-AF65-F5344CB8AC3E}">
        <p14:creationId xmlns:p14="http://schemas.microsoft.com/office/powerpoint/2010/main" val="366245850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8D409F-2F12-4773-9195-EA01D731A014}"/>
              </a:ext>
            </a:extLst>
          </p:cNvPr>
          <p:cNvSpPr>
            <a:spLocks noGrp="1"/>
          </p:cNvSpPr>
          <p:nvPr>
            <p:ph sz="quarter" idx="1"/>
          </p:nvPr>
        </p:nvSpPr>
        <p:spPr>
          <a:xfrm>
            <a:off x="457200" y="936108"/>
            <a:ext cx="7467600" cy="4011906"/>
          </a:xfrm>
        </p:spPr>
        <p:txBody>
          <a:bodyPr>
            <a:normAutofit/>
          </a:bodyPr>
          <a:lstStyle/>
          <a:p>
            <a:pPr>
              <a:spcBef>
                <a:spcPts val="1200"/>
              </a:spcBef>
              <a:spcAft>
                <a:spcPts val="1200"/>
              </a:spcAft>
              <a:buSzPct val="100000"/>
            </a:pPr>
            <a:r>
              <a:rPr lang="en-US" sz="1400" b="1" dirty="0"/>
              <a:t>Guidance for Organizational Leaders</a:t>
            </a:r>
          </a:p>
          <a:p>
            <a:pPr marL="541338" indent="-273050">
              <a:spcBef>
                <a:spcPts val="1200"/>
              </a:spcBef>
              <a:spcAft>
                <a:spcPts val="1200"/>
              </a:spcAft>
              <a:buSzPct val="100000"/>
              <a:buFont typeface="Arial" panose="020B0604020202020204" pitchFamily="34" charset="0"/>
              <a:buChar char="•"/>
            </a:pPr>
            <a:r>
              <a:rPr lang="en-US" sz="1400" b="1" dirty="0"/>
              <a:t>Startups</a:t>
            </a:r>
            <a:r>
              <a:rPr lang="en-US" sz="1400" dirty="0"/>
              <a:t> Building an ethical foundation from day one is critical. While resources are often lean, establishing core values early prevents the "technical and ethical debt" that can derail a company as it begins to scale.</a:t>
            </a:r>
          </a:p>
          <a:p>
            <a:pPr marL="541338" indent="-273050">
              <a:spcBef>
                <a:spcPts val="1200"/>
              </a:spcBef>
              <a:spcAft>
                <a:spcPts val="1200"/>
              </a:spcAft>
              <a:buSzPct val="100000"/>
              <a:buFont typeface="Arial" panose="020B0604020202020204" pitchFamily="34" charset="0"/>
              <a:buChar char="•"/>
            </a:pPr>
            <a:r>
              <a:rPr lang="en-US" sz="1400" b="1" dirty="0"/>
              <a:t>Small/Medium-Sized Businesses (SMBs)</a:t>
            </a:r>
            <a:r>
              <a:rPr lang="en-US" sz="1400" dirty="0"/>
              <a:t> As these businesses grow, maintaining radical transparency is key. SMBs must ensure that customer consent is not just a checkbox, but a respected and ongoing dialogue throughout the customer journey.</a:t>
            </a:r>
          </a:p>
          <a:p>
            <a:pPr marL="541338" indent="-273050">
              <a:spcBef>
                <a:spcPts val="1200"/>
              </a:spcBef>
              <a:spcAft>
                <a:spcPts val="1200"/>
              </a:spcAft>
              <a:buSzPct val="100000"/>
              <a:buFont typeface="Arial" panose="020B0604020202020204" pitchFamily="34" charset="0"/>
              <a:buChar char="•"/>
            </a:pPr>
            <a:r>
              <a:rPr lang="en-US" sz="1400" b="1" dirty="0"/>
              <a:t>Global Corporations</a:t>
            </a:r>
            <a:r>
              <a:rPr lang="en-US" sz="1400" dirty="0"/>
              <a:t> Large-scale entities must lead by example through comprehensive programs. This includes cross-departmental "Ethics Boards," mandatory employee training, and regular third-party audits to ensure global compliance and public trust.</a:t>
            </a:r>
          </a:p>
          <a:p>
            <a:pPr>
              <a:spcBef>
                <a:spcPts val="1200"/>
              </a:spcBef>
              <a:spcAft>
                <a:spcPts val="1200"/>
              </a:spcAft>
              <a:buSzPct val="100000"/>
            </a:pPr>
            <a:endParaRPr lang="en-IN" sz="1400" dirty="0"/>
          </a:p>
        </p:txBody>
      </p:sp>
    </p:spTree>
    <p:extLst>
      <p:ext uri="{BB962C8B-B14F-4D97-AF65-F5344CB8AC3E}">
        <p14:creationId xmlns:p14="http://schemas.microsoft.com/office/powerpoint/2010/main" val="45457473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EF7F4-B763-457E-BC4C-1E6F010AF070}"/>
              </a:ext>
            </a:extLst>
          </p:cNvPr>
          <p:cNvSpPr>
            <a:spLocks noGrp="1"/>
          </p:cNvSpPr>
          <p:nvPr>
            <p:ph type="title"/>
          </p:nvPr>
        </p:nvSpPr>
        <p:spPr>
          <a:xfrm>
            <a:off x="457200" y="133971"/>
            <a:ext cx="7467600" cy="565571"/>
          </a:xfrm>
        </p:spPr>
        <p:txBody>
          <a:bodyPr>
            <a:normAutofit/>
          </a:bodyPr>
          <a:lstStyle/>
          <a:p>
            <a:r>
              <a:rPr lang="en-US" sz="2600" b="1" dirty="0">
                <a:solidFill>
                  <a:schemeClr val="accent1">
                    <a:lumMod val="75000"/>
                  </a:schemeClr>
                </a:solidFill>
              </a:rPr>
              <a:t>Today’s Challenges in Data Ethics</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D6C702FB-D46E-4D07-B4C4-90295D9AC14E}"/>
              </a:ext>
            </a:extLst>
          </p:cNvPr>
          <p:cNvSpPr>
            <a:spLocks noGrp="1"/>
          </p:cNvSpPr>
          <p:nvPr>
            <p:ph sz="quarter" idx="1"/>
          </p:nvPr>
        </p:nvSpPr>
        <p:spPr>
          <a:xfrm>
            <a:off x="457200" y="771550"/>
            <a:ext cx="7715200" cy="3655314"/>
          </a:xfrm>
        </p:spPr>
        <p:txBody>
          <a:bodyPr>
            <a:noAutofit/>
          </a:bodyPr>
          <a:lstStyle/>
          <a:p>
            <a:pPr marL="0" indent="0">
              <a:spcBef>
                <a:spcPts val="0"/>
              </a:spcBef>
              <a:spcAft>
                <a:spcPts val="600"/>
              </a:spcAft>
              <a:buSzPct val="100000"/>
              <a:buNone/>
            </a:pPr>
            <a:r>
              <a:rPr lang="en-US" sz="1400" dirty="0">
                <a:cs typeface="Times New Roman" panose="02020603050405020304" pitchFamily="18" charset="0"/>
              </a:rPr>
              <a:t>Ethical safeguards are critical as algorithms and data collection practices scale. Below are the core challenges facing the digital landscape today, categorized by their underlying ethical risks:</a:t>
            </a:r>
          </a:p>
          <a:p>
            <a:pPr>
              <a:spcBef>
                <a:spcPts val="0"/>
              </a:spcBef>
              <a:spcAft>
                <a:spcPts val="600"/>
              </a:spcAft>
              <a:buSzPct val="100000"/>
              <a:buFont typeface="Wingdings" panose="05000000000000000000" pitchFamily="2" charset="2"/>
              <a:buChar char=""/>
            </a:pPr>
            <a:r>
              <a:rPr lang="en-US" sz="1400" b="1" dirty="0">
                <a:cs typeface="Times New Roman" panose="02020603050405020304" pitchFamily="18" charset="0"/>
              </a:rPr>
              <a:t>Ethical Risks in Algorithms:</a:t>
            </a:r>
          </a:p>
          <a:p>
            <a:pPr marL="450850" lvl="0" indent="-179388" eaLnBrk="0" fontAlgn="base" hangingPunct="0">
              <a:spcBef>
                <a:spcPts val="0"/>
              </a:spcBef>
              <a:spcAft>
                <a:spcPts val="600"/>
              </a:spcAft>
              <a:buSzPct val="100000"/>
              <a:buFont typeface="Arial" panose="020B0604020202020204" pitchFamily="34" charset="0"/>
              <a:buChar char="•"/>
            </a:pPr>
            <a:r>
              <a:rPr lang="en-US" altLang="en-US" sz="1400" b="1" dirty="0">
                <a:cs typeface="Times New Roman" panose="02020603050405020304" pitchFamily="18" charset="0"/>
              </a:rPr>
              <a:t>Historical Bias Amplification:</a:t>
            </a:r>
            <a:r>
              <a:rPr lang="en-US" altLang="en-US" sz="1400" dirty="0">
                <a:cs typeface="Times New Roman" panose="02020603050405020304" pitchFamily="18" charset="0"/>
              </a:rPr>
              <a:t> Algorithms are trained on historical datasets that often reflect past societal prejudices. When these tools are used to automate decisions in recruitment or lending, they don't just replicate those biases—they institutionalize them. By treating skewed past data as a neutral roadmap, the software creates systemic barriers that can permanently impact an individual's livelihood and access to opportunity.</a:t>
            </a:r>
          </a:p>
          <a:p>
            <a:pPr marL="450850" lvl="0" indent="-179388" eaLnBrk="0" fontAlgn="base" hangingPunct="0">
              <a:spcBef>
                <a:spcPts val="0"/>
              </a:spcBef>
              <a:spcAft>
                <a:spcPts val="600"/>
              </a:spcAft>
              <a:buSzPct val="100000"/>
              <a:buFont typeface="Arial" panose="020B0604020202020204" pitchFamily="34" charset="0"/>
              <a:buChar char="•"/>
            </a:pPr>
            <a:r>
              <a:rPr lang="en-US" altLang="en-US" sz="1400" b="1" dirty="0">
                <a:cs typeface="Times New Roman" panose="02020603050405020304" pitchFamily="18" charset="0"/>
              </a:rPr>
              <a:t>Demographic Inaccuracy:</a:t>
            </a:r>
            <a:r>
              <a:rPr lang="en-US" altLang="en-US" sz="1400" dirty="0">
                <a:cs typeface="Times New Roman" panose="02020603050405020304" pitchFamily="18" charset="0"/>
              </a:rPr>
              <a:t> Technical flaws often arise when recognition software is built using non-representative datasets. This results in significantly higher error rates for specific skin tones or genders, leading to discriminatory outcomes in high-stakes areas like law enforcement, airport surveillance, and housing. These technical disparities turn software glitches into real-world tools of exclusion.</a:t>
            </a:r>
          </a:p>
          <a:p>
            <a:pPr marL="450850" lvl="0" indent="-179388" eaLnBrk="0" fontAlgn="base" hangingPunct="0">
              <a:spcBef>
                <a:spcPts val="0"/>
              </a:spcBef>
              <a:spcAft>
                <a:spcPts val="600"/>
              </a:spcAft>
              <a:buSzPct val="100000"/>
              <a:buFont typeface="Arial" panose="020B0604020202020204" pitchFamily="34" charset="0"/>
              <a:buChar char="•"/>
            </a:pPr>
            <a:r>
              <a:rPr lang="en-US" altLang="en-US" sz="1400" b="1" dirty="0">
                <a:cs typeface="Times New Roman" panose="02020603050405020304" pitchFamily="18" charset="0"/>
              </a:rPr>
              <a:t>Lack of Ethical "Guardrails“:</a:t>
            </a:r>
            <a:r>
              <a:rPr lang="en-US" altLang="en-US" sz="1400" dirty="0">
                <a:cs typeface="Times New Roman" panose="02020603050405020304" pitchFamily="18" charset="0"/>
              </a:rPr>
              <a:t> The speed and scale of automated tools often outpace human oversight. Without "guardrails"—intentional design constraints that prioritize fairness—algorithms can amplify harmful actions at a pace that is impossible to manage manually. This lack of proactive auditing allows a single flawed logic to cause widespread damage before the issue is even identified.</a:t>
            </a:r>
            <a:endParaRPr lang="en-US" sz="1400" b="1" dirty="0">
              <a:cs typeface="Times New Roman" panose="02020603050405020304" pitchFamily="18" charset="0"/>
            </a:endParaRPr>
          </a:p>
        </p:txBody>
      </p:sp>
    </p:spTree>
    <p:extLst>
      <p:ext uri="{BB962C8B-B14F-4D97-AF65-F5344CB8AC3E}">
        <p14:creationId xmlns:p14="http://schemas.microsoft.com/office/powerpoint/2010/main" val="104326069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E45593-68BC-4381-9BBF-C4A4FE71AC71}"/>
              </a:ext>
            </a:extLst>
          </p:cNvPr>
          <p:cNvSpPr>
            <a:spLocks noGrp="1"/>
          </p:cNvSpPr>
          <p:nvPr>
            <p:ph sz="quarter" idx="1"/>
          </p:nvPr>
        </p:nvSpPr>
        <p:spPr>
          <a:xfrm>
            <a:off x="457200" y="483518"/>
            <a:ext cx="7467600" cy="4371946"/>
          </a:xfrm>
        </p:spPr>
        <p:txBody>
          <a:bodyPr>
            <a:normAutofit fontScale="92500"/>
          </a:bodyPr>
          <a:lstStyle/>
          <a:p>
            <a:pPr>
              <a:buSzPct val="100000"/>
            </a:pPr>
            <a:r>
              <a:rPr lang="en-US" sz="1400" b="1" dirty="0"/>
              <a:t>Data Privacy Concerns:</a:t>
            </a:r>
          </a:p>
          <a:p>
            <a:pPr marL="450850" indent="-179388">
              <a:buSzPct val="100000"/>
              <a:buFont typeface="Arial" panose="020B0604020202020204" pitchFamily="34" charset="0"/>
              <a:buChar char="•"/>
            </a:pPr>
            <a:r>
              <a:rPr lang="en-US" sz="1400" b="1" dirty="0"/>
              <a:t>Ambiguous Legal Language:</a:t>
            </a:r>
            <a:r>
              <a:rPr lang="en-US" sz="1400" dirty="0"/>
              <a:t> Murky terms and conditions often obscure whether personal information can be shared with third parties or legal authorities, making it difficult for users to understand their level of exposure.</a:t>
            </a:r>
          </a:p>
          <a:p>
            <a:pPr marL="450850" indent="-179388">
              <a:buSzPct val="100000"/>
              <a:buFont typeface="Arial" panose="020B0604020202020204" pitchFamily="34" charset="0"/>
              <a:buChar char="•"/>
            </a:pPr>
            <a:r>
              <a:rPr lang="en-US" sz="1400" b="1" dirty="0"/>
              <a:t>Misuse of Internal Access:</a:t>
            </a:r>
            <a:r>
              <a:rPr lang="en-US" sz="1400" dirty="0"/>
              <a:t> Without strict internal controls, employees may exploit privileged access ("God-Mode") to track individuals for personal or political reasons, representing a total disregard for user privacy.</a:t>
            </a:r>
          </a:p>
          <a:p>
            <a:pPr marL="450850" indent="-179388">
              <a:buSzPct val="100000"/>
              <a:buFont typeface="Arial" panose="020B0604020202020204" pitchFamily="34" charset="0"/>
              <a:buChar char="•"/>
            </a:pPr>
            <a:r>
              <a:rPr lang="en-US" sz="1400" b="1" dirty="0"/>
              <a:t>The Privacy-Convenience Trade-off:</a:t>
            </a:r>
            <a:r>
              <a:rPr lang="en-US" sz="1400" dirty="0"/>
              <a:t> As digital services become essential for daily life, individuals are often forced to expose sensitive behavioral data to access basic financial or communication tools.</a:t>
            </a:r>
            <a:endParaRPr lang="en-US" sz="1400" b="1" dirty="0"/>
          </a:p>
          <a:p>
            <a:pPr>
              <a:buSzPct val="100000"/>
            </a:pPr>
            <a:r>
              <a:rPr lang="en-US" sz="1400" b="1" dirty="0"/>
              <a:t>Data Security Vulnerabilities:</a:t>
            </a:r>
          </a:p>
          <a:p>
            <a:pPr marL="450850" indent="-179388">
              <a:buSzPct val="100000"/>
              <a:buFont typeface="Arial" panose="020B0604020202020204" pitchFamily="34" charset="0"/>
              <a:buChar char="•"/>
            </a:pPr>
            <a:r>
              <a:rPr lang="en-US" sz="1400" b="1" dirty="0"/>
              <a:t>Reckless Information Handling:</a:t>
            </a:r>
            <a:r>
              <a:rPr lang="en-US" sz="1400" dirty="0"/>
              <a:t> Organizations that prioritize growth over security often neglect necessary protocols, leaving vast amounts of user behavior and location data vulnerable to exploitation.</a:t>
            </a:r>
          </a:p>
          <a:p>
            <a:pPr marL="450850" indent="-179388">
              <a:buSzPct val="100000"/>
              <a:buFont typeface="Arial" panose="020B0604020202020204" pitchFamily="34" charset="0"/>
              <a:buChar char="•"/>
            </a:pPr>
            <a:r>
              <a:rPr lang="en-US" sz="1400" b="1" dirty="0"/>
              <a:t>Incident Concealment:</a:t>
            </a:r>
            <a:r>
              <a:rPr lang="en-US" sz="1400" dirty="0"/>
              <a:t> Ethical failure occurs when companies attempt to cover up data breaches by paying off hackers rather than reporting the incident to regulators and affected users.</a:t>
            </a:r>
          </a:p>
          <a:p>
            <a:pPr marL="450850" indent="-179388">
              <a:buSzPct val="100000"/>
              <a:buFont typeface="Arial" panose="020B0604020202020204" pitchFamily="34" charset="0"/>
              <a:buChar char="•"/>
            </a:pPr>
            <a:r>
              <a:rPr lang="en-US" sz="1400" b="1" dirty="0"/>
              <a:t>Pervasiveness of Exposure:</a:t>
            </a:r>
            <a:r>
              <a:rPr lang="en-US" sz="1400" dirty="0"/>
              <a:t> Modern apps can track real-time locations, private messages, and spending habits, meaning even minimal participation in digital services leaves a significant "attack surface" for security flaws.</a:t>
            </a:r>
          </a:p>
        </p:txBody>
      </p:sp>
    </p:spTree>
    <p:extLst>
      <p:ext uri="{BB962C8B-B14F-4D97-AF65-F5344CB8AC3E}">
        <p14:creationId xmlns:p14="http://schemas.microsoft.com/office/powerpoint/2010/main" val="197855756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D5316-4FA8-B648-5538-1E5F0BEE1DCB}"/>
              </a:ext>
            </a:extLst>
          </p:cNvPr>
          <p:cNvSpPr>
            <a:spLocks noGrp="1"/>
          </p:cNvSpPr>
          <p:nvPr>
            <p:ph type="title"/>
          </p:nvPr>
        </p:nvSpPr>
        <p:spPr>
          <a:xfrm>
            <a:off x="457200" y="205979"/>
            <a:ext cx="8147248" cy="565571"/>
          </a:xfrm>
        </p:spPr>
        <p:txBody>
          <a:bodyPr>
            <a:normAutofit/>
          </a:bodyPr>
          <a:lstStyle/>
          <a:p>
            <a:r>
              <a:rPr lang="en-US" altLang="en-US" sz="2600" b="1" dirty="0">
                <a:solidFill>
                  <a:schemeClr val="accent1">
                    <a:lumMod val="75000"/>
                  </a:schemeClr>
                </a:solidFill>
              </a:rPr>
              <a:t>The Core Principles of Responsible Collection</a:t>
            </a:r>
            <a:endParaRPr lang="en-IN" sz="2600" b="1" dirty="0">
              <a:solidFill>
                <a:schemeClr val="accent1">
                  <a:lumMod val="75000"/>
                </a:schemeClr>
              </a:solidFill>
            </a:endParaRPr>
          </a:p>
        </p:txBody>
      </p:sp>
      <p:sp>
        <p:nvSpPr>
          <p:cNvPr id="4" name="Rectangle 1">
            <a:extLst>
              <a:ext uri="{FF2B5EF4-FFF2-40B4-BE49-F238E27FC236}">
                <a16:creationId xmlns:a16="http://schemas.microsoft.com/office/drawing/2014/main" id="{8D78417D-DC45-3D17-5E70-C24EE14E21D1}"/>
              </a:ext>
            </a:extLst>
          </p:cNvPr>
          <p:cNvSpPr>
            <a:spLocks noGrp="1" noChangeArrowheads="1"/>
          </p:cNvSpPr>
          <p:nvPr>
            <p:ph sz="quarter" idx="1"/>
          </p:nvPr>
        </p:nvSpPr>
        <p:spPr bwMode="auto">
          <a:xfrm>
            <a:off x="457200" y="843558"/>
            <a:ext cx="7467600" cy="4139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ts val="600"/>
              </a:spcAft>
              <a:buSzTx/>
              <a:buNone/>
              <a:tabLst/>
            </a:pPr>
            <a:r>
              <a:rPr kumimoji="0" lang="en-US" altLang="en-US" sz="1400" b="0" i="0" u="none" strike="noStrike" cap="none" normalizeH="0" baseline="0" dirty="0">
                <a:ln>
                  <a:noFill/>
                </a:ln>
                <a:solidFill>
                  <a:schemeClr val="tx1"/>
                </a:solidFill>
                <a:effectLst/>
                <a:cs typeface="Times New Roman" panose="02020603050405020304" pitchFamily="18" charset="0"/>
              </a:rPr>
              <a:t>Responsible data collection—specifically in web acquisition and scraping—is built on five pillars that ensure operational efficiency and legal compliance.</a:t>
            </a:r>
          </a:p>
          <a:p>
            <a:pPr marR="0" lvl="0" algn="l" defTabSz="914400" rtl="0" eaLnBrk="0" fontAlgn="base" latinLnBrk="0" hangingPunct="0">
              <a:lnSpc>
                <a:spcPct val="100000"/>
              </a:lnSpc>
              <a:spcBef>
                <a:spcPct val="0"/>
              </a:spcBef>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Purpose Clarity: </a:t>
            </a:r>
            <a:r>
              <a:rPr kumimoji="0" lang="en-US" altLang="en-US" sz="1400" b="0" i="0" u="none" strike="noStrike" cap="none" normalizeH="0" baseline="0" dirty="0">
                <a:ln>
                  <a:noFill/>
                </a:ln>
                <a:solidFill>
                  <a:schemeClr val="tx1"/>
                </a:solidFill>
                <a:effectLst/>
                <a:cs typeface="Times New Roman" panose="02020603050405020304" pitchFamily="18" charset="0"/>
              </a:rPr>
              <a:t>Define specific business goals, such as price tracking or sentiment analysis, before collection begins. Any data field that does not directly contribute to the documented goal should remain out of scope to prevent "data hoarding."</a:t>
            </a:r>
          </a:p>
          <a:p>
            <a:pPr marR="0" lvl="0" algn="l" defTabSz="914400" rtl="0" eaLnBrk="0" fontAlgn="base" latinLnBrk="0" hangingPunct="0">
              <a:lnSpc>
                <a:spcPct val="100000"/>
              </a:lnSpc>
              <a:spcBef>
                <a:spcPct val="0"/>
              </a:spcBef>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Consent and Rights:</a:t>
            </a:r>
            <a:r>
              <a:rPr kumimoji="0" lang="en-US" altLang="en-US" sz="1400" b="0" i="0" u="none" strike="noStrike" cap="none" normalizeH="0" baseline="0" dirty="0">
                <a:ln>
                  <a:noFill/>
                </a:ln>
                <a:solidFill>
                  <a:schemeClr val="tx1"/>
                </a:solidFill>
                <a:effectLst/>
                <a:cs typeface="Times New Roman" panose="02020603050405020304" pitchFamily="18" charset="0"/>
              </a:rPr>
              <a:t> Always respect the source's rules by checking robots.txt files and Terms of Service. Even when accessing public data, crawlers must act as "polite visitors" by adhering to site instructions and strict rate limits.</a:t>
            </a:r>
          </a:p>
          <a:p>
            <a:pPr marR="0" lvl="0" algn="l" defTabSz="914400" rtl="0" eaLnBrk="0" fontAlgn="base" latinLnBrk="0" hangingPunct="0">
              <a:lnSpc>
                <a:spcPct val="100000"/>
              </a:lnSpc>
              <a:spcBef>
                <a:spcPct val="0"/>
              </a:spcBef>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Minimization:</a:t>
            </a:r>
            <a:r>
              <a:rPr kumimoji="0" lang="en-US" altLang="en-US" sz="1400" b="0" i="0" u="none" strike="noStrike" cap="none" normalizeH="0" baseline="0" dirty="0">
                <a:ln>
                  <a:noFill/>
                </a:ln>
                <a:solidFill>
                  <a:schemeClr val="tx1"/>
                </a:solidFill>
                <a:effectLst/>
                <a:cs typeface="Times New Roman" panose="02020603050405020304" pitchFamily="18" charset="0"/>
              </a:rPr>
              <a:t> Keep collection lean by only gathering the specific elements needed to answer your business question. Storing less data reduces processing costs, minimizes security risks, and simplifies compliance audits.</a:t>
            </a:r>
          </a:p>
          <a:p>
            <a:pPr marR="0" lvl="0" algn="l" defTabSz="914400" rtl="0" eaLnBrk="0" fontAlgn="base" latinLnBrk="0" hangingPunct="0">
              <a:lnSpc>
                <a:spcPct val="100000"/>
              </a:lnSpc>
              <a:spcBef>
                <a:spcPct val="0"/>
              </a:spcBef>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Transparency:</a:t>
            </a:r>
            <a:r>
              <a:rPr kumimoji="0" lang="en-US" altLang="en-US" sz="1400" b="0" i="0" u="none" strike="noStrike" cap="none" normalizeH="0" baseline="0" dirty="0">
                <a:ln>
                  <a:noFill/>
                </a:ln>
                <a:solidFill>
                  <a:schemeClr val="tx1"/>
                </a:solidFill>
                <a:effectLst/>
                <a:cs typeface="Times New Roman" panose="02020603050405020304" pitchFamily="18" charset="0"/>
              </a:rPr>
              <a:t> Maintain thorough documentation including the data source, schema, and update frequency. This creates a ready-to-use audit trail for legal or compliance teams, building internal operational confidence.</a:t>
            </a:r>
          </a:p>
          <a:p>
            <a:pPr marR="0" lvl="0" algn="l" defTabSz="914400" rtl="0" eaLnBrk="0" fontAlgn="base" latinLnBrk="0" hangingPunct="0">
              <a:lnSpc>
                <a:spcPct val="100000"/>
              </a:lnSpc>
              <a:spcBef>
                <a:spcPct val="0"/>
              </a:spcBef>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Protection:</a:t>
            </a:r>
            <a:r>
              <a:rPr kumimoji="0" lang="en-US" altLang="en-US" sz="1400" b="0" i="0" u="none" strike="noStrike" cap="none" normalizeH="0" baseline="0" dirty="0">
                <a:ln>
                  <a:noFill/>
                </a:ln>
                <a:solidFill>
                  <a:schemeClr val="tx1"/>
                </a:solidFill>
                <a:effectLst/>
                <a:cs typeface="Times New Roman" panose="02020603050405020304" pitchFamily="18" charset="0"/>
              </a:rPr>
              <a:t> Complete the cycle by securing data through encryption (both at rest and in transit). Access must be restricted to authorized personnel, and data should be permanently deleted once it no longer serves its original purpose.</a:t>
            </a:r>
          </a:p>
        </p:txBody>
      </p:sp>
    </p:spTree>
    <p:extLst>
      <p:ext uri="{BB962C8B-B14F-4D97-AF65-F5344CB8AC3E}">
        <p14:creationId xmlns:p14="http://schemas.microsoft.com/office/powerpoint/2010/main" val="79920832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EF64C-B34C-F832-413C-92AC751C4EC2}"/>
              </a:ext>
            </a:extLst>
          </p:cNvPr>
          <p:cNvSpPr>
            <a:spLocks noGrp="1"/>
          </p:cNvSpPr>
          <p:nvPr>
            <p:ph type="title"/>
          </p:nvPr>
        </p:nvSpPr>
        <p:spPr>
          <a:xfrm>
            <a:off x="457200" y="277987"/>
            <a:ext cx="8075240" cy="493563"/>
          </a:xfrm>
        </p:spPr>
        <p:txBody>
          <a:bodyPr>
            <a:normAutofit/>
          </a:bodyPr>
          <a:lstStyle/>
          <a:p>
            <a:r>
              <a:rPr lang="en-US" sz="2600" b="1" dirty="0">
                <a:solidFill>
                  <a:schemeClr val="accent1">
                    <a:lumMod val="75000"/>
                  </a:schemeClr>
                </a:solidFill>
              </a:rPr>
              <a:t>The Strategic Value of Ethical Collection</a:t>
            </a:r>
            <a:endParaRPr lang="en-IN" sz="2600" dirty="0">
              <a:solidFill>
                <a:schemeClr val="accent1">
                  <a:lumMod val="75000"/>
                </a:schemeClr>
              </a:solidFill>
            </a:endParaRPr>
          </a:p>
        </p:txBody>
      </p:sp>
      <p:sp>
        <p:nvSpPr>
          <p:cNvPr id="5" name="Rectangle 2">
            <a:extLst>
              <a:ext uri="{FF2B5EF4-FFF2-40B4-BE49-F238E27FC236}">
                <a16:creationId xmlns:a16="http://schemas.microsoft.com/office/drawing/2014/main" id="{AD4692C1-14F8-B0CC-1FB8-EE357E3F4293}"/>
              </a:ext>
            </a:extLst>
          </p:cNvPr>
          <p:cNvSpPr>
            <a:spLocks noGrp="1" noChangeArrowheads="1"/>
          </p:cNvSpPr>
          <p:nvPr>
            <p:ph sz="quarter" idx="1"/>
          </p:nvPr>
        </p:nvSpPr>
        <p:spPr bwMode="auto">
          <a:xfrm>
            <a:off x="457200" y="943586"/>
            <a:ext cx="7643192" cy="4001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spcAft>
                <a:spcPts val="600"/>
              </a:spcAft>
              <a:buSzPct val="100000"/>
              <a:buFont typeface="Wingdings" panose="05000000000000000000" pitchFamily="2" charset="2"/>
              <a:buChar char="¢"/>
            </a:pPr>
            <a:r>
              <a:rPr lang="en-US" sz="1400" b="1" dirty="0"/>
              <a:t>Protects Your "License to Operate“:</a:t>
            </a:r>
            <a:r>
              <a:rPr lang="en-US" sz="1400" dirty="0"/>
              <a:t> Operating within ethical and legal boundaries ensures long-term project sustainability. By adhering to regulations and site-specific terms, you prevent costly legal shutdowns and the organizational friction that occurs when projects are halted due to non-compliance. This proactive stance secures your ability to continue developing without fear of sudden regulatory intervention.</a:t>
            </a:r>
          </a:p>
          <a:p>
            <a:pPr>
              <a:spcAft>
                <a:spcPts val="600"/>
              </a:spcAft>
              <a:buSzPct val="100000"/>
              <a:buFont typeface="Wingdings" panose="05000000000000000000" pitchFamily="2" charset="2"/>
              <a:buChar char="¢"/>
            </a:pPr>
            <a:r>
              <a:rPr lang="en-US" sz="1400" b="1" dirty="0"/>
              <a:t>Builds Organizational and Consumer Confidence:</a:t>
            </a:r>
            <a:r>
              <a:rPr lang="en-US" sz="1400" dirty="0"/>
              <a:t> A responsible approach to data collection creates massive credibility across every department, from legal to analytics. When internal teams trust the integrity of the data, they can move faster and with more certainty. Externally, this transparency fosters a culture of trust with consumers, who are increasingly favoring organizations that demonstrate clear respect for privacy and data ownership.</a:t>
            </a:r>
          </a:p>
          <a:p>
            <a:pPr>
              <a:spcAft>
                <a:spcPts val="600"/>
              </a:spcAft>
              <a:buSzPct val="100000"/>
              <a:buFont typeface="Wingdings" panose="05000000000000000000" pitchFamily="2" charset="2"/>
              <a:buChar char="¢"/>
            </a:pPr>
            <a:r>
              <a:rPr lang="en-US" sz="1400" b="1" dirty="0"/>
              <a:t>Ensures Long-Term Data Value and Reliability:</a:t>
            </a:r>
            <a:r>
              <a:rPr lang="en-US" sz="1400" dirty="0"/>
              <a:t> Ethical collection requires rigorous source documentation and quality validation at the point of ingestion. This ensures that your data assets are accurate, defensible, and "clean." By limiting scope and maintaining high quality, you create a high-value dataset that is ready for advanced AI modeling and complex strategic decision-making, rather than a disorganized "data swamp."</a:t>
            </a:r>
          </a:p>
          <a:p>
            <a:endParaRPr lang="en-US" sz="1400" dirty="0"/>
          </a:p>
        </p:txBody>
      </p:sp>
    </p:spTree>
    <p:extLst>
      <p:ext uri="{BB962C8B-B14F-4D97-AF65-F5344CB8AC3E}">
        <p14:creationId xmlns:p14="http://schemas.microsoft.com/office/powerpoint/2010/main" val="233039586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42983-9F24-2A04-5C35-5C2A3C246B23}"/>
              </a:ext>
            </a:extLst>
          </p:cNvPr>
          <p:cNvSpPr>
            <a:spLocks noGrp="1"/>
          </p:cNvSpPr>
          <p:nvPr>
            <p:ph type="title"/>
          </p:nvPr>
        </p:nvSpPr>
        <p:spPr>
          <a:xfrm>
            <a:off x="457200" y="51470"/>
            <a:ext cx="7787208" cy="857250"/>
          </a:xfrm>
        </p:spPr>
        <p:txBody>
          <a:bodyPr>
            <a:noAutofit/>
          </a:bodyPr>
          <a:lstStyle/>
          <a:p>
            <a:r>
              <a:rPr lang="en-US" sz="2600" b="1" dirty="0">
                <a:solidFill>
                  <a:schemeClr val="accent1">
                    <a:lumMod val="75000"/>
                  </a:schemeClr>
                </a:solidFill>
              </a:rPr>
              <a:t>How Ethical Data Shapes AI and Machine Learning Models</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E6D31B01-EC5E-2135-5DE5-352650A9377A}"/>
              </a:ext>
            </a:extLst>
          </p:cNvPr>
          <p:cNvSpPr>
            <a:spLocks noGrp="1"/>
          </p:cNvSpPr>
          <p:nvPr>
            <p:ph sz="quarter" idx="1"/>
          </p:nvPr>
        </p:nvSpPr>
        <p:spPr>
          <a:xfrm>
            <a:off x="457200" y="987574"/>
            <a:ext cx="7787208" cy="3655314"/>
          </a:xfrm>
        </p:spPr>
        <p:txBody>
          <a:bodyPr>
            <a:noAutofit/>
          </a:bodyPr>
          <a:lstStyle/>
          <a:p>
            <a:pPr marL="0" indent="0">
              <a:spcBef>
                <a:spcPts val="0"/>
              </a:spcBef>
              <a:spcAft>
                <a:spcPts val="600"/>
              </a:spcAft>
              <a:buNone/>
            </a:pPr>
            <a:r>
              <a:rPr lang="en-US" sz="1400" dirty="0"/>
              <a:t>In modern AI development, a model is only as reliable as the data used to train it. Data ethics is no longer just a collection requirement - it is a core component of high-performing model architecture.</a:t>
            </a:r>
          </a:p>
          <a:p>
            <a:pPr>
              <a:spcBef>
                <a:spcPts val="0"/>
              </a:spcBef>
              <a:spcAft>
                <a:spcPts val="600"/>
              </a:spcAft>
              <a:buSzPct val="100000"/>
              <a:buFont typeface="Wingdings" panose="05000000000000000000" pitchFamily="2" charset="2"/>
              <a:buChar char="¢"/>
            </a:pPr>
            <a:r>
              <a:rPr lang="en-US" sz="1400" b="1" dirty="0"/>
              <a:t>Preventing Systemic Flaws</a:t>
            </a:r>
            <a:r>
              <a:rPr lang="en-US" sz="1400" dirty="0"/>
              <a:t> AI naturally amplifies the qualities of its input. If training data is biased or unauthorized, the model will replicate those flaws at scale. Ethical practices catch these issues early, ensuring that recruitment tools or pricing models don't automate discrimination or miss regulatory constraints.</a:t>
            </a:r>
          </a:p>
          <a:p>
            <a:pPr>
              <a:spcBef>
                <a:spcPts val="0"/>
              </a:spcBef>
              <a:spcAft>
                <a:spcPts val="600"/>
              </a:spcAft>
              <a:buSzPct val="100000"/>
              <a:buFont typeface="Wingdings" panose="05000000000000000000" pitchFamily="2" charset="2"/>
              <a:buChar char="¢"/>
            </a:pPr>
            <a:r>
              <a:rPr lang="en-US" sz="1400" b="1" dirty="0"/>
              <a:t>Ensuring Provenance and Explainability</a:t>
            </a:r>
            <a:r>
              <a:rPr lang="en-US" sz="1400" dirty="0"/>
              <a:t> Trustworthy AI requires clear "provenance"—a documented history of where every data point originated. By removing personally identifiable information and labeling sources accurately, organizations create </a:t>
            </a:r>
            <a:r>
              <a:rPr lang="en-US" sz="1400" b="1" dirty="0"/>
              <a:t>explainable AI</a:t>
            </a:r>
            <a:r>
              <a:rPr lang="en-US" sz="1400" dirty="0"/>
              <a:t>. This traceability allows businesses to audit their systems and defend AI outputs with confidence.</a:t>
            </a:r>
          </a:p>
          <a:p>
            <a:pPr>
              <a:spcBef>
                <a:spcPts val="0"/>
              </a:spcBef>
              <a:spcAft>
                <a:spcPts val="600"/>
              </a:spcAft>
              <a:buSzPct val="100000"/>
              <a:buFont typeface="Wingdings" panose="05000000000000000000" pitchFamily="2" charset="2"/>
              <a:buChar char="¢"/>
            </a:pPr>
            <a:r>
              <a:rPr lang="en-US" sz="1400" b="1" dirty="0"/>
              <a:t>Gaining a Global Competitive Edge</a:t>
            </a:r>
            <a:r>
              <a:rPr lang="en-US" sz="1400" dirty="0"/>
              <a:t> Models built on ethical datasets are significantly easier to scale across international borders. Because they are designed with privacy and transparency in mind, they meet global data localization requirements automatically, reducing the need for costly reengineering as regulations evolve.</a:t>
            </a:r>
          </a:p>
          <a:p>
            <a:pPr>
              <a:spcBef>
                <a:spcPts val="0"/>
              </a:spcBef>
              <a:spcAft>
                <a:spcPts val="600"/>
              </a:spcAft>
              <a:buSzPct val="100000"/>
              <a:buFont typeface="Wingdings" panose="05000000000000000000" pitchFamily="2" charset="2"/>
              <a:buChar char="¢"/>
            </a:pPr>
            <a:r>
              <a:rPr lang="en-US" sz="1400" b="1" dirty="0"/>
              <a:t>Driving Long-term Reliability</a:t>
            </a:r>
            <a:r>
              <a:rPr lang="en-US" sz="1400" dirty="0"/>
              <a:t> Ethics is now a direct indicator of AI performance. It determines whether a model will gain regulatory approval and public acceptance. Using clean, authorized data from the start ensures that algorithms remains resilient, trustworthy, and valuable over time.</a:t>
            </a:r>
          </a:p>
        </p:txBody>
      </p:sp>
    </p:spTree>
    <p:extLst>
      <p:ext uri="{BB962C8B-B14F-4D97-AF65-F5344CB8AC3E}">
        <p14:creationId xmlns:p14="http://schemas.microsoft.com/office/powerpoint/2010/main" val="68549411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423BD-4BD1-501C-A5D8-80F00F0C0EF1}"/>
              </a:ext>
            </a:extLst>
          </p:cNvPr>
          <p:cNvSpPr>
            <a:spLocks noGrp="1"/>
          </p:cNvSpPr>
          <p:nvPr>
            <p:ph type="title"/>
          </p:nvPr>
        </p:nvSpPr>
        <p:spPr>
          <a:xfrm>
            <a:off x="457200" y="205979"/>
            <a:ext cx="7467600" cy="637579"/>
          </a:xfrm>
        </p:spPr>
        <p:txBody>
          <a:bodyPr>
            <a:normAutofit/>
          </a:bodyPr>
          <a:lstStyle/>
          <a:p>
            <a:r>
              <a:rPr lang="en-US" sz="2600" b="1" dirty="0">
                <a:solidFill>
                  <a:schemeClr val="accent1">
                    <a:lumMod val="75000"/>
                  </a:schemeClr>
                </a:solidFill>
              </a:rPr>
              <a:t>California Consumer Privacy Act (CCPA)</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95E0F0C7-18A1-2802-546F-95D740D21F34}"/>
              </a:ext>
            </a:extLst>
          </p:cNvPr>
          <p:cNvSpPr>
            <a:spLocks noGrp="1"/>
          </p:cNvSpPr>
          <p:nvPr>
            <p:ph sz="quarter" idx="1"/>
          </p:nvPr>
        </p:nvSpPr>
        <p:spPr>
          <a:xfrm>
            <a:off x="457200" y="915566"/>
            <a:ext cx="7715200" cy="3939898"/>
          </a:xfrm>
        </p:spPr>
        <p:txBody>
          <a:bodyPr>
            <a:normAutofit lnSpcReduction="10000"/>
          </a:bodyPr>
          <a:lstStyle/>
          <a:p>
            <a:pPr marL="0" indent="0">
              <a:spcBef>
                <a:spcPts val="0"/>
              </a:spcBef>
              <a:spcAft>
                <a:spcPts val="1200"/>
              </a:spcAft>
              <a:buSzPct val="100000"/>
              <a:buNone/>
            </a:pPr>
            <a:r>
              <a:rPr lang="en-US" sz="1400" dirty="0"/>
              <a:t>The </a:t>
            </a:r>
            <a:r>
              <a:rPr lang="en-US" sz="1400" b="1" dirty="0"/>
              <a:t>CCPA</a:t>
            </a:r>
            <a:r>
              <a:rPr lang="en-US" sz="1400" dirty="0"/>
              <a:t> is a landmark state-level data privacy law that provides California residents with significant control over their personal information. It applies to any business that collects or processes the data of Californians, regardless of where that business is physically located, provided they meet certain legal thresholds. The law focuses on empowering individuals through four core pillars of protection:</a:t>
            </a:r>
          </a:p>
          <a:p>
            <a:pPr>
              <a:spcBef>
                <a:spcPts val="0"/>
              </a:spcBef>
              <a:spcAft>
                <a:spcPts val="600"/>
              </a:spcAft>
              <a:buSzPct val="100000"/>
              <a:buFont typeface="Wingdings" panose="05000000000000000000" pitchFamily="2" charset="2"/>
              <a:buChar char="¢"/>
            </a:pPr>
            <a:r>
              <a:rPr lang="en-US" sz="1400" b="1" dirty="0"/>
              <a:t>Greater Transparency:</a:t>
            </a:r>
            <a:r>
              <a:rPr lang="en-US" sz="1400" dirty="0"/>
              <a:t> Businesses must provide clear, accessible notice at or before the point of collection, informing consumers which categories of personal information are being gathered and the specific purposes for which they will be used.</a:t>
            </a:r>
          </a:p>
          <a:p>
            <a:pPr>
              <a:spcBef>
                <a:spcPts val="0"/>
              </a:spcBef>
              <a:spcAft>
                <a:spcPts val="600"/>
              </a:spcAft>
              <a:buSzPct val="100000"/>
              <a:buFont typeface="Wingdings" panose="05000000000000000000" pitchFamily="2" charset="2"/>
              <a:buChar char="¢"/>
            </a:pPr>
            <a:r>
              <a:rPr lang="en-US" sz="1400" b="1" dirty="0"/>
              <a:t>Broad Data Access:</a:t>
            </a:r>
            <a:r>
              <a:rPr lang="en-US" sz="1400" dirty="0"/>
              <a:t> Consumers have the "right to know" and access the specific pieces of personal information a business has collected, used, and shared about them over the preceding 12-month period.</a:t>
            </a:r>
          </a:p>
          <a:p>
            <a:pPr>
              <a:spcBef>
                <a:spcPts val="0"/>
              </a:spcBef>
              <a:spcAft>
                <a:spcPts val="600"/>
              </a:spcAft>
              <a:buSzPct val="100000"/>
              <a:buFont typeface="Wingdings" panose="05000000000000000000" pitchFamily="2" charset="2"/>
              <a:buChar char="¢"/>
            </a:pPr>
            <a:r>
              <a:rPr lang="en-US" sz="1400" b="1" dirty="0"/>
              <a:t>The Right to Delete:</a:t>
            </a:r>
            <a:r>
              <a:rPr lang="en-US" sz="1400" dirty="0"/>
              <a:t> Residents can request that a business delete any personal information collected from them, ensuring that data is not stored indefinitely without their consent (subject to specific legal exceptions).</a:t>
            </a:r>
          </a:p>
          <a:p>
            <a:pPr>
              <a:spcBef>
                <a:spcPts val="0"/>
              </a:spcBef>
              <a:spcAft>
                <a:spcPts val="600"/>
              </a:spcAft>
              <a:buSzPct val="100000"/>
              <a:buFont typeface="Wingdings" panose="05000000000000000000" pitchFamily="2" charset="2"/>
              <a:buChar char="¢"/>
            </a:pPr>
            <a:r>
              <a:rPr lang="en-US" sz="1400" b="1" dirty="0"/>
              <a:t>The Right to Opt-Out:</a:t>
            </a:r>
            <a:r>
              <a:rPr lang="en-US" sz="1400" dirty="0"/>
              <a:t> A defining feature of the CCPA is the right to stop a business from selling or sharing personal information with third parties, typically facilitated through a "Do Not Sell My Personal Information" link.</a:t>
            </a:r>
          </a:p>
          <a:p>
            <a:pPr>
              <a:spcBef>
                <a:spcPts val="0"/>
              </a:spcBef>
              <a:spcAft>
                <a:spcPts val="600"/>
              </a:spcAft>
            </a:pPr>
            <a:endParaRPr lang="en-IN" sz="1400" dirty="0"/>
          </a:p>
        </p:txBody>
      </p:sp>
    </p:spTree>
    <p:extLst>
      <p:ext uri="{BB962C8B-B14F-4D97-AF65-F5344CB8AC3E}">
        <p14:creationId xmlns:p14="http://schemas.microsoft.com/office/powerpoint/2010/main" val="237687836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B1D7B-A9BE-C2FA-CF60-0DD7932730A7}"/>
              </a:ext>
            </a:extLst>
          </p:cNvPr>
          <p:cNvSpPr>
            <a:spLocks noGrp="1"/>
          </p:cNvSpPr>
          <p:nvPr>
            <p:ph type="title"/>
          </p:nvPr>
        </p:nvSpPr>
        <p:spPr>
          <a:xfrm>
            <a:off x="457200" y="277987"/>
            <a:ext cx="8219256" cy="565571"/>
          </a:xfrm>
        </p:spPr>
        <p:txBody>
          <a:bodyPr>
            <a:noAutofit/>
          </a:bodyPr>
          <a:lstStyle/>
          <a:p>
            <a:r>
              <a:rPr lang="en-US" sz="2600" b="1" dirty="0">
                <a:solidFill>
                  <a:schemeClr val="accent1">
                    <a:lumMod val="75000"/>
                  </a:schemeClr>
                </a:solidFill>
              </a:rPr>
              <a:t>The General Data Protection Regulation (GDPR)</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FD077080-890D-0523-8ADA-6266754D54B8}"/>
              </a:ext>
            </a:extLst>
          </p:cNvPr>
          <p:cNvSpPr>
            <a:spLocks noGrp="1"/>
          </p:cNvSpPr>
          <p:nvPr>
            <p:ph sz="quarter" idx="1"/>
          </p:nvPr>
        </p:nvSpPr>
        <p:spPr>
          <a:xfrm>
            <a:off x="457200" y="987574"/>
            <a:ext cx="7715200" cy="3655314"/>
          </a:xfrm>
        </p:spPr>
        <p:txBody>
          <a:bodyPr>
            <a:normAutofit fontScale="92500"/>
          </a:bodyPr>
          <a:lstStyle/>
          <a:p>
            <a:pPr marL="0" indent="0">
              <a:spcAft>
                <a:spcPts val="600"/>
              </a:spcAft>
              <a:buSzPct val="100000"/>
              <a:buNone/>
            </a:pPr>
            <a:r>
              <a:rPr lang="en-US" sz="1500" dirty="0"/>
              <a:t>The </a:t>
            </a:r>
            <a:r>
              <a:rPr lang="en-US" sz="1500" b="1" dirty="0"/>
              <a:t>GDPR</a:t>
            </a:r>
            <a:r>
              <a:rPr lang="en-US" sz="1500" dirty="0"/>
              <a:t> is a comprehensive EU law that regulates the collection, processing, and storage of personal data for individuals within the EU and EEA. Effective since May 2018, it establishes the "Data Subject" (user) as the primary controller of their own digital information.</a:t>
            </a:r>
          </a:p>
          <a:p>
            <a:pPr>
              <a:spcAft>
                <a:spcPts val="600"/>
              </a:spcAft>
              <a:buSzPct val="100000"/>
              <a:buFont typeface="Wingdings" panose="05000000000000000000" pitchFamily="2" charset="2"/>
              <a:buChar char="¢"/>
            </a:pPr>
            <a:r>
              <a:rPr lang="en-US" sz="1500" b="1" dirty="0"/>
              <a:t>Mandatory Opt-In Consent:</a:t>
            </a:r>
            <a:r>
              <a:rPr lang="en-US" sz="1500" dirty="0"/>
              <a:t> Businesses must obtain explicit, affirmative consent from a user before collecting any personal data. This shifts the responsibility to the organization to prove that permission was granted.</a:t>
            </a:r>
          </a:p>
          <a:p>
            <a:pPr>
              <a:spcAft>
                <a:spcPts val="600"/>
              </a:spcAft>
              <a:buSzPct val="100000"/>
              <a:buFont typeface="Wingdings" panose="05000000000000000000" pitchFamily="2" charset="2"/>
              <a:buChar char="¢"/>
            </a:pPr>
            <a:r>
              <a:rPr lang="en-US" sz="1500" b="1" dirty="0"/>
              <a:t>Expansive Definition of Data:</a:t>
            </a:r>
            <a:r>
              <a:rPr lang="en-US" sz="1500" dirty="0"/>
              <a:t> Personal information under GDPR includes traditional identifiers (names, emails) as well as digital markers like IP addresses, location data, and information from wearable devices.</a:t>
            </a:r>
          </a:p>
          <a:p>
            <a:pPr>
              <a:spcAft>
                <a:spcPts val="600"/>
              </a:spcAft>
              <a:buSzPct val="100000"/>
              <a:buFont typeface="Wingdings" panose="05000000000000000000" pitchFamily="2" charset="2"/>
              <a:buChar char="¢"/>
            </a:pPr>
            <a:r>
              <a:rPr lang="en-US" sz="1500" b="1" dirty="0"/>
              <a:t>User-Centric Control:</a:t>
            </a:r>
            <a:r>
              <a:rPr lang="en-US" sz="1500" dirty="0"/>
              <a:t> The law grants individuals the power to decide exactly how businesses use their information. Organizations act as temporary stewards of data rather than permanent owners.</a:t>
            </a:r>
          </a:p>
          <a:p>
            <a:pPr>
              <a:spcAft>
                <a:spcPts val="600"/>
              </a:spcAft>
              <a:buSzPct val="100000"/>
              <a:buFont typeface="Wingdings" panose="05000000000000000000" pitchFamily="2" charset="2"/>
              <a:buChar char="¢"/>
            </a:pPr>
            <a:r>
              <a:rPr lang="en-US" sz="1500" b="1" dirty="0"/>
              <a:t>Accountability &amp; Transparency:</a:t>
            </a:r>
            <a:r>
              <a:rPr lang="en-US" sz="1500" dirty="0"/>
              <a:t> Organizations are legally required to be transparent about their data practices and are held strictly accountable for securing information against breaches and misuse.</a:t>
            </a:r>
          </a:p>
        </p:txBody>
      </p:sp>
    </p:spTree>
    <p:extLst>
      <p:ext uri="{BB962C8B-B14F-4D97-AF65-F5344CB8AC3E}">
        <p14:creationId xmlns:p14="http://schemas.microsoft.com/office/powerpoint/2010/main" val="168584812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9EC38-423C-4604-6FA1-09A6C1EAFE86}"/>
              </a:ext>
            </a:extLst>
          </p:cNvPr>
          <p:cNvSpPr>
            <a:spLocks noGrp="1"/>
          </p:cNvSpPr>
          <p:nvPr>
            <p:ph type="title"/>
          </p:nvPr>
        </p:nvSpPr>
        <p:spPr>
          <a:xfrm>
            <a:off x="457200" y="51470"/>
            <a:ext cx="7467600" cy="565571"/>
          </a:xfrm>
        </p:spPr>
        <p:txBody>
          <a:bodyPr>
            <a:normAutofit/>
          </a:bodyPr>
          <a:lstStyle/>
          <a:p>
            <a:r>
              <a:rPr lang="en-IN" sz="2600" b="1" dirty="0">
                <a:solidFill>
                  <a:schemeClr val="accent1">
                    <a:lumMod val="75000"/>
                  </a:schemeClr>
                </a:solidFill>
              </a:rPr>
              <a:t>CCPA vs. GDPR</a:t>
            </a:r>
          </a:p>
        </p:txBody>
      </p:sp>
      <p:graphicFrame>
        <p:nvGraphicFramePr>
          <p:cNvPr id="4" name="Content Placeholder 3">
            <a:extLst>
              <a:ext uri="{FF2B5EF4-FFF2-40B4-BE49-F238E27FC236}">
                <a16:creationId xmlns:a16="http://schemas.microsoft.com/office/drawing/2014/main" id="{70EE11D4-1EC0-5763-0611-E053DEDB1D8A}"/>
              </a:ext>
            </a:extLst>
          </p:cNvPr>
          <p:cNvGraphicFramePr>
            <a:graphicFrameLocks noGrp="1"/>
          </p:cNvGraphicFramePr>
          <p:nvPr>
            <p:ph sz="quarter" idx="1"/>
            <p:extLst>
              <p:ext uri="{D42A27DB-BD31-4B8C-83A1-F6EECF244321}">
                <p14:modId xmlns:p14="http://schemas.microsoft.com/office/powerpoint/2010/main" val="2378972765"/>
              </p:ext>
            </p:extLst>
          </p:nvPr>
        </p:nvGraphicFramePr>
        <p:xfrm>
          <a:off x="251520" y="680814"/>
          <a:ext cx="8352000" cy="4267200"/>
        </p:xfrm>
        <a:graphic>
          <a:graphicData uri="http://schemas.openxmlformats.org/drawingml/2006/table">
            <a:tbl>
              <a:tblPr firstRow="1" bandRow="1">
                <a:tableStyleId>{5C22544A-7EE6-4342-B048-85BDC9FD1C3A}</a:tableStyleId>
              </a:tblPr>
              <a:tblGrid>
                <a:gridCol w="1662455">
                  <a:extLst>
                    <a:ext uri="{9D8B030D-6E8A-4147-A177-3AD203B41FA5}">
                      <a16:colId xmlns:a16="http://schemas.microsoft.com/office/drawing/2014/main" val="1917206674"/>
                    </a:ext>
                  </a:extLst>
                </a:gridCol>
                <a:gridCol w="3305544">
                  <a:extLst>
                    <a:ext uri="{9D8B030D-6E8A-4147-A177-3AD203B41FA5}">
                      <a16:colId xmlns:a16="http://schemas.microsoft.com/office/drawing/2014/main" val="1563293293"/>
                    </a:ext>
                  </a:extLst>
                </a:gridCol>
                <a:gridCol w="3384001">
                  <a:extLst>
                    <a:ext uri="{9D8B030D-6E8A-4147-A177-3AD203B41FA5}">
                      <a16:colId xmlns:a16="http://schemas.microsoft.com/office/drawing/2014/main" val="2249333075"/>
                    </a:ext>
                  </a:extLst>
                </a:gridCol>
              </a:tblGrid>
              <a:tr h="370840">
                <a:tc>
                  <a:txBody>
                    <a:bodyPr/>
                    <a:lstStyle/>
                    <a:p>
                      <a:pPr algn="ctr"/>
                      <a:r>
                        <a:rPr lang="en-IN" sz="1400" i="0" dirty="0">
                          <a:solidFill>
                            <a:schemeClr val="tx1"/>
                          </a:solidFill>
                          <a:latin typeface="Times New Roman" panose="02020603050405020304" pitchFamily="18" charset="0"/>
                          <a:cs typeface="Times New Roman" panose="02020603050405020304" pitchFamily="18" charset="0"/>
                        </a:rPr>
                        <a:t>Aspect</a:t>
                      </a:r>
                    </a:p>
                  </a:txBody>
                  <a:tcPr anchor="ctr"/>
                </a:tc>
                <a:tc>
                  <a:txBody>
                    <a:bodyPr/>
                    <a:lstStyle/>
                    <a:p>
                      <a:pPr algn="ctr"/>
                      <a:r>
                        <a:rPr lang="en-US" sz="1400" i="0" dirty="0">
                          <a:solidFill>
                            <a:schemeClr val="tx1"/>
                          </a:solidFill>
                          <a:latin typeface="Times New Roman" panose="02020603050405020304" pitchFamily="18" charset="0"/>
                          <a:cs typeface="Times New Roman" panose="02020603050405020304" pitchFamily="18" charset="0"/>
                        </a:rPr>
                        <a:t>GDPR (General Data Protection Regulation)</a:t>
                      </a:r>
                    </a:p>
                  </a:txBody>
                  <a:tcPr anchor="ctr"/>
                </a:tc>
                <a:tc>
                  <a:txBody>
                    <a:bodyPr/>
                    <a:lstStyle/>
                    <a:p>
                      <a:pPr algn="ctr"/>
                      <a:r>
                        <a:rPr lang="en-IN" sz="1400" i="0" dirty="0">
                          <a:solidFill>
                            <a:schemeClr val="tx1"/>
                          </a:solidFill>
                          <a:latin typeface="Times New Roman" panose="02020603050405020304" pitchFamily="18" charset="0"/>
                          <a:cs typeface="Times New Roman" panose="02020603050405020304" pitchFamily="18" charset="0"/>
                        </a:rPr>
                        <a:t>CCPA (California Consumer Privacy Act)</a:t>
                      </a:r>
                    </a:p>
                  </a:txBody>
                  <a:tcPr anchor="ctr"/>
                </a:tc>
                <a:extLst>
                  <a:ext uri="{0D108BD9-81ED-4DB2-BD59-A6C34878D82A}">
                    <a16:rowId xmlns:a16="http://schemas.microsoft.com/office/drawing/2014/main" val="1474644978"/>
                  </a:ext>
                </a:extLst>
              </a:tr>
              <a:tr h="370840">
                <a:tc>
                  <a:txBody>
                    <a:bodyPr/>
                    <a:lstStyle/>
                    <a:p>
                      <a:pPr algn="ctr"/>
                      <a:r>
                        <a:rPr lang="en-IN" sz="1400" b="1" i="0" dirty="0">
                          <a:solidFill>
                            <a:schemeClr val="tx1"/>
                          </a:solidFill>
                          <a:latin typeface="Times New Roman" panose="02020603050405020304" pitchFamily="18" charset="0"/>
                          <a:cs typeface="Times New Roman" panose="02020603050405020304" pitchFamily="18" charset="0"/>
                        </a:rPr>
                        <a:t>Geographic Scope</a:t>
                      </a:r>
                      <a:endParaRPr lang="en-IN" sz="1400" i="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r>
                        <a:rPr lang="en-US" sz="1400" i="0">
                          <a:solidFill>
                            <a:schemeClr val="tx1"/>
                          </a:solidFill>
                          <a:latin typeface="Times New Roman" panose="02020603050405020304" pitchFamily="18" charset="0"/>
                          <a:cs typeface="Times New Roman" panose="02020603050405020304" pitchFamily="18" charset="0"/>
                        </a:rPr>
                        <a:t>Protects anyone located in the </a:t>
                      </a:r>
                      <a:r>
                        <a:rPr lang="en-US" sz="1400" b="1" i="0">
                          <a:solidFill>
                            <a:schemeClr val="tx1"/>
                          </a:solidFill>
                          <a:latin typeface="Times New Roman" panose="02020603050405020304" pitchFamily="18" charset="0"/>
                          <a:cs typeface="Times New Roman" panose="02020603050405020304" pitchFamily="18" charset="0"/>
                        </a:rPr>
                        <a:t>EU/EEA</a:t>
                      </a:r>
                      <a:r>
                        <a:rPr lang="en-US" sz="1400" i="0">
                          <a:solidFill>
                            <a:schemeClr val="tx1"/>
                          </a:solidFill>
                          <a:latin typeface="Times New Roman" panose="02020603050405020304" pitchFamily="18" charset="0"/>
                          <a:cs typeface="Times New Roman" panose="02020603050405020304" pitchFamily="18" charset="0"/>
                        </a:rPr>
                        <a:t>, regardless of the business's headquarters.</a:t>
                      </a:r>
                    </a:p>
                  </a:txBody>
                  <a:tcPr anchor="ctr"/>
                </a:tc>
                <a:tc>
                  <a:txBody>
                    <a:bodyPr/>
                    <a:lstStyle/>
                    <a:p>
                      <a:r>
                        <a:rPr lang="en-US" sz="1400" i="0" dirty="0">
                          <a:solidFill>
                            <a:schemeClr val="tx1"/>
                          </a:solidFill>
                          <a:latin typeface="Times New Roman" panose="02020603050405020304" pitchFamily="18" charset="0"/>
                          <a:cs typeface="Times New Roman" panose="02020603050405020304" pitchFamily="18" charset="0"/>
                        </a:rPr>
                        <a:t>Protects </a:t>
                      </a:r>
                      <a:r>
                        <a:rPr lang="en-US" sz="1400" b="1" i="0" dirty="0">
                          <a:solidFill>
                            <a:schemeClr val="tx1"/>
                          </a:solidFill>
                          <a:latin typeface="Times New Roman" panose="02020603050405020304" pitchFamily="18" charset="0"/>
                          <a:cs typeface="Times New Roman" panose="02020603050405020304" pitchFamily="18" charset="0"/>
                        </a:rPr>
                        <a:t>California residents</a:t>
                      </a:r>
                      <a:r>
                        <a:rPr lang="en-US" sz="1400" i="0" dirty="0">
                          <a:solidFill>
                            <a:schemeClr val="tx1"/>
                          </a:solidFill>
                          <a:latin typeface="Times New Roman" panose="02020603050405020304" pitchFamily="18" charset="0"/>
                          <a:cs typeface="Times New Roman" panose="02020603050405020304" pitchFamily="18" charset="0"/>
                        </a:rPr>
                        <a:t>; applies to businesses meeting specific revenue or data thresholds.</a:t>
                      </a:r>
                    </a:p>
                  </a:txBody>
                  <a:tcPr anchor="ctr"/>
                </a:tc>
                <a:extLst>
                  <a:ext uri="{0D108BD9-81ED-4DB2-BD59-A6C34878D82A}">
                    <a16:rowId xmlns:a16="http://schemas.microsoft.com/office/drawing/2014/main" val="510760672"/>
                  </a:ext>
                </a:extLst>
              </a:tr>
              <a:tr h="370840">
                <a:tc>
                  <a:txBody>
                    <a:bodyPr/>
                    <a:lstStyle/>
                    <a:p>
                      <a:pPr algn="ctr"/>
                      <a:r>
                        <a:rPr lang="en-IN" sz="1400" b="1" i="0" dirty="0">
                          <a:solidFill>
                            <a:schemeClr val="tx1"/>
                          </a:solidFill>
                          <a:latin typeface="Times New Roman" panose="02020603050405020304" pitchFamily="18" charset="0"/>
                          <a:cs typeface="Times New Roman" panose="02020603050405020304" pitchFamily="18" charset="0"/>
                        </a:rPr>
                        <a:t>Consent Model</a:t>
                      </a:r>
                      <a:endParaRPr lang="en-IN" sz="1400" i="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r>
                        <a:rPr lang="en-US" sz="1400" b="1" i="0" dirty="0">
                          <a:solidFill>
                            <a:schemeClr val="tx1"/>
                          </a:solidFill>
                          <a:latin typeface="Times New Roman" panose="02020603050405020304" pitchFamily="18" charset="0"/>
                          <a:cs typeface="Times New Roman" panose="02020603050405020304" pitchFamily="18" charset="0"/>
                        </a:rPr>
                        <a:t>Opt-In:</a:t>
                      </a:r>
                      <a:r>
                        <a:rPr lang="en-US" sz="1400" i="0" dirty="0">
                          <a:solidFill>
                            <a:schemeClr val="tx1"/>
                          </a:solidFill>
                          <a:latin typeface="Times New Roman" panose="02020603050405020304" pitchFamily="18" charset="0"/>
                          <a:cs typeface="Times New Roman" panose="02020603050405020304" pitchFamily="18" charset="0"/>
                        </a:rPr>
                        <a:t> Explicit consent is usually required before data can be collected.</a:t>
                      </a:r>
                    </a:p>
                  </a:txBody>
                  <a:tcPr anchor="ctr"/>
                </a:tc>
                <a:tc>
                  <a:txBody>
                    <a:bodyPr/>
                    <a:lstStyle/>
                    <a:p>
                      <a:r>
                        <a:rPr lang="en-US" sz="1400" b="1" i="0" dirty="0">
                          <a:solidFill>
                            <a:schemeClr val="tx1"/>
                          </a:solidFill>
                          <a:latin typeface="Times New Roman" panose="02020603050405020304" pitchFamily="18" charset="0"/>
                          <a:cs typeface="Times New Roman" panose="02020603050405020304" pitchFamily="18" charset="0"/>
                        </a:rPr>
                        <a:t>Opt-Out:</a:t>
                      </a:r>
                      <a:r>
                        <a:rPr lang="en-US" sz="1400" i="0" dirty="0">
                          <a:solidFill>
                            <a:schemeClr val="tx1"/>
                          </a:solidFill>
                          <a:latin typeface="Times New Roman" panose="02020603050405020304" pitchFamily="18" charset="0"/>
                          <a:cs typeface="Times New Roman" panose="02020603050405020304" pitchFamily="18" charset="0"/>
                        </a:rPr>
                        <a:t> Data can often be collected by default, but users must be able to stop its sale.</a:t>
                      </a:r>
                    </a:p>
                  </a:txBody>
                  <a:tcPr anchor="ctr"/>
                </a:tc>
                <a:extLst>
                  <a:ext uri="{0D108BD9-81ED-4DB2-BD59-A6C34878D82A}">
                    <a16:rowId xmlns:a16="http://schemas.microsoft.com/office/drawing/2014/main" val="3006170831"/>
                  </a:ext>
                </a:extLst>
              </a:tr>
              <a:tr h="370840">
                <a:tc>
                  <a:txBody>
                    <a:bodyPr/>
                    <a:lstStyle/>
                    <a:p>
                      <a:pPr algn="ctr"/>
                      <a:r>
                        <a:rPr lang="en-IN" sz="1400" b="1" i="0" dirty="0">
                          <a:solidFill>
                            <a:schemeClr val="tx1"/>
                          </a:solidFill>
                          <a:latin typeface="Times New Roman" panose="02020603050405020304" pitchFamily="18" charset="0"/>
                          <a:cs typeface="Times New Roman" panose="02020603050405020304" pitchFamily="18" charset="0"/>
                        </a:rPr>
                        <a:t>Protected Data</a:t>
                      </a:r>
                      <a:endParaRPr lang="en-IN" sz="1400" i="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r>
                        <a:rPr lang="en-US" sz="1400" i="0">
                          <a:solidFill>
                            <a:schemeClr val="tx1"/>
                          </a:solidFill>
                          <a:latin typeface="Times New Roman" panose="02020603050405020304" pitchFamily="18" charset="0"/>
                          <a:cs typeface="Times New Roman" panose="02020603050405020304" pitchFamily="18" charset="0"/>
                        </a:rPr>
                        <a:t>Covers all </a:t>
                      </a:r>
                      <a:r>
                        <a:rPr lang="en-US" sz="1400" b="1" i="0">
                          <a:solidFill>
                            <a:schemeClr val="tx1"/>
                          </a:solidFill>
                          <a:latin typeface="Times New Roman" panose="02020603050405020304" pitchFamily="18" charset="0"/>
                          <a:cs typeface="Times New Roman" panose="02020603050405020304" pitchFamily="18" charset="0"/>
                        </a:rPr>
                        <a:t>personal data</a:t>
                      </a:r>
                      <a:r>
                        <a:rPr lang="en-US" sz="1400" i="0">
                          <a:solidFill>
                            <a:schemeClr val="tx1"/>
                          </a:solidFill>
                          <a:latin typeface="Times New Roman" panose="02020603050405020304" pitchFamily="18" charset="0"/>
                          <a:cs typeface="Times New Roman" panose="02020603050405020304" pitchFamily="18" charset="0"/>
                        </a:rPr>
                        <a:t>, including very broad digital and biometric identifiers.</a:t>
                      </a:r>
                    </a:p>
                  </a:txBody>
                  <a:tcPr anchor="ctr"/>
                </a:tc>
                <a:tc>
                  <a:txBody>
                    <a:bodyPr/>
                    <a:lstStyle/>
                    <a:p>
                      <a:r>
                        <a:rPr lang="en-US" sz="1400" i="0" dirty="0">
                          <a:solidFill>
                            <a:schemeClr val="tx1"/>
                          </a:solidFill>
                          <a:latin typeface="Times New Roman" panose="02020603050405020304" pitchFamily="18" charset="0"/>
                          <a:cs typeface="Times New Roman" panose="02020603050405020304" pitchFamily="18" charset="0"/>
                        </a:rPr>
                        <a:t>Protects </a:t>
                      </a:r>
                      <a:r>
                        <a:rPr lang="en-US" sz="1400" b="1" i="0" dirty="0">
                          <a:solidFill>
                            <a:schemeClr val="tx1"/>
                          </a:solidFill>
                          <a:latin typeface="Times New Roman" panose="02020603050405020304" pitchFamily="18" charset="0"/>
                          <a:cs typeface="Times New Roman" panose="02020603050405020304" pitchFamily="18" charset="0"/>
                        </a:rPr>
                        <a:t>personal information</a:t>
                      </a:r>
                      <a:r>
                        <a:rPr lang="en-US" sz="1400" i="0" dirty="0">
                          <a:solidFill>
                            <a:schemeClr val="tx1"/>
                          </a:solidFill>
                          <a:latin typeface="Times New Roman" panose="02020603050405020304" pitchFamily="18" charset="0"/>
                          <a:cs typeface="Times New Roman" panose="02020603050405020304" pitchFamily="18" charset="0"/>
                        </a:rPr>
                        <a:t> of CA residents, with a heavy focus on its commercial "sale."</a:t>
                      </a:r>
                    </a:p>
                  </a:txBody>
                  <a:tcPr anchor="ctr"/>
                </a:tc>
                <a:extLst>
                  <a:ext uri="{0D108BD9-81ED-4DB2-BD59-A6C34878D82A}">
                    <a16:rowId xmlns:a16="http://schemas.microsoft.com/office/drawing/2014/main" val="4060007607"/>
                  </a:ext>
                </a:extLst>
              </a:tr>
              <a:tr h="370840">
                <a:tc>
                  <a:txBody>
                    <a:bodyPr/>
                    <a:lstStyle/>
                    <a:p>
                      <a:pPr algn="ctr"/>
                      <a:r>
                        <a:rPr lang="en-IN" sz="1400" b="1" i="0" dirty="0">
                          <a:solidFill>
                            <a:schemeClr val="tx1"/>
                          </a:solidFill>
                          <a:latin typeface="Times New Roman" panose="02020603050405020304" pitchFamily="18" charset="0"/>
                          <a:cs typeface="Times New Roman" panose="02020603050405020304" pitchFamily="18" charset="0"/>
                        </a:rPr>
                        <a:t>Core Focus</a:t>
                      </a:r>
                      <a:endParaRPr lang="en-IN" sz="1400" i="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r>
                        <a:rPr lang="en-US" sz="1400" i="0">
                          <a:solidFill>
                            <a:schemeClr val="tx1"/>
                          </a:solidFill>
                          <a:latin typeface="Times New Roman" panose="02020603050405020304" pitchFamily="18" charset="0"/>
                          <a:cs typeface="Times New Roman" panose="02020603050405020304" pitchFamily="18" charset="0"/>
                        </a:rPr>
                        <a:t>Regulates </a:t>
                      </a:r>
                      <a:r>
                        <a:rPr lang="en-US" sz="1400" b="1" i="0">
                          <a:solidFill>
                            <a:schemeClr val="tx1"/>
                          </a:solidFill>
                          <a:latin typeface="Times New Roman" panose="02020603050405020304" pitchFamily="18" charset="0"/>
                          <a:cs typeface="Times New Roman" panose="02020603050405020304" pitchFamily="18" charset="0"/>
                        </a:rPr>
                        <a:t>all actions</a:t>
                      </a:r>
                      <a:r>
                        <a:rPr lang="en-US" sz="1400" i="0">
                          <a:solidFill>
                            <a:schemeClr val="tx1"/>
                          </a:solidFill>
                          <a:latin typeface="Times New Roman" panose="02020603050405020304" pitchFamily="18" charset="0"/>
                          <a:cs typeface="Times New Roman" panose="02020603050405020304" pitchFamily="18" charset="0"/>
                        </a:rPr>
                        <a:t> (collecting, storing, profiling, deleting).</a:t>
                      </a:r>
                    </a:p>
                  </a:txBody>
                  <a:tcPr anchor="ctr"/>
                </a:tc>
                <a:tc>
                  <a:txBody>
                    <a:bodyPr/>
                    <a:lstStyle/>
                    <a:p>
                      <a:r>
                        <a:rPr lang="en-US" sz="1400" i="0" dirty="0">
                          <a:solidFill>
                            <a:schemeClr val="tx1"/>
                          </a:solidFill>
                          <a:latin typeface="Times New Roman" panose="02020603050405020304" pitchFamily="18" charset="0"/>
                          <a:cs typeface="Times New Roman" panose="02020603050405020304" pitchFamily="18" charset="0"/>
                        </a:rPr>
                        <a:t>Focuses on </a:t>
                      </a:r>
                      <a:r>
                        <a:rPr lang="en-US" sz="1400" b="1" i="0" dirty="0">
                          <a:solidFill>
                            <a:schemeClr val="tx1"/>
                          </a:solidFill>
                          <a:latin typeface="Times New Roman" panose="02020603050405020304" pitchFamily="18" charset="0"/>
                          <a:cs typeface="Times New Roman" panose="02020603050405020304" pitchFamily="18" charset="0"/>
                        </a:rPr>
                        <a:t>collection, business use, and the sale/sharing</a:t>
                      </a:r>
                      <a:r>
                        <a:rPr lang="en-US" sz="1400" i="0" dirty="0">
                          <a:solidFill>
                            <a:schemeClr val="tx1"/>
                          </a:solidFill>
                          <a:latin typeface="Times New Roman" panose="02020603050405020304" pitchFamily="18" charset="0"/>
                          <a:cs typeface="Times New Roman" panose="02020603050405020304" pitchFamily="18" charset="0"/>
                        </a:rPr>
                        <a:t> of data.</a:t>
                      </a:r>
                    </a:p>
                  </a:txBody>
                  <a:tcPr anchor="ctr"/>
                </a:tc>
                <a:extLst>
                  <a:ext uri="{0D108BD9-81ED-4DB2-BD59-A6C34878D82A}">
                    <a16:rowId xmlns:a16="http://schemas.microsoft.com/office/drawing/2014/main" val="2034493810"/>
                  </a:ext>
                </a:extLst>
              </a:tr>
              <a:tr h="370840">
                <a:tc>
                  <a:txBody>
                    <a:bodyPr/>
                    <a:lstStyle/>
                    <a:p>
                      <a:pPr algn="ctr"/>
                      <a:r>
                        <a:rPr lang="en-IN" sz="1400" b="1" i="0" dirty="0">
                          <a:solidFill>
                            <a:schemeClr val="tx1"/>
                          </a:solidFill>
                          <a:latin typeface="Times New Roman" panose="02020603050405020304" pitchFamily="18" charset="0"/>
                          <a:cs typeface="Times New Roman" panose="02020603050405020304" pitchFamily="18" charset="0"/>
                        </a:rPr>
                        <a:t>User Rights</a:t>
                      </a:r>
                      <a:endParaRPr lang="en-IN" sz="1400" i="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r>
                        <a:rPr lang="en-US" sz="1400" i="0">
                          <a:solidFill>
                            <a:schemeClr val="tx1"/>
                          </a:solidFill>
                          <a:latin typeface="Times New Roman" panose="02020603050405020304" pitchFamily="18" charset="0"/>
                          <a:cs typeface="Times New Roman" panose="02020603050405020304" pitchFamily="18" charset="0"/>
                        </a:rPr>
                        <a:t>Includes the right to withdraw consent and the "Right to be Forgotten" (deletion).</a:t>
                      </a:r>
                    </a:p>
                  </a:txBody>
                  <a:tcPr anchor="ctr"/>
                </a:tc>
                <a:tc>
                  <a:txBody>
                    <a:bodyPr/>
                    <a:lstStyle/>
                    <a:p>
                      <a:r>
                        <a:rPr lang="en-US" sz="1400" i="0" dirty="0">
                          <a:solidFill>
                            <a:schemeClr val="tx1"/>
                          </a:solidFill>
                          <a:latin typeface="Times New Roman" panose="02020603050405020304" pitchFamily="18" charset="0"/>
                          <a:cs typeface="Times New Roman" panose="02020603050405020304" pitchFamily="18" charset="0"/>
                        </a:rPr>
                        <a:t>Includes the "Right to Know" what was collected/sold over the </a:t>
                      </a:r>
                      <a:r>
                        <a:rPr lang="en-US" sz="1400" b="1" i="0" dirty="0">
                          <a:solidFill>
                            <a:schemeClr val="tx1"/>
                          </a:solidFill>
                          <a:latin typeface="Times New Roman" panose="02020603050405020304" pitchFamily="18" charset="0"/>
                          <a:cs typeface="Times New Roman" panose="02020603050405020304" pitchFamily="18" charset="0"/>
                        </a:rPr>
                        <a:t>last 12 months</a:t>
                      </a:r>
                      <a:r>
                        <a:rPr lang="en-US" sz="1400" i="0" dirty="0">
                          <a:solidFill>
                            <a:schemeClr val="tx1"/>
                          </a:solidFill>
                          <a:latin typeface="Times New Roman" panose="02020603050405020304" pitchFamily="18" charset="0"/>
                          <a:cs typeface="Times New Roman" panose="02020603050405020304" pitchFamily="18" charset="0"/>
                        </a:rPr>
                        <a:t>.</a:t>
                      </a:r>
                    </a:p>
                  </a:txBody>
                  <a:tcPr anchor="ctr"/>
                </a:tc>
                <a:extLst>
                  <a:ext uri="{0D108BD9-81ED-4DB2-BD59-A6C34878D82A}">
                    <a16:rowId xmlns:a16="http://schemas.microsoft.com/office/drawing/2014/main" val="4158969048"/>
                  </a:ext>
                </a:extLst>
              </a:tr>
              <a:tr h="370840">
                <a:tc>
                  <a:txBody>
                    <a:bodyPr/>
                    <a:lstStyle/>
                    <a:p>
                      <a:pPr algn="ctr"/>
                      <a:r>
                        <a:rPr lang="en-IN" sz="1400" b="1" i="0" dirty="0">
                          <a:solidFill>
                            <a:schemeClr val="tx1"/>
                          </a:solidFill>
                          <a:latin typeface="Times New Roman" panose="02020603050405020304" pitchFamily="18" charset="0"/>
                          <a:cs typeface="Times New Roman" panose="02020603050405020304" pitchFamily="18" charset="0"/>
                        </a:rPr>
                        <a:t>Penalties</a:t>
                      </a:r>
                      <a:endParaRPr lang="en-IN" sz="1400" i="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r>
                        <a:rPr lang="en-US" sz="1400" i="0">
                          <a:solidFill>
                            <a:schemeClr val="tx1"/>
                          </a:solidFill>
                          <a:latin typeface="Times New Roman" panose="02020603050405020304" pitchFamily="18" charset="0"/>
                          <a:cs typeface="Times New Roman" panose="02020603050405020304" pitchFamily="18" charset="0"/>
                        </a:rPr>
                        <a:t>High fines based on </a:t>
                      </a:r>
                      <a:r>
                        <a:rPr lang="en-US" sz="1400" b="1" i="0">
                          <a:solidFill>
                            <a:schemeClr val="tx1"/>
                          </a:solidFill>
                          <a:latin typeface="Times New Roman" panose="02020603050405020304" pitchFamily="18" charset="0"/>
                          <a:cs typeface="Times New Roman" panose="02020603050405020304" pitchFamily="18" charset="0"/>
                        </a:rPr>
                        <a:t>global turnover</a:t>
                      </a:r>
                      <a:r>
                        <a:rPr lang="en-US" sz="1400" i="0">
                          <a:solidFill>
                            <a:schemeClr val="tx1"/>
                          </a:solidFill>
                          <a:latin typeface="Times New Roman" panose="02020603050405020304" pitchFamily="18" charset="0"/>
                          <a:cs typeface="Times New Roman" panose="02020603050405020304" pitchFamily="18" charset="0"/>
                        </a:rPr>
                        <a:t> (up to 4% of annual revenue).</a:t>
                      </a:r>
                    </a:p>
                  </a:txBody>
                  <a:tcPr anchor="ctr"/>
                </a:tc>
                <a:tc>
                  <a:txBody>
                    <a:bodyPr/>
                    <a:lstStyle/>
                    <a:p>
                      <a:r>
                        <a:rPr lang="en-IN" sz="1400" b="1" i="0" dirty="0">
                          <a:solidFill>
                            <a:schemeClr val="tx1"/>
                          </a:solidFill>
                          <a:latin typeface="Times New Roman" panose="02020603050405020304" pitchFamily="18" charset="0"/>
                          <a:cs typeface="Times New Roman" panose="02020603050405020304" pitchFamily="18" charset="0"/>
                        </a:rPr>
                        <a:t>Fixed fines</a:t>
                      </a:r>
                      <a:r>
                        <a:rPr lang="en-IN" sz="1400" i="0" dirty="0">
                          <a:solidFill>
                            <a:schemeClr val="tx1"/>
                          </a:solidFill>
                          <a:latin typeface="Times New Roman" panose="02020603050405020304" pitchFamily="18" charset="0"/>
                          <a:cs typeface="Times New Roman" panose="02020603050405020304" pitchFamily="18" charset="0"/>
                        </a:rPr>
                        <a:t> per violation (e.g., $2,500 to $7,500 per incident).</a:t>
                      </a:r>
                    </a:p>
                  </a:txBody>
                  <a:tcPr anchor="ctr"/>
                </a:tc>
                <a:extLst>
                  <a:ext uri="{0D108BD9-81ED-4DB2-BD59-A6C34878D82A}">
                    <a16:rowId xmlns:a16="http://schemas.microsoft.com/office/drawing/2014/main" val="3156598794"/>
                  </a:ext>
                </a:extLst>
              </a:tr>
            </a:tbl>
          </a:graphicData>
        </a:graphic>
      </p:graphicFrame>
    </p:spTree>
    <p:extLst>
      <p:ext uri="{BB962C8B-B14F-4D97-AF65-F5344CB8AC3E}">
        <p14:creationId xmlns:p14="http://schemas.microsoft.com/office/powerpoint/2010/main" val="424873257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0B984-258A-8D4C-D19C-975CCA61E4B9}"/>
              </a:ext>
            </a:extLst>
          </p:cNvPr>
          <p:cNvSpPr>
            <a:spLocks noGrp="1"/>
          </p:cNvSpPr>
          <p:nvPr>
            <p:ph type="title"/>
          </p:nvPr>
        </p:nvSpPr>
        <p:spPr>
          <a:xfrm>
            <a:off x="457200" y="123478"/>
            <a:ext cx="7467600" cy="565571"/>
          </a:xfrm>
        </p:spPr>
        <p:txBody>
          <a:bodyPr>
            <a:normAutofit/>
          </a:bodyPr>
          <a:lstStyle/>
          <a:p>
            <a:r>
              <a:rPr lang="en-US" sz="2600" b="1" dirty="0">
                <a:solidFill>
                  <a:schemeClr val="accent1">
                    <a:lumMod val="75000"/>
                  </a:schemeClr>
                </a:solidFill>
              </a:rPr>
              <a:t>Similarities Between CCPA and GDPR</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64779950-1F43-A544-919A-670DBB1437E2}"/>
              </a:ext>
            </a:extLst>
          </p:cNvPr>
          <p:cNvSpPr>
            <a:spLocks noGrp="1"/>
          </p:cNvSpPr>
          <p:nvPr>
            <p:ph sz="quarter" idx="1"/>
          </p:nvPr>
        </p:nvSpPr>
        <p:spPr>
          <a:xfrm>
            <a:off x="457200" y="761057"/>
            <a:ext cx="7715200" cy="3655314"/>
          </a:xfrm>
        </p:spPr>
        <p:txBody>
          <a:bodyPr>
            <a:noAutofit/>
          </a:bodyPr>
          <a:lstStyle/>
          <a:p>
            <a:pPr marL="0" indent="0">
              <a:spcAft>
                <a:spcPts val="600"/>
              </a:spcAft>
              <a:buSzPct val="100000"/>
              <a:buNone/>
            </a:pPr>
            <a:r>
              <a:rPr lang="en-US" sz="1400" dirty="0"/>
              <a:t>Despite their different legal mechanisms, the CCPA and GDPR are built on the same core philosophy of digital empowerment and corporate accountability.</a:t>
            </a:r>
          </a:p>
          <a:p>
            <a:pPr>
              <a:spcAft>
                <a:spcPts val="600"/>
              </a:spcAft>
              <a:buSzPct val="100000"/>
              <a:buFont typeface="Wingdings" panose="05000000000000000000" pitchFamily="2" charset="2"/>
              <a:buChar char="¢"/>
            </a:pPr>
            <a:r>
              <a:rPr lang="en-US" sz="1400" b="1" dirty="0"/>
              <a:t>Individual Empowerment:</a:t>
            </a:r>
            <a:r>
              <a:rPr lang="en-US" sz="1400" dirty="0"/>
              <a:t> both laws grant users the power to access, manage, and restrict the use of their digital identities, shifting control from the corporation to the individual.</a:t>
            </a:r>
          </a:p>
          <a:p>
            <a:pPr>
              <a:spcAft>
                <a:spcPts val="600"/>
              </a:spcAft>
              <a:buSzPct val="100000"/>
              <a:buFont typeface="Wingdings" panose="05000000000000000000" pitchFamily="2" charset="2"/>
              <a:buChar char="¢"/>
            </a:pPr>
            <a:r>
              <a:rPr lang="en-US" sz="1400" b="1" dirty="0"/>
              <a:t>Extraterritorial Reach:</a:t>
            </a:r>
            <a:r>
              <a:rPr lang="en-US" sz="1400" dirty="0"/>
              <a:t> Both apply based on </a:t>
            </a:r>
            <a:r>
              <a:rPr lang="en-US" sz="1400" b="1" dirty="0"/>
              <a:t>whose</a:t>
            </a:r>
            <a:r>
              <a:rPr lang="en-US" sz="1400" dirty="0"/>
              <a:t> data is being processed rather than where the business is located. This forces global companies to adhere to these standards if they serve EU or California residents.</a:t>
            </a:r>
          </a:p>
          <a:p>
            <a:pPr>
              <a:spcAft>
                <a:spcPts val="600"/>
              </a:spcAft>
              <a:buSzPct val="100000"/>
              <a:buFont typeface="Wingdings" panose="05000000000000000000" pitchFamily="2" charset="2"/>
              <a:buChar char="¢"/>
            </a:pPr>
            <a:r>
              <a:rPr lang="en-US" sz="1400" b="1" dirty="0"/>
              <a:t>The Right to Delete:</a:t>
            </a:r>
            <a:r>
              <a:rPr lang="en-US" sz="1400" dirty="0"/>
              <a:t> Both frameworks provide a "kill switch" for personal data, allowing users to demand the permanent removal of their information from a company’s systems.</a:t>
            </a:r>
          </a:p>
          <a:p>
            <a:pPr>
              <a:spcAft>
                <a:spcPts val="600"/>
              </a:spcAft>
              <a:buSzPct val="100000"/>
              <a:buFont typeface="Wingdings" panose="05000000000000000000" pitchFamily="2" charset="2"/>
              <a:buChar char="¢"/>
            </a:pPr>
            <a:r>
              <a:rPr lang="en-US" sz="1400" b="1" dirty="0"/>
              <a:t>Transparency Mandates:</a:t>
            </a:r>
            <a:r>
              <a:rPr lang="en-US" sz="1400" dirty="0"/>
              <a:t> Both require clear, plain-language disclosures. Organizations must be "open books" about what data they collect, why they need it, and who they share it with.</a:t>
            </a:r>
          </a:p>
          <a:p>
            <a:pPr>
              <a:spcAft>
                <a:spcPts val="600"/>
              </a:spcAft>
              <a:buSzPct val="100000"/>
              <a:buFont typeface="Wingdings" panose="05000000000000000000" pitchFamily="2" charset="2"/>
              <a:buChar char="¢"/>
            </a:pPr>
            <a:r>
              <a:rPr lang="en-US" sz="1400" b="1" dirty="0"/>
              <a:t>Strict Enforcement:</a:t>
            </a:r>
            <a:r>
              <a:rPr lang="en-US" sz="1400" dirty="0"/>
              <a:t> Both laws establish specific regulatory bodies and impose heavy financial penalties for non-compliance, ensuring that privacy protection is a business necessity.</a:t>
            </a:r>
          </a:p>
          <a:p>
            <a:pPr>
              <a:spcAft>
                <a:spcPts val="600"/>
              </a:spcAft>
              <a:buSzPct val="100000"/>
              <a:buFont typeface="Wingdings" panose="05000000000000000000" pitchFamily="2" charset="2"/>
              <a:buChar char="¢"/>
            </a:pPr>
            <a:r>
              <a:rPr lang="en-US" sz="1400" b="1" dirty="0"/>
              <a:t>Structured Compliance:</a:t>
            </a:r>
            <a:r>
              <a:rPr lang="en-US" sz="1400" dirty="0"/>
              <a:t> They require organizations to implement formal data mapping and security protocols, creating a standardized framework for protecting information assets.</a:t>
            </a:r>
          </a:p>
        </p:txBody>
      </p:sp>
    </p:spTree>
    <p:extLst>
      <p:ext uri="{BB962C8B-B14F-4D97-AF65-F5344CB8AC3E}">
        <p14:creationId xmlns:p14="http://schemas.microsoft.com/office/powerpoint/2010/main" val="162334042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009B9-3DC2-ECB3-C705-36B0D8DE1D39}"/>
              </a:ext>
            </a:extLst>
          </p:cNvPr>
          <p:cNvSpPr>
            <a:spLocks noGrp="1"/>
          </p:cNvSpPr>
          <p:nvPr>
            <p:ph type="title"/>
          </p:nvPr>
        </p:nvSpPr>
        <p:spPr>
          <a:xfrm>
            <a:off x="457200" y="205979"/>
            <a:ext cx="7467600" cy="493563"/>
          </a:xfrm>
        </p:spPr>
        <p:txBody>
          <a:bodyPr>
            <a:noAutofit/>
          </a:bodyPr>
          <a:lstStyle/>
          <a:p>
            <a:r>
              <a:rPr lang="en-US" sz="2600" b="1" dirty="0">
                <a:solidFill>
                  <a:schemeClr val="accent1">
                    <a:lumMod val="75000"/>
                  </a:schemeClr>
                </a:solidFill>
              </a:rPr>
              <a:t>Rights Granted by CCPA and GDPR</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0CE9428E-A95D-2D17-D5E7-D0DFB2286EE0}"/>
              </a:ext>
            </a:extLst>
          </p:cNvPr>
          <p:cNvSpPr>
            <a:spLocks noGrp="1"/>
          </p:cNvSpPr>
          <p:nvPr>
            <p:ph sz="quarter" idx="1"/>
          </p:nvPr>
        </p:nvSpPr>
        <p:spPr>
          <a:xfrm>
            <a:off x="457200" y="781599"/>
            <a:ext cx="7787208" cy="4155922"/>
          </a:xfrm>
        </p:spPr>
        <p:txBody>
          <a:bodyPr>
            <a:noAutofit/>
          </a:bodyPr>
          <a:lstStyle/>
          <a:p>
            <a:pPr>
              <a:spcAft>
                <a:spcPts val="600"/>
              </a:spcAft>
              <a:buSzPct val="100000"/>
              <a:buFont typeface="Wingdings" panose="05000000000000000000" pitchFamily="2" charset="2"/>
              <a:buChar char="¢"/>
            </a:pPr>
            <a:r>
              <a:rPr lang="en-US" sz="1400" b="1" dirty="0"/>
              <a:t>Right to Knowledge (Transparency)</a:t>
            </a:r>
            <a:r>
              <a:rPr lang="en-US" sz="1400" dirty="0"/>
              <a:t> Organizations are legally required to be "open books." They must provide clear, accessible information regarding what data is being collected, the specific purpose for its collection, and who it is being shared with.</a:t>
            </a:r>
          </a:p>
          <a:p>
            <a:pPr>
              <a:spcAft>
                <a:spcPts val="600"/>
              </a:spcAft>
              <a:buSzPct val="100000"/>
              <a:buFont typeface="Wingdings" panose="05000000000000000000" pitchFamily="2" charset="2"/>
              <a:buChar char="¢"/>
            </a:pPr>
            <a:r>
              <a:rPr lang="en-US" sz="1400" b="1" dirty="0"/>
              <a:t>Right to Access</a:t>
            </a:r>
            <a:r>
              <a:rPr lang="en-US" sz="1400" dirty="0"/>
              <a:t> Individuals have the right to confirm if an organization is processing their data and can request a full copy of that information. This allows users to verify exactly what a business knows about them.</a:t>
            </a:r>
          </a:p>
          <a:p>
            <a:pPr>
              <a:spcAft>
                <a:spcPts val="600"/>
              </a:spcAft>
              <a:buSzPct val="100000"/>
              <a:buFont typeface="Wingdings" panose="05000000000000000000" pitchFamily="2" charset="2"/>
              <a:buChar char="¢"/>
            </a:pPr>
            <a:r>
              <a:rPr lang="en-US" sz="1400" b="1" dirty="0"/>
              <a:t>Right to Opt-Out</a:t>
            </a:r>
            <a:r>
              <a:rPr lang="en-US" sz="1400" dirty="0"/>
              <a:t> Users can demand that an organization stop processing their data for specific activities. In the CCPA, this is most famously seen as the right to stop the "sale" of personal information to third parties.</a:t>
            </a:r>
          </a:p>
          <a:p>
            <a:pPr>
              <a:spcAft>
                <a:spcPts val="600"/>
              </a:spcAft>
              <a:buSzPct val="100000"/>
              <a:buFont typeface="Wingdings" panose="05000000000000000000" pitchFamily="2" charset="2"/>
              <a:buChar char="¢"/>
            </a:pPr>
            <a:r>
              <a:rPr lang="en-US" sz="1400" b="1" dirty="0"/>
              <a:t>Right to Portability</a:t>
            </a:r>
            <a:r>
              <a:rPr lang="en-US" sz="1400" dirty="0"/>
              <a:t> This right allows users to request their data in a structured, commonly used, and machine-readable format. This ensures that individuals can easily move their information from one service provider to another without technical barriers.</a:t>
            </a:r>
          </a:p>
          <a:p>
            <a:pPr>
              <a:spcAft>
                <a:spcPts val="600"/>
              </a:spcAft>
              <a:buSzPct val="100000"/>
              <a:buFont typeface="Wingdings" panose="05000000000000000000" pitchFamily="2" charset="2"/>
              <a:buChar char="¢"/>
            </a:pPr>
            <a:r>
              <a:rPr lang="en-US" sz="1400" b="1" dirty="0"/>
              <a:t>Right to Data Erasure (The "Right to be Forgotten")</a:t>
            </a:r>
            <a:r>
              <a:rPr lang="en-US" sz="1400" dirty="0"/>
              <a:t> Under certain conditions, individuals can request the permanent deletion of their personal information. If an organization fails to protect this data or violates these rights, the CCPA specifically allows for statutory damages ranging from </a:t>
            </a:r>
            <a:r>
              <a:rPr lang="en-US" sz="1400" b="1" dirty="0"/>
              <a:t>$100 to $750</a:t>
            </a:r>
            <a:r>
              <a:rPr lang="en-US" sz="1400" dirty="0"/>
              <a:t> per consumer, per incident, in civil court.</a:t>
            </a:r>
          </a:p>
          <a:p>
            <a:endParaRPr lang="en-IN" sz="1400" dirty="0"/>
          </a:p>
        </p:txBody>
      </p:sp>
    </p:spTree>
    <p:extLst>
      <p:ext uri="{BB962C8B-B14F-4D97-AF65-F5344CB8AC3E}">
        <p14:creationId xmlns:p14="http://schemas.microsoft.com/office/powerpoint/2010/main" val="86444300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43A3D-BB11-658F-D1B4-F40FDD27A8F9}"/>
              </a:ext>
            </a:extLst>
          </p:cNvPr>
          <p:cNvSpPr>
            <a:spLocks noGrp="1"/>
          </p:cNvSpPr>
          <p:nvPr>
            <p:ph type="title"/>
          </p:nvPr>
        </p:nvSpPr>
        <p:spPr>
          <a:xfrm>
            <a:off x="457200" y="133971"/>
            <a:ext cx="7931224" cy="493563"/>
          </a:xfrm>
        </p:spPr>
        <p:txBody>
          <a:bodyPr>
            <a:normAutofit/>
          </a:bodyPr>
          <a:lstStyle/>
          <a:p>
            <a:r>
              <a:rPr lang="en-US" sz="2600" b="1" dirty="0">
                <a:solidFill>
                  <a:schemeClr val="accent1">
                    <a:lumMod val="75000"/>
                  </a:schemeClr>
                </a:solidFill>
              </a:rPr>
              <a:t>The Importance of Responsible Data Practices</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0E5AD9F8-3898-3BF8-92CC-4C514EF6E9FE}"/>
              </a:ext>
            </a:extLst>
          </p:cNvPr>
          <p:cNvSpPr>
            <a:spLocks noGrp="1"/>
          </p:cNvSpPr>
          <p:nvPr>
            <p:ph sz="quarter" idx="1"/>
          </p:nvPr>
        </p:nvSpPr>
        <p:spPr>
          <a:xfrm>
            <a:off x="457200" y="716636"/>
            <a:ext cx="7715200" cy="3655314"/>
          </a:xfrm>
        </p:spPr>
        <p:txBody>
          <a:bodyPr>
            <a:normAutofit fontScale="25000" lnSpcReduction="20000"/>
          </a:bodyPr>
          <a:lstStyle/>
          <a:p>
            <a:pPr marR="0" lvl="0" algn="l" defTabSz="914400" rtl="0" eaLnBrk="0" fontAlgn="base" latinLnBrk="0" hangingPunct="0">
              <a:lnSpc>
                <a:spcPct val="120000"/>
              </a:lnSpc>
              <a:spcBef>
                <a:spcPct val="0"/>
              </a:spcBef>
              <a:spcAft>
                <a:spcPts val="600"/>
              </a:spcAft>
              <a:buSzTx/>
              <a:buFont typeface="Wingdings" panose="05000000000000000000" pitchFamily="2" charset="2"/>
              <a:buChar char="¢"/>
              <a:tabLst/>
            </a:pPr>
            <a:r>
              <a:rPr kumimoji="0" lang="en-US" altLang="en-US" sz="5600" b="1" i="0" u="none" strike="noStrike" cap="none" normalizeH="0" baseline="0" dirty="0">
                <a:ln>
                  <a:noFill/>
                </a:ln>
                <a:solidFill>
                  <a:schemeClr val="tx1"/>
                </a:solidFill>
                <a:effectLst/>
                <a:cs typeface="Times New Roman" panose="02020603050405020304" pitchFamily="18" charset="0"/>
              </a:rPr>
              <a:t>Building Customer Trust and Loyalty</a:t>
            </a:r>
            <a:r>
              <a:rPr kumimoji="0" lang="en-US" altLang="en-US" sz="5600" b="0" i="0" u="none" strike="noStrike" cap="none" normalizeH="0" baseline="0" dirty="0">
                <a:ln>
                  <a:noFill/>
                </a:ln>
                <a:solidFill>
                  <a:schemeClr val="tx1"/>
                </a:solidFill>
                <a:effectLst/>
                <a:cs typeface="Times New Roman" panose="02020603050405020304" pitchFamily="18" charset="0"/>
              </a:rPr>
              <a:t> Transparency is a competitive advantage. Since 79% of consumers worry about data handling, ethical practices alleviate these fears, fostering deeper security and brand loyalty.</a:t>
            </a:r>
          </a:p>
          <a:p>
            <a:pPr marR="0" lvl="0" algn="l" defTabSz="914400" rtl="0" eaLnBrk="0" fontAlgn="base" latinLnBrk="0" hangingPunct="0">
              <a:lnSpc>
                <a:spcPct val="120000"/>
              </a:lnSpc>
              <a:spcBef>
                <a:spcPct val="0"/>
              </a:spcBef>
              <a:spcAft>
                <a:spcPts val="600"/>
              </a:spcAft>
              <a:buSzTx/>
              <a:buFont typeface="Wingdings" panose="05000000000000000000" pitchFamily="2" charset="2"/>
              <a:buChar char="¢"/>
              <a:tabLst/>
            </a:pPr>
            <a:r>
              <a:rPr kumimoji="0" lang="en-US" altLang="en-US" sz="5600" b="1" i="0" u="none" strike="noStrike" cap="none" normalizeH="0" baseline="0" dirty="0">
                <a:ln>
                  <a:noFill/>
                </a:ln>
                <a:solidFill>
                  <a:schemeClr val="tx1"/>
                </a:solidFill>
                <a:effectLst/>
                <a:cs typeface="Times New Roman" panose="02020603050405020304" pitchFamily="18" charset="0"/>
              </a:rPr>
              <a:t>Ensuring Legal Compliance</a:t>
            </a:r>
            <a:r>
              <a:rPr kumimoji="0" lang="en-US" altLang="en-US" sz="5600" b="0" i="0" u="none" strike="noStrike" cap="none" normalizeH="0" baseline="0" dirty="0">
                <a:ln>
                  <a:noFill/>
                </a:ln>
                <a:solidFill>
                  <a:schemeClr val="tx1"/>
                </a:solidFill>
                <a:effectLst/>
                <a:cs typeface="Times New Roman" panose="02020603050405020304" pitchFamily="18" charset="0"/>
              </a:rPr>
              <a:t> Laws like </a:t>
            </a:r>
            <a:r>
              <a:rPr kumimoji="0" lang="en-US" altLang="en-US" sz="5600" b="1" i="0" u="none" strike="noStrike" cap="none" normalizeH="0" baseline="0" dirty="0">
                <a:ln>
                  <a:noFill/>
                </a:ln>
                <a:solidFill>
                  <a:schemeClr val="tx1"/>
                </a:solidFill>
                <a:effectLst/>
                <a:cs typeface="Times New Roman" panose="02020603050405020304" pitchFamily="18" charset="0"/>
              </a:rPr>
              <a:t>GDPR</a:t>
            </a:r>
            <a:r>
              <a:rPr kumimoji="0" lang="en-US" altLang="en-US" sz="5600" b="0" i="0" u="none" strike="noStrike" cap="none" normalizeH="0" baseline="0" dirty="0">
                <a:ln>
                  <a:noFill/>
                </a:ln>
                <a:solidFill>
                  <a:schemeClr val="tx1"/>
                </a:solidFill>
                <a:effectLst/>
                <a:cs typeface="Times New Roman" panose="02020603050405020304" pitchFamily="18" charset="0"/>
              </a:rPr>
              <a:t> and </a:t>
            </a:r>
            <a:r>
              <a:rPr kumimoji="0" lang="en-US" altLang="en-US" sz="5600" b="1" i="0" u="none" strike="noStrike" cap="none" normalizeH="0" baseline="0" dirty="0">
                <a:ln>
                  <a:noFill/>
                </a:ln>
                <a:solidFill>
                  <a:schemeClr val="tx1"/>
                </a:solidFill>
                <a:effectLst/>
                <a:cs typeface="Times New Roman" panose="02020603050405020304" pitchFamily="18" charset="0"/>
              </a:rPr>
              <a:t>CCPA</a:t>
            </a:r>
            <a:r>
              <a:rPr kumimoji="0" lang="en-US" altLang="en-US" sz="5600" b="0" i="0" u="none" strike="noStrike" cap="none" normalizeH="0" baseline="0" dirty="0">
                <a:ln>
                  <a:noFill/>
                </a:ln>
                <a:solidFill>
                  <a:schemeClr val="tx1"/>
                </a:solidFill>
                <a:effectLst/>
                <a:cs typeface="Times New Roman" panose="02020603050405020304" pitchFamily="18" charset="0"/>
              </a:rPr>
              <a:t> make ethics a legal requirement. Strict adherence prevents severe financial penalties and protects a company’s reputation from the fallout of non-compliance.</a:t>
            </a:r>
          </a:p>
          <a:p>
            <a:pPr marR="0" lvl="0" algn="l" defTabSz="914400" rtl="0" eaLnBrk="0" fontAlgn="base" latinLnBrk="0" hangingPunct="0">
              <a:lnSpc>
                <a:spcPct val="120000"/>
              </a:lnSpc>
              <a:spcBef>
                <a:spcPct val="0"/>
              </a:spcBef>
              <a:spcAft>
                <a:spcPts val="600"/>
              </a:spcAft>
              <a:buSzTx/>
              <a:buFont typeface="Wingdings" panose="05000000000000000000" pitchFamily="2" charset="2"/>
              <a:buChar char="¢"/>
              <a:tabLst/>
            </a:pPr>
            <a:r>
              <a:rPr kumimoji="0" lang="en-US" altLang="en-US" sz="5600" b="1" i="0" u="none" strike="noStrike" cap="none" normalizeH="0" baseline="0" dirty="0">
                <a:ln>
                  <a:noFill/>
                </a:ln>
                <a:solidFill>
                  <a:schemeClr val="tx1"/>
                </a:solidFill>
                <a:effectLst/>
                <a:cs typeface="Times New Roman" panose="02020603050405020304" pitchFamily="18" charset="0"/>
              </a:rPr>
              <a:t>Enhancing Data Quality</a:t>
            </a:r>
            <a:r>
              <a:rPr kumimoji="0" lang="en-US" altLang="en-US" sz="5600" b="0" i="0" u="none" strike="noStrike" cap="none" normalizeH="0" baseline="0" dirty="0">
                <a:ln>
                  <a:noFill/>
                </a:ln>
                <a:solidFill>
                  <a:schemeClr val="tx1"/>
                </a:solidFill>
                <a:effectLst/>
                <a:cs typeface="Times New Roman" panose="02020603050405020304" pitchFamily="18" charset="0"/>
              </a:rPr>
              <a:t> Ethical collection reduces bias and results in higher-quality data. This leads to more accurate insights and reliable decision-making, directly improving overall business performance.</a:t>
            </a:r>
          </a:p>
          <a:p>
            <a:pPr marR="0" lvl="0" algn="l" defTabSz="914400" rtl="0" eaLnBrk="0" fontAlgn="base" latinLnBrk="0" hangingPunct="0">
              <a:lnSpc>
                <a:spcPct val="120000"/>
              </a:lnSpc>
              <a:spcBef>
                <a:spcPct val="0"/>
              </a:spcBef>
              <a:spcAft>
                <a:spcPts val="600"/>
              </a:spcAft>
              <a:buSzTx/>
              <a:buFont typeface="Wingdings" panose="05000000000000000000" pitchFamily="2" charset="2"/>
              <a:buChar char="¢"/>
              <a:tabLst/>
            </a:pPr>
            <a:r>
              <a:rPr kumimoji="0" lang="en-US" altLang="en-US" sz="5600" b="1" i="0" u="none" strike="noStrike" cap="none" normalizeH="0" baseline="0" dirty="0">
                <a:ln>
                  <a:noFill/>
                </a:ln>
                <a:solidFill>
                  <a:schemeClr val="tx1"/>
                </a:solidFill>
                <a:effectLst/>
                <a:cs typeface="Times New Roman" panose="02020603050405020304" pitchFamily="18" charset="0"/>
              </a:rPr>
              <a:t>Mitigating Breach Risks</a:t>
            </a:r>
            <a:r>
              <a:rPr kumimoji="0" lang="en-US" altLang="en-US" sz="5600" b="0" i="0" u="none" strike="noStrike" cap="none" normalizeH="0" baseline="0" dirty="0">
                <a:ln>
                  <a:noFill/>
                </a:ln>
                <a:solidFill>
                  <a:schemeClr val="tx1"/>
                </a:solidFill>
                <a:effectLst/>
                <a:cs typeface="Times New Roman" panose="02020603050405020304" pitchFamily="18" charset="0"/>
              </a:rPr>
              <a:t> Responsibility requires strong security, such as encryption and access controls. This proactive approach safeguards sensitive info from cyberattacks and maintains brand integrity.</a:t>
            </a:r>
          </a:p>
          <a:p>
            <a:pPr marR="0" lvl="0" algn="l" defTabSz="914400" rtl="0" eaLnBrk="0" fontAlgn="base" latinLnBrk="0" hangingPunct="0">
              <a:lnSpc>
                <a:spcPct val="120000"/>
              </a:lnSpc>
              <a:spcBef>
                <a:spcPct val="0"/>
              </a:spcBef>
              <a:spcAft>
                <a:spcPts val="600"/>
              </a:spcAft>
              <a:buSzTx/>
              <a:buFont typeface="Wingdings" panose="05000000000000000000" pitchFamily="2" charset="2"/>
              <a:buChar char="¢"/>
              <a:tabLst/>
            </a:pPr>
            <a:r>
              <a:rPr kumimoji="0" lang="en-US" altLang="en-US" sz="5600" b="1" i="0" u="none" strike="noStrike" cap="none" normalizeH="0" baseline="0" dirty="0">
                <a:ln>
                  <a:noFill/>
                </a:ln>
                <a:solidFill>
                  <a:schemeClr val="tx1"/>
                </a:solidFill>
                <a:effectLst/>
                <a:cs typeface="Times New Roman" panose="02020603050405020304" pitchFamily="18" charset="0"/>
              </a:rPr>
              <a:t>Promoting Ethical AI</a:t>
            </a:r>
            <a:r>
              <a:rPr kumimoji="0" lang="en-US" altLang="en-US" sz="5600" b="0" i="0" u="none" strike="noStrike" cap="none" normalizeH="0" baseline="0" dirty="0">
                <a:ln>
                  <a:noFill/>
                </a:ln>
                <a:solidFill>
                  <a:schemeClr val="tx1"/>
                </a:solidFill>
                <a:effectLst/>
                <a:cs typeface="Times New Roman" panose="02020603050405020304" pitchFamily="18" charset="0"/>
              </a:rPr>
              <a:t> As businesses lean on AI, scrutinizing algorithms for bias is vital. Accountability in AI usage prevents discriminatory outcomes while leveraging technology effectively.</a:t>
            </a:r>
          </a:p>
          <a:p>
            <a:pPr marR="0" lvl="0" algn="l" defTabSz="914400" rtl="0" eaLnBrk="0" fontAlgn="base" latinLnBrk="0" hangingPunct="0">
              <a:lnSpc>
                <a:spcPct val="120000"/>
              </a:lnSpc>
              <a:spcBef>
                <a:spcPct val="0"/>
              </a:spcBef>
              <a:spcAft>
                <a:spcPts val="600"/>
              </a:spcAft>
              <a:buSzTx/>
              <a:buFont typeface="Wingdings" panose="05000000000000000000" pitchFamily="2" charset="2"/>
              <a:buChar char="¢"/>
              <a:tabLst/>
            </a:pPr>
            <a:r>
              <a:rPr kumimoji="0" lang="en-US" altLang="en-US" sz="5600" b="1" i="0" u="none" strike="noStrike" cap="none" normalizeH="0" baseline="0" dirty="0">
                <a:ln>
                  <a:noFill/>
                </a:ln>
                <a:solidFill>
                  <a:schemeClr val="tx1"/>
                </a:solidFill>
                <a:effectLst/>
                <a:cs typeface="Times New Roman" panose="02020603050405020304" pitchFamily="18" charset="0"/>
              </a:rPr>
              <a:t>Fostering Continuous Education</a:t>
            </a:r>
            <a:r>
              <a:rPr kumimoji="0" lang="en-US" altLang="en-US" sz="5600" b="0" i="0" u="none" strike="noStrike" cap="none" normalizeH="0" baseline="0" dirty="0">
                <a:ln>
                  <a:noFill/>
                </a:ln>
                <a:solidFill>
                  <a:schemeClr val="tx1"/>
                </a:solidFill>
                <a:effectLst/>
                <a:cs typeface="Times New Roman" panose="02020603050405020304" pitchFamily="18" charset="0"/>
              </a:rPr>
              <a:t> The data landscape evolves rapidly. Ongoing employee training on privacy laws and ethical handling ensures that responsible data practices remain a core organizational reflex.</a:t>
            </a:r>
          </a:p>
          <a:p>
            <a:pPr>
              <a:lnSpc>
                <a:spcPct val="120000"/>
              </a:lnSpc>
            </a:pPr>
            <a:endParaRPr lang="en-IN" dirty="0"/>
          </a:p>
        </p:txBody>
      </p:sp>
    </p:spTree>
    <p:extLst>
      <p:ext uri="{BB962C8B-B14F-4D97-AF65-F5344CB8AC3E}">
        <p14:creationId xmlns:p14="http://schemas.microsoft.com/office/powerpoint/2010/main" val="424665218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A27DD-A4E3-D6D5-99CF-4280E3BCA267}"/>
              </a:ext>
            </a:extLst>
          </p:cNvPr>
          <p:cNvSpPr>
            <a:spLocks noGrp="1"/>
          </p:cNvSpPr>
          <p:nvPr>
            <p:ph type="title"/>
          </p:nvPr>
        </p:nvSpPr>
        <p:spPr>
          <a:xfrm>
            <a:off x="457200" y="79057"/>
            <a:ext cx="8075240" cy="565571"/>
          </a:xfrm>
        </p:spPr>
        <p:txBody>
          <a:bodyPr>
            <a:normAutofit/>
          </a:bodyPr>
          <a:lstStyle/>
          <a:p>
            <a:r>
              <a:rPr lang="en-US" sz="2600" b="1" dirty="0">
                <a:solidFill>
                  <a:schemeClr val="accent1">
                    <a:lumMod val="75000"/>
                  </a:schemeClr>
                </a:solidFill>
              </a:rPr>
              <a:t>Steps to Implement Responsible Data Practices</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C41C2E34-6603-86A7-38B7-C978E01D984C}"/>
              </a:ext>
            </a:extLst>
          </p:cNvPr>
          <p:cNvSpPr>
            <a:spLocks noGrp="1"/>
          </p:cNvSpPr>
          <p:nvPr>
            <p:ph sz="quarter" idx="1"/>
          </p:nvPr>
        </p:nvSpPr>
        <p:spPr>
          <a:xfrm>
            <a:off x="457200" y="644628"/>
            <a:ext cx="7715200" cy="3655314"/>
          </a:xfrm>
        </p:spPr>
        <p:txBody>
          <a:bodyPr>
            <a:noAutofit/>
          </a:bodyPr>
          <a:lstStyle/>
          <a:p>
            <a:pPr marL="0" indent="0">
              <a:spcBef>
                <a:spcPts val="0"/>
              </a:spcBef>
              <a:spcAft>
                <a:spcPts val="600"/>
              </a:spcAft>
              <a:buNone/>
            </a:pPr>
            <a:r>
              <a:rPr lang="en-US" sz="1400" dirty="0"/>
              <a:t>Implementing a responsible framework requires a shift from passive data collection to active, ethical management. The following steps provide a roadmap for organizations to align with global standards.</a:t>
            </a:r>
          </a:p>
          <a:p>
            <a:pPr marL="400050" indent="-400050">
              <a:spcBef>
                <a:spcPts val="0"/>
              </a:spcBef>
              <a:spcAft>
                <a:spcPts val="600"/>
              </a:spcAft>
              <a:buSzPct val="100000"/>
              <a:buFont typeface="+mj-lt"/>
              <a:buAutoNum type="romanLcPeriod"/>
            </a:pPr>
            <a:r>
              <a:rPr lang="en-US" sz="1400" b="1" dirty="0"/>
              <a:t>Developing a Data Management Plan (DMP)</a:t>
            </a:r>
            <a:r>
              <a:rPr lang="en-US" sz="1400" dirty="0"/>
              <a:t> A DMP acts as the blueprint for the entire data lifecycle. It outlines how data is collected, organized, stored, and preserved. Success requires collaboration between IT, legal, and data owners to define handling procedures and sharing policies.</a:t>
            </a:r>
          </a:p>
          <a:p>
            <a:pPr marL="400050" indent="-400050">
              <a:spcBef>
                <a:spcPts val="0"/>
              </a:spcBef>
              <a:spcAft>
                <a:spcPts val="600"/>
              </a:spcAft>
              <a:buSzPct val="100000"/>
              <a:buFont typeface="+mj-lt"/>
              <a:buAutoNum type="romanLcPeriod"/>
            </a:pPr>
            <a:r>
              <a:rPr lang="en-US" sz="1400" b="1" dirty="0"/>
              <a:t>Enforcing Data Privacy Policies</a:t>
            </a:r>
            <a:r>
              <a:rPr lang="en-US" sz="1400" dirty="0"/>
              <a:t> Clear policies must be established to dictate exactly how personal data is handled in compliance with laws like GDPR and CCPA. These policies should prioritize obtaining explicit consent and providing simple opt-out mechanisms for users.</a:t>
            </a:r>
          </a:p>
          <a:p>
            <a:pPr marL="400050" indent="-400050">
              <a:spcBef>
                <a:spcPts val="0"/>
              </a:spcBef>
              <a:spcAft>
                <a:spcPts val="600"/>
              </a:spcAft>
              <a:buSzPct val="100000"/>
              <a:buFont typeface="+mj-lt"/>
              <a:buAutoNum type="romanLcPeriod"/>
            </a:pPr>
            <a:r>
              <a:rPr lang="en-US" sz="1400" b="1" dirty="0"/>
              <a:t>Ensuring Robust Data Security</a:t>
            </a:r>
            <a:r>
              <a:rPr lang="en-US" sz="1400" dirty="0"/>
              <a:t> </a:t>
            </a:r>
            <a:r>
              <a:rPr lang="en-US" sz="1400" dirty="0" err="1"/>
              <a:t>Security</a:t>
            </a:r>
            <a:r>
              <a:rPr lang="en-US" sz="1400" dirty="0"/>
              <a:t> is a technical necessity. Organizations must conduct frequent risk assessments to find vulnerabilities and apply strong defenses like encryption and multi-factor authentication.</a:t>
            </a:r>
          </a:p>
          <a:p>
            <a:pPr marL="400050" indent="-400050">
              <a:spcBef>
                <a:spcPts val="0"/>
              </a:spcBef>
              <a:spcAft>
                <a:spcPts val="600"/>
              </a:spcAft>
              <a:buSzPct val="100000"/>
              <a:buFont typeface="+mj-lt"/>
              <a:buAutoNum type="romanLcPeriod"/>
            </a:pPr>
            <a:r>
              <a:rPr lang="en-US" sz="1400" b="1" dirty="0"/>
              <a:t>Respecting Individual Privacy Rights</a:t>
            </a:r>
            <a:r>
              <a:rPr lang="en-US" sz="1400" dirty="0"/>
              <a:t> Transparency is non-negotiable. Organizations must respect the individual's right to access, correct, or delete their information. A clear, plain-language privacy policy is the primary tool for building this trust.</a:t>
            </a:r>
          </a:p>
          <a:p>
            <a:pPr marL="400050" indent="-400050">
              <a:spcBef>
                <a:spcPts val="0"/>
              </a:spcBef>
              <a:spcAft>
                <a:spcPts val="600"/>
              </a:spcAft>
              <a:buSzPct val="100000"/>
              <a:buFont typeface="+mj-lt"/>
              <a:buAutoNum type="romanLcPeriod"/>
            </a:pPr>
            <a:r>
              <a:rPr lang="en-US" sz="1400" b="1" dirty="0"/>
              <a:t>Regular Reviews and Audits</a:t>
            </a:r>
            <a:r>
              <a:rPr lang="en-US" sz="1400" dirty="0"/>
              <a:t> Data practices are not "set and forget." Regular audits ensure that information remains accurate and that procedures stay compliant with evolving laws. These reviews help identify and fix policy gaps before they become liabilities.</a:t>
            </a:r>
          </a:p>
        </p:txBody>
      </p:sp>
    </p:spTree>
    <p:extLst>
      <p:ext uri="{BB962C8B-B14F-4D97-AF65-F5344CB8AC3E}">
        <p14:creationId xmlns:p14="http://schemas.microsoft.com/office/powerpoint/2010/main" val="41149992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DD8E1-FE48-33D7-2206-F2651CB19205}"/>
              </a:ext>
            </a:extLst>
          </p:cNvPr>
          <p:cNvSpPr>
            <a:spLocks noGrp="1"/>
          </p:cNvSpPr>
          <p:nvPr>
            <p:ph type="title"/>
          </p:nvPr>
        </p:nvSpPr>
        <p:spPr>
          <a:xfrm>
            <a:off x="457200" y="205979"/>
            <a:ext cx="7467600" cy="857250"/>
          </a:xfrm>
        </p:spPr>
        <p:txBody>
          <a:bodyPr>
            <a:noAutofit/>
          </a:bodyPr>
          <a:lstStyle/>
          <a:p>
            <a:r>
              <a:rPr lang="en-US" sz="2600" b="1" dirty="0">
                <a:solidFill>
                  <a:schemeClr val="accent1">
                    <a:lumMod val="75000"/>
                  </a:schemeClr>
                </a:solidFill>
              </a:rPr>
              <a:t>The Role of Technology in Responsible Data Practices</a:t>
            </a:r>
            <a:endParaRPr lang="en-IN" sz="2600" dirty="0">
              <a:solidFill>
                <a:schemeClr val="accent1">
                  <a:lumMod val="75000"/>
                </a:schemeClr>
              </a:solidFill>
            </a:endParaRPr>
          </a:p>
        </p:txBody>
      </p:sp>
      <p:sp>
        <p:nvSpPr>
          <p:cNvPr id="3" name="Content Placeholder 2">
            <a:extLst>
              <a:ext uri="{FF2B5EF4-FFF2-40B4-BE49-F238E27FC236}">
                <a16:creationId xmlns:a16="http://schemas.microsoft.com/office/drawing/2014/main" id="{460235F1-58ED-1C7A-F381-F65C6BDBB66C}"/>
              </a:ext>
            </a:extLst>
          </p:cNvPr>
          <p:cNvSpPr>
            <a:spLocks noGrp="1"/>
          </p:cNvSpPr>
          <p:nvPr>
            <p:ph sz="quarter" idx="1"/>
          </p:nvPr>
        </p:nvSpPr>
        <p:spPr>
          <a:xfrm>
            <a:off x="457200" y="1076676"/>
            <a:ext cx="7467600" cy="3655314"/>
          </a:xfrm>
        </p:spPr>
        <p:txBody>
          <a:bodyPr>
            <a:noAutofit/>
          </a:bodyPr>
          <a:lstStyle/>
          <a:p>
            <a:pPr marL="0" indent="0">
              <a:buNone/>
            </a:pPr>
            <a:r>
              <a:rPr lang="en-US" sz="1400" dirty="0"/>
              <a:t>Technology transforms ethical concepts into functional, scalable safeguards that protect both the user and the organization.</a:t>
            </a:r>
          </a:p>
          <a:p>
            <a:pPr>
              <a:buSzPct val="100000"/>
              <a:buFont typeface="Wingdings" panose="05000000000000000000" pitchFamily="2" charset="2"/>
              <a:buChar char="¢"/>
            </a:pPr>
            <a:r>
              <a:rPr lang="en-US" sz="1400" b="1" dirty="0"/>
              <a:t>Standardized Privacy Protocols:</a:t>
            </a:r>
            <a:r>
              <a:rPr lang="en-US" sz="1400" dirty="0"/>
              <a:t> Encryption standards like </a:t>
            </a:r>
            <a:r>
              <a:rPr lang="en-US" sz="1400" b="1" dirty="0"/>
              <a:t>AES</a:t>
            </a:r>
            <a:r>
              <a:rPr lang="en-US" sz="1400" dirty="0"/>
              <a:t> and </a:t>
            </a:r>
            <a:r>
              <a:rPr lang="en-US" sz="1400" b="1" dirty="0"/>
              <a:t>SSL/TLS</a:t>
            </a:r>
            <a:r>
              <a:rPr lang="en-US" sz="1400" dirty="0"/>
              <a:t> ensure that sensitive data remains unreadable to unauthorized parties during storage and transmission.</a:t>
            </a:r>
          </a:p>
          <a:p>
            <a:pPr>
              <a:buSzPct val="100000"/>
              <a:buFont typeface="Wingdings" panose="05000000000000000000" pitchFamily="2" charset="2"/>
              <a:buChar char="¢"/>
            </a:pPr>
            <a:r>
              <a:rPr lang="en-US" sz="1400" b="1" dirty="0"/>
              <a:t>Automated Minimization and Ethical AI:</a:t>
            </a:r>
            <a:r>
              <a:rPr lang="en-US" sz="1400" dirty="0"/>
              <a:t> Systems can be programmed to automatically filter and collect only essential data. Additionally, auditing tools help developers detect and mitigate bias in AI algorithms before deployment.</a:t>
            </a:r>
          </a:p>
          <a:p>
            <a:pPr>
              <a:buSzPct val="100000"/>
              <a:buFont typeface="Wingdings" panose="05000000000000000000" pitchFamily="2" charset="2"/>
              <a:buChar char="¢"/>
            </a:pPr>
            <a:r>
              <a:rPr lang="en-US" sz="1400" b="1" dirty="0"/>
              <a:t>User-Centric Privacy Design:</a:t>
            </a:r>
            <a:r>
              <a:rPr lang="en-US" sz="1400" dirty="0"/>
              <a:t> Modern tech empowers users through intuitive dashboards, making consent management and privacy settings simple and accessible rather than hidden in legal text.</a:t>
            </a:r>
          </a:p>
          <a:p>
            <a:pPr>
              <a:buSzPct val="100000"/>
              <a:buFont typeface="Wingdings" panose="05000000000000000000" pitchFamily="2" charset="2"/>
              <a:buChar char="¢"/>
            </a:pPr>
            <a:r>
              <a:rPr lang="en-US" sz="1400" b="1" dirty="0"/>
              <a:t>Automated Compliance Monitoring:</a:t>
            </a:r>
            <a:r>
              <a:rPr lang="en-US" sz="1400" dirty="0"/>
              <a:t> Integrated tools automate the tracking and auditing required for </a:t>
            </a:r>
            <a:r>
              <a:rPr lang="en-US" sz="1400" b="1" dirty="0"/>
              <a:t>GDPR</a:t>
            </a:r>
            <a:r>
              <a:rPr lang="en-US" sz="1400" dirty="0"/>
              <a:t> and </a:t>
            </a:r>
            <a:r>
              <a:rPr lang="en-US" sz="1400" b="1" dirty="0"/>
              <a:t>CCPA</a:t>
            </a:r>
            <a:r>
              <a:rPr lang="en-US" sz="1400" dirty="0"/>
              <a:t>, ensuring consistent adherence to evolving laws without constant manual oversight.</a:t>
            </a:r>
          </a:p>
          <a:p>
            <a:pPr>
              <a:buSzPct val="100000"/>
              <a:buFont typeface="Wingdings" panose="05000000000000000000" pitchFamily="2" charset="2"/>
              <a:buChar char="¢"/>
            </a:pPr>
            <a:r>
              <a:rPr lang="en-US" sz="1400" b="1" dirty="0"/>
              <a:t>Sector-Wide Collaboration:</a:t>
            </a:r>
            <a:r>
              <a:rPr lang="en-US" sz="1400" dirty="0"/>
              <a:t> Partnerships between tech providers and regulators create industry standards that ensure privacy protections keep pace with rapid technological advancements.</a:t>
            </a:r>
          </a:p>
          <a:p>
            <a:pPr marL="0" indent="0">
              <a:buNone/>
            </a:pPr>
            <a:endParaRPr lang="en-US" sz="1400" dirty="0"/>
          </a:p>
        </p:txBody>
      </p:sp>
    </p:spTree>
    <p:extLst>
      <p:ext uri="{BB962C8B-B14F-4D97-AF65-F5344CB8AC3E}">
        <p14:creationId xmlns:p14="http://schemas.microsoft.com/office/powerpoint/2010/main" val="423170048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21DB5-4957-03FE-8F14-1E5F8AE46E32}"/>
              </a:ext>
            </a:extLst>
          </p:cNvPr>
          <p:cNvSpPr>
            <a:spLocks noGrp="1"/>
          </p:cNvSpPr>
          <p:nvPr>
            <p:ph type="title"/>
          </p:nvPr>
        </p:nvSpPr>
        <p:spPr/>
        <p:txBody>
          <a:bodyPr>
            <a:noAutofit/>
          </a:bodyPr>
          <a:lstStyle/>
          <a:p>
            <a:r>
              <a:rPr lang="en-US" sz="2600" b="1" dirty="0">
                <a:solidFill>
                  <a:schemeClr val="accent1">
                    <a:lumMod val="75000"/>
                  </a:schemeClr>
                </a:solidFill>
              </a:rPr>
              <a:t>Challenges in Implementing Responsible Data Practices</a:t>
            </a:r>
            <a:endParaRPr lang="en-IN" sz="2600" dirty="0">
              <a:solidFill>
                <a:schemeClr val="accent1">
                  <a:lumMod val="75000"/>
                </a:schemeClr>
              </a:solidFill>
            </a:endParaRPr>
          </a:p>
        </p:txBody>
      </p:sp>
      <p:sp>
        <p:nvSpPr>
          <p:cNvPr id="6" name="Rectangle 3">
            <a:extLst>
              <a:ext uri="{FF2B5EF4-FFF2-40B4-BE49-F238E27FC236}">
                <a16:creationId xmlns:a16="http://schemas.microsoft.com/office/drawing/2014/main" id="{D02945BE-1699-EE8E-94C6-9F63359ACBE5}"/>
              </a:ext>
            </a:extLst>
          </p:cNvPr>
          <p:cNvSpPr>
            <a:spLocks noGrp="1" noChangeArrowheads="1"/>
          </p:cNvSpPr>
          <p:nvPr>
            <p:ph sz="quarter" idx="1"/>
          </p:nvPr>
        </p:nvSpPr>
        <p:spPr bwMode="auto">
          <a:xfrm>
            <a:off x="457200" y="1303813"/>
            <a:ext cx="7643192"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Rapid Technological Growth</a:t>
            </a:r>
            <a:r>
              <a:rPr kumimoji="0" lang="en-US" altLang="en-US" sz="1400" b="0" i="0" u="none" strike="noStrike" cap="none" normalizeH="0" baseline="0" dirty="0">
                <a:ln>
                  <a:noFill/>
                </a:ln>
                <a:solidFill>
                  <a:schemeClr val="tx1"/>
                </a:solidFill>
                <a:effectLst/>
                <a:cs typeface="Times New Roman" panose="02020603050405020304" pitchFamily="18" charset="0"/>
              </a:rPr>
              <a:t> Innovation often outpaces ethics. New tools emerge so quickly that organizations struggle to update protection guidelines in real time.</a:t>
            </a:r>
          </a:p>
          <a:p>
            <a:pPr marR="0" lvl="0" algn="l" defTabSz="914400" rtl="0" eaLnBrk="0" fontAlgn="base" latinLnBrk="0" hangingPunct="0">
              <a:lnSpc>
                <a:spcPct val="100000"/>
              </a:lnSpc>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Regulatory Fragmentation</a:t>
            </a:r>
            <a:r>
              <a:rPr kumimoji="0" lang="en-US" altLang="en-US" sz="1400" b="0" i="0" u="none" strike="noStrike" cap="none" normalizeH="0" baseline="0" dirty="0">
                <a:ln>
                  <a:noFill/>
                </a:ln>
                <a:solidFill>
                  <a:schemeClr val="tx1"/>
                </a:solidFill>
                <a:effectLst/>
                <a:cs typeface="Times New Roman" panose="02020603050405020304" pitchFamily="18" charset="0"/>
              </a:rPr>
              <a:t> Global businesses face a "patchwork" of conflicting regional laws, making it difficult and costly to maintain a single, uniform ethics standard.</a:t>
            </a:r>
          </a:p>
          <a:p>
            <a:pPr marR="0" lvl="0" algn="l" defTabSz="914400" rtl="0" eaLnBrk="0" fontAlgn="base" latinLnBrk="0" hangingPunct="0">
              <a:lnSpc>
                <a:spcPct val="100000"/>
              </a:lnSpc>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Privacy vs. Utility</a:t>
            </a:r>
            <a:r>
              <a:rPr kumimoji="0" lang="en-US" altLang="en-US" sz="1400" b="0" i="0" u="none" strike="noStrike" cap="none" normalizeH="0" baseline="0" dirty="0">
                <a:ln>
                  <a:noFill/>
                </a:ln>
                <a:solidFill>
                  <a:schemeClr val="tx1"/>
                </a:solidFill>
                <a:effectLst/>
                <a:cs typeface="Times New Roman" panose="02020603050405020304" pitchFamily="18" charset="0"/>
              </a:rPr>
              <a:t> Organizations face a constant tension between protecting individual privacy and the business need for high-value, data-driven insights.</a:t>
            </a:r>
          </a:p>
          <a:p>
            <a:pPr marR="0" lvl="0" algn="l" defTabSz="914400" rtl="0" eaLnBrk="0" fontAlgn="base" latinLnBrk="0" hangingPunct="0">
              <a:lnSpc>
                <a:spcPct val="100000"/>
              </a:lnSpc>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Inherent Data Bias</a:t>
            </a:r>
            <a:r>
              <a:rPr kumimoji="0" lang="en-US" altLang="en-US" sz="1400" b="0" i="0" u="none" strike="noStrike" cap="none" normalizeH="0" baseline="0" dirty="0">
                <a:ln>
                  <a:noFill/>
                </a:ln>
                <a:solidFill>
                  <a:schemeClr val="tx1"/>
                </a:solidFill>
                <a:effectLst/>
                <a:cs typeface="Times New Roman" panose="02020603050405020304" pitchFamily="18" charset="0"/>
              </a:rPr>
              <a:t> Biases in collection can lead to discriminatory outcomes. Eliminating these flaws is technically complex and requires constant monitoring of diverse datasets.</a:t>
            </a:r>
          </a:p>
          <a:p>
            <a:pPr marR="0" lvl="0" algn="l" defTabSz="914400" rtl="0" eaLnBrk="0" fontAlgn="base" latinLnBrk="0" hangingPunct="0">
              <a:lnSpc>
                <a:spcPct val="100000"/>
              </a:lnSpc>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Cultural Resistance</a:t>
            </a:r>
            <a:r>
              <a:rPr kumimoji="0" lang="en-US" altLang="en-US" sz="1400" b="0" i="0" u="none" strike="noStrike" cap="none" normalizeH="0" baseline="0" dirty="0">
                <a:ln>
                  <a:noFill/>
                </a:ln>
                <a:solidFill>
                  <a:schemeClr val="tx1"/>
                </a:solidFill>
                <a:effectLst/>
                <a:cs typeface="Times New Roman" panose="02020603050405020304" pitchFamily="18" charset="0"/>
              </a:rPr>
              <a:t> Shifting a company culture to prioritize ethics over pure efficiency is a major hurdle that requires high-level accountability and employee buy-in.</a:t>
            </a:r>
          </a:p>
          <a:p>
            <a:pPr marR="0" lvl="0" algn="l" defTabSz="914400" rtl="0" eaLnBrk="0" fontAlgn="base" latinLnBrk="0" hangingPunct="0">
              <a:lnSpc>
                <a:spcPct val="100000"/>
              </a:lnSpc>
              <a:spcAft>
                <a:spcPts val="600"/>
              </a:spcAft>
              <a:buSzTx/>
              <a:buFont typeface="Wingdings" panose="05000000000000000000" pitchFamily="2" charset="2"/>
              <a:buChar char="¢"/>
              <a:tabLst/>
            </a:pPr>
            <a:r>
              <a:rPr kumimoji="0" lang="en-US" altLang="en-US" sz="1400" b="1" i="0" u="none" strike="noStrike" cap="none" normalizeH="0" baseline="0" dirty="0">
                <a:ln>
                  <a:noFill/>
                </a:ln>
                <a:solidFill>
                  <a:schemeClr val="tx1"/>
                </a:solidFill>
                <a:effectLst/>
                <a:cs typeface="Times New Roman" panose="02020603050405020304" pitchFamily="18" charset="0"/>
              </a:rPr>
              <a:t>Transparency Gaps</a:t>
            </a:r>
            <a:r>
              <a:rPr kumimoji="0" lang="en-US" altLang="en-US" sz="1400" b="0" i="0" u="none" strike="noStrike" cap="none" normalizeH="0" baseline="0" dirty="0">
                <a:ln>
                  <a:noFill/>
                </a:ln>
                <a:solidFill>
                  <a:schemeClr val="tx1"/>
                </a:solidFill>
                <a:effectLst/>
                <a:cs typeface="Times New Roman" panose="02020603050405020304" pitchFamily="18" charset="0"/>
              </a:rPr>
              <a:t> Explaining complex data practices in plain language is difficult. Without clear communication, building and maintaining consumer trust remains a challenge.</a:t>
            </a:r>
          </a:p>
        </p:txBody>
      </p:sp>
    </p:spTree>
    <p:extLst>
      <p:ext uri="{BB962C8B-B14F-4D97-AF65-F5344CB8AC3E}">
        <p14:creationId xmlns:p14="http://schemas.microsoft.com/office/powerpoint/2010/main" val="139058733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408F0D1-3B44-58D1-6AE9-82AE4D573802}"/>
              </a:ext>
            </a:extLst>
          </p:cNvPr>
          <p:cNvSpPr txBox="1"/>
          <p:nvPr/>
        </p:nvSpPr>
        <p:spPr>
          <a:xfrm>
            <a:off x="827584" y="1701264"/>
            <a:ext cx="7560840" cy="1446550"/>
          </a:xfrm>
          <a:prstGeom prst="rect">
            <a:avLst/>
          </a:prstGeom>
          <a:noFill/>
        </p:spPr>
        <p:txBody>
          <a:bodyPr wrap="square" rtlCol="0">
            <a:spAutoFit/>
          </a:bodyPr>
          <a:lstStyle/>
          <a:p>
            <a:r>
              <a:rPr lang="en-US" sz="8800" dirty="0">
                <a:solidFill>
                  <a:srgbClr val="FF0000"/>
                </a:solidFill>
              </a:rPr>
              <a:t>THANK YOU</a:t>
            </a:r>
            <a:endParaRPr lang="en-IN" sz="8800" dirty="0">
              <a:solidFill>
                <a:srgbClr val="FF0000"/>
              </a:solidFill>
            </a:endParaRPr>
          </a:p>
        </p:txBody>
      </p:sp>
    </p:spTree>
    <p:extLst>
      <p:ext uri="{BB962C8B-B14F-4D97-AF65-F5344CB8AC3E}">
        <p14:creationId xmlns:p14="http://schemas.microsoft.com/office/powerpoint/2010/main" val="132713886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3326</TotalTime>
  <Words>19967</Words>
  <Application>Microsoft Office PowerPoint</Application>
  <PresentationFormat>On-screen Show (16:9)</PresentationFormat>
  <Paragraphs>912</Paragraphs>
  <Slides>129</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129</vt:i4>
      </vt:variant>
    </vt:vector>
  </HeadingPairs>
  <TitlesOfParts>
    <vt:vector size="135" baseType="lpstr">
      <vt:lpstr>Arial</vt:lpstr>
      <vt:lpstr>Calibri</vt:lpstr>
      <vt:lpstr>Times New Roman</vt:lpstr>
      <vt:lpstr>Wingdings</vt:lpstr>
      <vt:lpstr>Wingdings 2</vt:lpstr>
      <vt:lpstr>Oriel</vt:lpstr>
      <vt:lpstr>PowerPoint Presentation</vt:lpstr>
      <vt:lpstr>Introduction to IT and Business Systems</vt:lpstr>
      <vt:lpstr>What is Information Technology (IT)?</vt:lpstr>
      <vt:lpstr>Why is Information Technology important?</vt:lpstr>
      <vt:lpstr>PowerPoint Presentation</vt:lpstr>
      <vt:lpstr>Hardware vs Software</vt:lpstr>
      <vt:lpstr>PowerPoint Presentation</vt:lpstr>
      <vt:lpstr>Core functions of Information Technology</vt:lpstr>
      <vt:lpstr>PowerPoint Presentation</vt:lpstr>
      <vt:lpstr>Data Backup and Recovery</vt:lpstr>
      <vt:lpstr>PowerPoint Presentation</vt:lpstr>
      <vt:lpstr>PowerPoint Presentation</vt:lpstr>
      <vt:lpstr>The importance of understanding IT</vt:lpstr>
      <vt:lpstr>The Role of Information Technology in Modern Business</vt:lpstr>
      <vt:lpstr>PowerPoint Presentation</vt:lpstr>
      <vt:lpstr>PowerPoint Presentation</vt:lpstr>
      <vt:lpstr>PowerPoint Presentation</vt:lpstr>
      <vt:lpstr>Enterprise Resource Planning (ERP)</vt:lpstr>
      <vt:lpstr>Enterprise Resource Planning Platforms Working</vt:lpstr>
      <vt:lpstr>Types of ERP Systems</vt:lpstr>
      <vt:lpstr>PowerPoint Presentation</vt:lpstr>
      <vt:lpstr>Benefits of ERP</vt:lpstr>
      <vt:lpstr>Weaknesses  of ERP</vt:lpstr>
      <vt:lpstr>ERP vs. CRM</vt:lpstr>
      <vt:lpstr>Business, IT, and Alignment Capability</vt:lpstr>
      <vt:lpstr>Data Types, Sources, and Lifecycle</vt:lpstr>
      <vt:lpstr>Data Types</vt:lpstr>
      <vt:lpstr>PowerPoint Presentation</vt:lpstr>
      <vt:lpstr>Common Data Sources</vt:lpstr>
      <vt:lpstr>PowerPoint Presentation</vt:lpstr>
      <vt:lpstr>PowerPoint Presentation</vt:lpstr>
      <vt:lpstr>Understanding Data Collection</vt:lpstr>
      <vt:lpstr>The Step-by-Step Data Collection Process</vt:lpstr>
      <vt:lpstr>PowerPoint Presentation</vt:lpstr>
      <vt:lpstr>Common Data Collection Methods</vt:lpstr>
      <vt:lpstr>Key Terms in Data Collection</vt:lpstr>
      <vt:lpstr>PowerPoint Presentation</vt:lpstr>
      <vt:lpstr>Essential Data Collection Tools</vt:lpstr>
      <vt:lpstr>Understanding Data Lifecycle Management (DLM)</vt:lpstr>
      <vt:lpstr>Primary Goals of Data Lifecycle Management</vt:lpstr>
      <vt:lpstr>Importance of Data Lifecycle Management (DLM)</vt:lpstr>
      <vt:lpstr>Key Stages of DLM</vt:lpstr>
      <vt:lpstr>Implementing an Effective DLM Strategy</vt:lpstr>
      <vt:lpstr>Benefits of DLM Implementation</vt:lpstr>
      <vt:lpstr>Tools and Technologies for DLM</vt:lpstr>
      <vt:lpstr>Common Challenges and Solutions in DLM</vt:lpstr>
      <vt:lpstr>DLM vs. ILM</vt:lpstr>
      <vt:lpstr>Understanding Data Integrity</vt:lpstr>
      <vt:lpstr>Classification of Data Integrity</vt:lpstr>
      <vt:lpstr>Understanding Data Quality</vt:lpstr>
      <vt:lpstr>PowerPoint Presentation</vt:lpstr>
      <vt:lpstr>PowerPoint Presentation</vt:lpstr>
      <vt:lpstr>Benefits of Good Data Integrity</vt:lpstr>
      <vt:lpstr>Benefits of Good Data Quality</vt:lpstr>
      <vt:lpstr>How to Ensure Both Data Quality and Data Integrity</vt:lpstr>
      <vt:lpstr>PowerPoint Presentation</vt:lpstr>
      <vt:lpstr>Introduction to Business Analyst Role</vt:lpstr>
      <vt:lpstr>What Business Analysts Do</vt:lpstr>
      <vt:lpstr>Business Analyst Roles and Responsibilities</vt:lpstr>
      <vt:lpstr>The Tools Used by Business Analysts</vt:lpstr>
      <vt:lpstr>Collaboration and Relationship-Building in Business Analysis</vt:lpstr>
      <vt:lpstr>Business Analyst vs. Business Analytics Professional</vt:lpstr>
      <vt:lpstr>Core Business Analytics Skills</vt:lpstr>
      <vt:lpstr>Technical Skills for Business Analytics</vt:lpstr>
      <vt:lpstr>Types of Analytics</vt:lpstr>
      <vt:lpstr>The Waterfall Project Management Method</vt:lpstr>
      <vt:lpstr>The Agile Project Management Method</vt:lpstr>
      <vt:lpstr>When to Use Agile vs. Waterfall</vt:lpstr>
      <vt:lpstr>PowerPoint Presentation</vt:lpstr>
      <vt:lpstr>What is Stakeholder Management?</vt:lpstr>
      <vt:lpstr>The Benefits of Stakeholder Management</vt:lpstr>
      <vt:lpstr>The Stakeholder Management Process</vt:lpstr>
      <vt:lpstr>Data vs. Information</vt:lpstr>
      <vt:lpstr>What is Raw Data?</vt:lpstr>
      <vt:lpstr>Characteristics of Raw Data</vt:lpstr>
      <vt:lpstr>What is Processed Data?</vt:lpstr>
      <vt:lpstr>Characteristics of Processed Data</vt:lpstr>
      <vt:lpstr> Raw Data VS Processed Data</vt:lpstr>
      <vt:lpstr>The Importance of Processing Data</vt:lpstr>
      <vt:lpstr>Transforming Information into Knowledge</vt:lpstr>
      <vt:lpstr>Importance of Information for Decision Making</vt:lpstr>
      <vt:lpstr>Challenges in Information Gathering</vt:lpstr>
      <vt:lpstr>The Significance of Asymmetric Information</vt:lpstr>
      <vt:lpstr>Mitigating Asymmetric Information</vt:lpstr>
      <vt:lpstr>Overview of Data-Driven Decision Making</vt:lpstr>
      <vt:lpstr>Understanding Data-Driven Decision-Making (DDDM)</vt:lpstr>
      <vt:lpstr>DDDM vs. Traditional Decision-Making Methods</vt:lpstr>
      <vt:lpstr>Data-Driven Decision-Making (DDDM) – Efficiency &amp; Accuracy</vt:lpstr>
      <vt:lpstr>Traditional Decision-Making – Insight &amp; Agility</vt:lpstr>
      <vt:lpstr>The Roadmap to Implementing DDDM</vt:lpstr>
      <vt:lpstr>Technology's Role in Data-Driven Decisions</vt:lpstr>
      <vt:lpstr>Roles Utilizing Data-Driven Decision-Making</vt:lpstr>
      <vt:lpstr>Challenges in the DDDM Process</vt:lpstr>
      <vt:lpstr>PowerPoint Presentation</vt:lpstr>
      <vt:lpstr>Case Discussions / Real-Life Examples</vt:lpstr>
      <vt:lpstr>What Is Scenario Analysis?</vt:lpstr>
      <vt:lpstr>Steps to Conduct Effective Scenario Analysis</vt:lpstr>
      <vt:lpstr>Worst-Case Scenarios: Stress Testing</vt:lpstr>
      <vt:lpstr>Diverse Applications of Scenario Analysis</vt:lpstr>
      <vt:lpstr>Introduction to Data Governance &amp; Data Ethics</vt:lpstr>
      <vt:lpstr>What is Data Governance?</vt:lpstr>
      <vt:lpstr>Why Modern Data Governance is Critical for AI</vt:lpstr>
      <vt:lpstr>The Benefits of Data Governance</vt:lpstr>
      <vt:lpstr>Data Governance in the Cloud</vt:lpstr>
      <vt:lpstr>What is Data Governance Used For?</vt:lpstr>
      <vt:lpstr>The Role of Data Lineage in Data Governance</vt:lpstr>
      <vt:lpstr>How Data Governance Works</vt:lpstr>
      <vt:lpstr>Building a Scalable Data Governance Framework</vt:lpstr>
      <vt:lpstr>Common Data Governance Challenges</vt:lpstr>
      <vt:lpstr>What is Data Ethics?</vt:lpstr>
      <vt:lpstr>Importance of Data Ethics</vt:lpstr>
      <vt:lpstr>Fundamental Principles of Big Data Ethics</vt:lpstr>
      <vt:lpstr>Applying Data Ethics</vt:lpstr>
      <vt:lpstr>PowerPoint Presentation</vt:lpstr>
      <vt:lpstr>Today’s Challenges in Data Ethics</vt:lpstr>
      <vt:lpstr>PowerPoint Presentation</vt:lpstr>
      <vt:lpstr>The Core Principles of Responsible Collection</vt:lpstr>
      <vt:lpstr>The Strategic Value of Ethical Collection</vt:lpstr>
      <vt:lpstr>How Ethical Data Shapes AI and Machine Learning Models</vt:lpstr>
      <vt:lpstr>California Consumer Privacy Act (CCPA)</vt:lpstr>
      <vt:lpstr>The General Data Protection Regulation (GDPR)</vt:lpstr>
      <vt:lpstr>CCPA vs. GDPR</vt:lpstr>
      <vt:lpstr>Similarities Between CCPA and GDPR</vt:lpstr>
      <vt:lpstr>Rights Granted by CCPA and GDPR</vt:lpstr>
      <vt:lpstr>The Importance of Responsible Data Practices</vt:lpstr>
      <vt:lpstr>Steps to Implement Responsible Data Practices</vt:lpstr>
      <vt:lpstr>The Role of Technology in Responsible Data Practices</vt:lpstr>
      <vt:lpstr>Challenges in Implementing Responsible Data Practices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Kuntal</dc:creator>
  <cp:lastModifiedBy>Kuntal Das</cp:lastModifiedBy>
  <cp:revision>72</cp:revision>
  <dcterms:created xsi:type="dcterms:W3CDTF">2006-08-16T00:00:00Z</dcterms:created>
  <dcterms:modified xsi:type="dcterms:W3CDTF">2026-05-13T15:11:38Z</dcterms:modified>
</cp:coreProperties>
</file>